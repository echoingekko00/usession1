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11/26/2020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11/26/2020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11/26/2020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11/26/2020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11/26/2020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11/26/2020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11/26/2020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11/26/2020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11/26/2020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11/26/2020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11/26/2020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11/26/2020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6.png"/><Relationship Id="rId18" Type="http://schemas.openxmlformats.org/officeDocument/2006/relationships/image" Target="../media/image47.png"/><Relationship Id="rId21" Type="http://schemas.openxmlformats.org/officeDocument/2006/relationships/image" Target="../media/image51.png"/><Relationship Id="rId7" Type="http://schemas.openxmlformats.org/officeDocument/2006/relationships/image" Target="../media/image45.png"/><Relationship Id="rId12" Type="http://schemas.openxmlformats.org/officeDocument/2006/relationships/image" Target="../media/image55.png"/><Relationship Id="rId17" Type="http://schemas.openxmlformats.org/officeDocument/2006/relationships/image" Target="../media/image46.png"/><Relationship Id="rId16" Type="http://schemas.openxmlformats.org/officeDocument/2006/relationships/image" Target="../media/image59.png"/><Relationship Id="rId20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15" Type="http://schemas.openxmlformats.org/officeDocument/2006/relationships/image" Target="../media/image58.png"/><Relationship Id="rId10" Type="http://schemas.openxmlformats.org/officeDocument/2006/relationships/image" Target="../media/image53.png"/><Relationship Id="rId19" Type="http://schemas.openxmlformats.org/officeDocument/2006/relationships/image" Target="../media/image48.png"/><Relationship Id="rId14" Type="http://schemas.openxmlformats.org/officeDocument/2006/relationships/image" Target="../media/image57.png"/><Relationship Id="rId22" Type="http://schemas.openxmlformats.org/officeDocument/2006/relationships/image" Target="../media/image5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sz="4000" dirty="0" smtClean="0"/>
              <a:t>Résumé du cours:</a:t>
            </a:r>
            <a:br>
              <a:rPr lang="fr-FR" sz="4000" dirty="0" smtClean="0"/>
            </a:br>
            <a:r>
              <a:rPr lang="fr-FR" sz="4000" dirty="0" smtClean="0"/>
              <a:t>3.7  Solubilité des gaz dans un liquide</a:t>
            </a:r>
            <a:endParaRPr lang="en-US" sz="400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238281" y="5199017"/>
            <a:ext cx="7891272" cy="1069848"/>
          </a:xfrm>
        </p:spPr>
        <p:txBody>
          <a:bodyPr>
            <a:normAutofit/>
          </a:bodyPr>
          <a:lstStyle/>
          <a:p>
            <a:pPr algn="r"/>
            <a:r>
              <a:rPr lang="fr-FR" sz="1600" i="1" dirty="0" err="1" smtClean="0">
                <a:solidFill>
                  <a:srgbClr val="002060"/>
                </a:solidFill>
              </a:rPr>
              <a:t>Z.Hamoudi</a:t>
            </a:r>
            <a:r>
              <a:rPr lang="fr-FR" sz="1600" i="1" dirty="0" smtClean="0">
                <a:solidFill>
                  <a:srgbClr val="002060"/>
                </a:solidFill>
              </a:rPr>
              <a:t> Aut-2020</a:t>
            </a:r>
            <a:endParaRPr lang="en-US" sz="1600" i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2560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/>
              <p:cNvSpPr txBox="1"/>
              <p:nvPr/>
            </p:nvSpPr>
            <p:spPr>
              <a:xfrm>
                <a:off x="912256" y="2334417"/>
                <a:ext cx="3915237" cy="564001"/>
              </a:xfrm>
              <a:prstGeom prst="rect">
                <a:avLst/>
              </a:prstGeom>
              <a:solidFill>
                <a:srgbClr val="CCECFF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800" b="1" i="1" smtClean="0">
                                  <a:latin typeface="Cambria Math" panose="02040503050406030204" pitchFamily="18" charset="0"/>
                                </a:rPr>
                                <m:t>𝒈𝒂𝒛</m:t>
                              </m:r>
                            </m:e>
                          </m:d>
                        </m:e>
                        <m:sub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𝒂𝒒</m:t>
                          </m:r>
                        </m:sub>
                      </m:sSub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sub>
                      </m:sSub>
                      <m:r>
                        <a:rPr lang="fr-F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fr-F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fr-F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𝒈𝒂𝒛</m:t>
                          </m:r>
                        </m:sub>
                      </m:sSub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2" name="ZoneText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256" y="2334417"/>
                <a:ext cx="3915237" cy="56400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5952783" y="1704805"/>
                <a:ext cx="4325736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0"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lang="fr-FR" b="1" i="0">
                            <a:latin typeface="Cambria Math" panose="02040503050406030204" pitchFamily="18" charset="0"/>
                          </a:rPr>
                          <m:t>𝐇</m:t>
                        </m:r>
                      </m:sub>
                    </m:sSub>
                  </m:oMath>
                </a14:m>
                <a:r>
                  <a:rPr lang="en-US" dirty="0" smtClean="0">
                    <a:latin typeface="Arial Narrow" panose="020B0606020202030204" pitchFamily="34" charset="0"/>
                  </a:rPr>
                  <a:t>: constant de Henry pour le </a:t>
                </a:r>
                <a:r>
                  <a:rPr lang="en-US" dirty="0" err="1" smtClean="0">
                    <a:latin typeface="Arial Narrow" panose="020B0606020202030204" pitchFamily="34" charset="0"/>
                  </a:rPr>
                  <a:t>gaz</a:t>
                </a:r>
                <a:r>
                  <a:rPr lang="en-US" dirty="0" smtClean="0">
                    <a:latin typeface="Arial Narrow" panose="020B0606020202030204" pitchFamily="34" charset="0"/>
                  </a:rPr>
                  <a:t> (</a:t>
                </a:r>
                <a:r>
                  <a:rPr lang="en-US" b="1" dirty="0" err="1" smtClean="0">
                    <a:solidFill>
                      <a:srgbClr val="C00000"/>
                    </a:solidFill>
                    <a:latin typeface="Arial Narrow" panose="020B0606020202030204" pitchFamily="34" charset="0"/>
                  </a:rPr>
                  <a:t>voir</a:t>
                </a:r>
                <a:r>
                  <a:rPr lang="en-US" b="1" dirty="0" smtClean="0">
                    <a:solidFill>
                      <a:srgbClr val="C00000"/>
                    </a:solidFill>
                    <a:latin typeface="Arial Narrow" panose="020B0606020202030204" pitchFamily="34" charset="0"/>
                  </a:rPr>
                  <a:t> Tab 3.3</a:t>
                </a:r>
                <a:r>
                  <a:rPr lang="en-US" dirty="0" smtClean="0">
                    <a:latin typeface="Arial Narrow" panose="020B0606020202030204" pitchFamily="34" charset="0"/>
                  </a:rPr>
                  <a:t>)</a:t>
                </a:r>
                <a:endParaRPr lang="en-US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2783" y="1704805"/>
                <a:ext cx="4325736" cy="369332"/>
              </a:xfrm>
              <a:prstGeom prst="rect">
                <a:avLst/>
              </a:prstGeom>
              <a:blipFill>
                <a:blip r:embed="rId3"/>
                <a:stretch>
                  <a:fillRect t="-8333" r="-282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5952783" y="2307002"/>
                <a:ext cx="5774273" cy="39562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fr-F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𝒈𝒂𝒛</m:t>
                        </m:r>
                      </m:sub>
                    </m:sSub>
                  </m:oMath>
                </a14:m>
                <a:r>
                  <a:rPr lang="en-US" dirty="0" smtClean="0">
                    <a:latin typeface="Arial Narrow" panose="020B0606020202030204" pitchFamily="34" charset="0"/>
                  </a:rPr>
                  <a:t>: </a:t>
                </a:r>
                <a:r>
                  <a:rPr lang="en-US" dirty="0" err="1" smtClean="0">
                    <a:latin typeface="Arial Narrow" panose="020B0606020202030204" pitchFamily="34" charset="0"/>
                  </a:rPr>
                  <a:t>pression</a:t>
                </a:r>
                <a:r>
                  <a:rPr lang="en-US" dirty="0" smtClean="0">
                    <a:latin typeface="Arial Narrow" panose="020B0606020202030204" pitchFamily="34" charset="0"/>
                  </a:rPr>
                  <a:t> </a:t>
                </a:r>
                <a:r>
                  <a:rPr lang="en-US" dirty="0" err="1" smtClean="0">
                    <a:latin typeface="Arial Narrow" panose="020B0606020202030204" pitchFamily="34" charset="0"/>
                  </a:rPr>
                  <a:t>partielle</a:t>
                </a:r>
                <a:r>
                  <a:rPr lang="en-US" dirty="0" smtClean="0">
                    <a:latin typeface="Arial Narrow" panose="020B0606020202030204" pitchFamily="34" charset="0"/>
                  </a:rPr>
                  <a:t> </a:t>
                </a:r>
                <a:r>
                  <a:rPr lang="en-US" dirty="0" err="1" smtClean="0">
                    <a:latin typeface="Arial Narrow" panose="020B0606020202030204" pitchFamily="34" charset="0"/>
                  </a:rPr>
                  <a:t>en</a:t>
                </a:r>
                <a:r>
                  <a:rPr lang="en-US" dirty="0" smtClean="0">
                    <a:latin typeface="Arial Narrow" panose="020B0606020202030204" pitchFamily="34" charset="0"/>
                  </a:rPr>
                  <a:t> (Pa) du </a:t>
                </a:r>
                <a:r>
                  <a:rPr lang="en-US" dirty="0" err="1" smtClean="0">
                    <a:latin typeface="Arial Narrow" panose="020B0606020202030204" pitchFamily="34" charset="0"/>
                  </a:rPr>
                  <a:t>gaz</a:t>
                </a:r>
                <a:r>
                  <a:rPr lang="en-US" dirty="0" smtClean="0">
                    <a:latin typeface="Arial Narrow" panose="020B0606020202030204" pitchFamily="34" charset="0"/>
                  </a:rPr>
                  <a:t> au </a:t>
                </a:r>
                <a:r>
                  <a:rPr lang="en-US" dirty="0" err="1" smtClean="0">
                    <a:latin typeface="Arial Narrow" panose="020B0606020202030204" pitchFamily="34" charset="0"/>
                  </a:rPr>
                  <a:t>dessus</a:t>
                </a:r>
                <a:r>
                  <a:rPr lang="en-US" dirty="0" smtClean="0">
                    <a:latin typeface="Arial Narrow" panose="020B0606020202030204" pitchFamily="34" charset="0"/>
                  </a:rPr>
                  <a:t> du </a:t>
                </a:r>
                <a:r>
                  <a:rPr lang="en-US" dirty="0" err="1" smtClean="0">
                    <a:latin typeface="Arial Narrow" panose="020B0606020202030204" pitchFamily="34" charset="0"/>
                  </a:rPr>
                  <a:t>liquide</a:t>
                </a:r>
                <a:r>
                  <a:rPr lang="en-US" dirty="0" smtClean="0">
                    <a:latin typeface="Arial Narrow" panose="020B0606020202030204" pitchFamily="34" charset="0"/>
                  </a:rPr>
                  <a:t> (eau)</a:t>
                </a:r>
                <a:endParaRPr lang="en-US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2783" y="2307002"/>
                <a:ext cx="5774273" cy="395621"/>
              </a:xfrm>
              <a:prstGeom prst="rect">
                <a:avLst/>
              </a:prstGeom>
              <a:blipFill>
                <a:blip r:embed="rId4"/>
                <a:stretch>
                  <a:fillRect t="-7692" b="-1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952783" y="2935488"/>
                <a:ext cx="5937459" cy="39433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1" i="1">
                                <a:latin typeface="Cambria Math" panose="02040503050406030204" pitchFamily="18" charset="0"/>
                              </a:rPr>
                              <m:t>𝒈𝒂𝒛</m:t>
                            </m:r>
                          </m:e>
                        </m:d>
                      </m:e>
                      <m:sub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𝒂𝒒</m:t>
                        </m:r>
                      </m:sub>
                    </m:sSub>
                  </m:oMath>
                </a14:m>
                <a:r>
                  <a:rPr lang="en-US" dirty="0" smtClean="0">
                    <a:latin typeface="Arial Narrow" panose="020B0606020202030204" pitchFamily="34" charset="0"/>
                  </a:rPr>
                  <a:t>: concentration </a:t>
                </a:r>
                <a:r>
                  <a:rPr lang="en-US" dirty="0" err="1" smtClean="0">
                    <a:latin typeface="Arial Narrow" panose="020B0606020202030204" pitchFamily="34" charset="0"/>
                  </a:rPr>
                  <a:t>molaire</a:t>
                </a:r>
                <a:r>
                  <a:rPr lang="en-US" dirty="0" smtClean="0">
                    <a:latin typeface="Arial Narrow" panose="020B0606020202030204" pitchFamily="34" charset="0"/>
                  </a:rPr>
                  <a:t> du </a:t>
                </a:r>
                <a:r>
                  <a:rPr lang="en-US" dirty="0" err="1" smtClean="0">
                    <a:latin typeface="Arial Narrow" panose="020B0606020202030204" pitchFamily="34" charset="0"/>
                  </a:rPr>
                  <a:t>gaz</a:t>
                </a:r>
                <a:r>
                  <a:rPr lang="en-US" dirty="0" smtClean="0">
                    <a:latin typeface="Arial Narrow" panose="020B0606020202030204" pitchFamily="34" charset="0"/>
                  </a:rPr>
                  <a:t> </a:t>
                </a:r>
                <a:r>
                  <a:rPr lang="en-US" dirty="0" err="1" smtClean="0">
                    <a:latin typeface="Arial Narrow" panose="020B0606020202030204" pitchFamily="34" charset="0"/>
                  </a:rPr>
                  <a:t>dissous</a:t>
                </a:r>
                <a:r>
                  <a:rPr lang="en-US" dirty="0" smtClean="0">
                    <a:latin typeface="Arial Narrow" panose="020B0606020202030204" pitchFamily="34" charset="0"/>
                  </a:rPr>
                  <a:t> </a:t>
                </a:r>
                <a:r>
                  <a:rPr lang="en-US" dirty="0" err="1" smtClean="0">
                    <a:latin typeface="Arial Narrow" panose="020B0606020202030204" pitchFamily="34" charset="0"/>
                  </a:rPr>
                  <a:t>dans</a:t>
                </a:r>
                <a:r>
                  <a:rPr lang="en-US" dirty="0" smtClean="0">
                    <a:latin typeface="Arial Narrow" panose="020B0606020202030204" pitchFamily="34" charset="0"/>
                  </a:rPr>
                  <a:t> </a:t>
                </a:r>
                <a:r>
                  <a:rPr lang="en-US" dirty="0" err="1" smtClean="0">
                    <a:latin typeface="Arial Narrow" panose="020B0606020202030204" pitchFamily="34" charset="0"/>
                  </a:rPr>
                  <a:t>l’eau</a:t>
                </a:r>
                <a:r>
                  <a:rPr lang="en-US" dirty="0" smtClean="0">
                    <a:latin typeface="Arial Narrow" panose="020B0606020202030204" pitchFamily="34" charset="0"/>
                  </a:rPr>
                  <a:t> (</a:t>
                </a:r>
                <a:r>
                  <a:rPr lang="en-US" dirty="0" err="1" smtClean="0">
                    <a:latin typeface="Arial Narrow" panose="020B0606020202030204" pitchFamily="34" charset="0"/>
                  </a:rPr>
                  <a:t>aqueux</a:t>
                </a:r>
                <a:r>
                  <a:rPr lang="en-US" dirty="0" smtClean="0">
                    <a:latin typeface="Arial Narrow" panose="020B0606020202030204" pitchFamily="34" charset="0"/>
                  </a:rPr>
                  <a:t>)</a:t>
                </a:r>
                <a:endParaRPr lang="en-US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2783" y="2935488"/>
                <a:ext cx="5937459" cy="394339"/>
              </a:xfrm>
              <a:prstGeom prst="rect">
                <a:avLst/>
              </a:prstGeom>
              <a:blipFill>
                <a:blip r:embed="rId5"/>
                <a:stretch>
                  <a:fillRect t="-9375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necteur droit 6"/>
          <p:cNvCxnSpPr/>
          <p:nvPr/>
        </p:nvCxnSpPr>
        <p:spPr>
          <a:xfrm>
            <a:off x="5809129" y="1704805"/>
            <a:ext cx="0" cy="16250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/>
          <p:cNvSpPr txBox="1"/>
          <p:nvPr/>
        </p:nvSpPr>
        <p:spPr>
          <a:xfrm>
            <a:off x="295834" y="753035"/>
            <a:ext cx="4047565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3200" dirty="0" smtClean="0"/>
              <a:t>La loi de Henry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865941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0362" y="986481"/>
            <a:ext cx="11717520" cy="10849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endParaRPr lang="en-US" sz="105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</a:rPr>
              <a:t>Un récipient hermétique maintenant à 20°C contient 2,00 L d’eau et 3,00 L d’air. La pression totale du gaz est 100 kPa. </a:t>
            </a:r>
            <a:r>
              <a:rPr lang="fr-FR" b="1" dirty="0">
                <a:solidFill>
                  <a:srgbClr val="0070C0"/>
                </a:solidFill>
                <a:latin typeface="Arial" panose="020B0604020202020204" pitchFamily="34" charset="0"/>
              </a:rPr>
              <a:t>Calculez la masse d’azote (diazote) dissoute dans l’eau lorsque l’équilibre du système est atteint. </a:t>
            </a:r>
            <a:endParaRPr lang="fr-FR" b="1" dirty="0" smtClean="0">
              <a:solidFill>
                <a:srgbClr val="0070C0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3" name="ZoneTexte 2"/>
          <p:cNvSpPr txBox="1"/>
          <p:nvPr/>
        </p:nvSpPr>
        <p:spPr>
          <a:xfrm>
            <a:off x="269773" y="451149"/>
            <a:ext cx="340210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Exercice d’application #1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481775" y="2327372"/>
            <a:ext cx="1596788" cy="192433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5" name="Rectangle 4"/>
          <p:cNvSpPr/>
          <p:nvPr/>
        </p:nvSpPr>
        <p:spPr>
          <a:xfrm>
            <a:off x="2479318" y="3358619"/>
            <a:ext cx="1610436" cy="886264"/>
          </a:xfrm>
          <a:prstGeom prst="rect">
            <a:avLst/>
          </a:prstGeom>
          <a:solidFill>
            <a:srgbClr val="CCECF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ccolade fermante 5"/>
          <p:cNvSpPr/>
          <p:nvPr/>
        </p:nvSpPr>
        <p:spPr>
          <a:xfrm>
            <a:off x="4189957" y="3358619"/>
            <a:ext cx="284390" cy="89308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ccolade fermante 6"/>
          <p:cNvSpPr/>
          <p:nvPr/>
        </p:nvSpPr>
        <p:spPr>
          <a:xfrm>
            <a:off x="4189957" y="2327372"/>
            <a:ext cx="270742" cy="97786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/>
              <p:cNvSpPr txBox="1"/>
              <p:nvPr/>
            </p:nvSpPr>
            <p:spPr>
              <a:xfrm>
                <a:off x="4474347" y="2458967"/>
                <a:ext cx="1251176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𝑔𝑎𝑧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=3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ZoneText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4347" y="2458967"/>
                <a:ext cx="1251176" cy="391902"/>
              </a:xfrm>
              <a:prstGeom prst="rect">
                <a:avLst/>
              </a:prstGeom>
              <a:blipFill>
                <a:blip r:embed="rId2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/>
              <p:cNvSpPr txBox="1"/>
              <p:nvPr/>
            </p:nvSpPr>
            <p:spPr>
              <a:xfrm>
                <a:off x="4474347" y="3465490"/>
                <a:ext cx="12602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𝑒𝑎𝑢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=2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ZoneText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4347" y="3465490"/>
                <a:ext cx="126021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2793255" y="3559874"/>
                <a:ext cx="900951" cy="393121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3255" y="3559874"/>
                <a:ext cx="900951" cy="393121"/>
              </a:xfrm>
              <a:prstGeom prst="rect">
                <a:avLst/>
              </a:prstGeom>
              <a:blipFill>
                <a:blip r:embed="rId4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necteur droit avec flèche 11"/>
          <p:cNvCxnSpPr/>
          <p:nvPr/>
        </p:nvCxnSpPr>
        <p:spPr>
          <a:xfrm>
            <a:off x="2225811" y="2917392"/>
            <a:ext cx="405735" cy="2339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/>
              <p:cNvSpPr txBox="1"/>
              <p:nvPr/>
            </p:nvSpPr>
            <p:spPr>
              <a:xfrm>
                <a:off x="222370" y="2628125"/>
                <a:ext cx="2018758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𝑡𝑜𝑡𝑎𝑙𝑒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=100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𝑘𝑃𝑎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ZoneTexte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370" y="2628125"/>
                <a:ext cx="2018758" cy="369332"/>
              </a:xfrm>
              <a:prstGeom prst="rect">
                <a:avLst/>
              </a:prstGeom>
              <a:blipFill>
                <a:blip r:embed="rId5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/>
              <p:cNvSpPr txBox="1"/>
              <p:nvPr/>
            </p:nvSpPr>
            <p:spPr>
              <a:xfrm>
                <a:off x="2525556" y="2447638"/>
                <a:ext cx="677929" cy="312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14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𝐞𝐚𝐮</m:t>
                          </m:r>
                        </m:sub>
                        <m:sup>
                          <m:r>
                            <a:rPr lang="fr-FR" sz="14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p>
                      </m:sSubSup>
                    </m:oMath>
                  </m:oMathPara>
                </a14:m>
                <a:endParaRPr lang="en-US" sz="1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ZoneTexte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5556" y="2447638"/>
                <a:ext cx="677929" cy="3125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/>
              <p:cNvSpPr txBox="1"/>
              <p:nvPr/>
            </p:nvSpPr>
            <p:spPr>
              <a:xfrm>
                <a:off x="2631546" y="4435148"/>
                <a:ext cx="1344366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𝟐𝟎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℃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6" name="ZoneTexte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546" y="4435148"/>
                <a:ext cx="134436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/>
              <p:cNvSpPr txBox="1"/>
              <p:nvPr/>
            </p:nvSpPr>
            <p:spPr>
              <a:xfrm>
                <a:off x="3307480" y="2419111"/>
                <a:ext cx="67792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sz="1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𝐀𝐒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ZoneTexte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7480" y="2419111"/>
                <a:ext cx="677929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ZoneTexte 17"/>
              <p:cNvSpPr txBox="1"/>
              <p:nvPr/>
            </p:nvSpPr>
            <p:spPr>
              <a:xfrm>
                <a:off x="222370" y="5107725"/>
                <a:ext cx="2743202" cy="4292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000" b="1" i="1" smtClean="0">
                                  <a:latin typeface="Cambria Math" panose="02040503050406030204" pitchFamily="18" charset="0"/>
                                </a:rPr>
                                <m:t>𝒈𝒂𝒛</m:t>
                              </m:r>
                            </m:e>
                          </m:d>
                        </m:e>
                        <m:sub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𝒂𝒒</m:t>
                          </m:r>
                        </m:sub>
                      </m:sSub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sub>
                      </m:sSub>
                      <m:r>
                        <a:rPr lang="fr-F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𝒈𝒂𝒛</m:t>
                          </m:r>
                        </m:sub>
                      </m:sSub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8" name="ZoneTexte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370" y="5107725"/>
                <a:ext cx="2743202" cy="429220"/>
              </a:xfrm>
              <a:prstGeom prst="rect">
                <a:avLst/>
              </a:prstGeom>
              <a:blipFill>
                <a:blip r:embed="rId9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/>
              <p:cNvSpPr txBox="1"/>
              <p:nvPr/>
            </p:nvSpPr>
            <p:spPr>
              <a:xfrm>
                <a:off x="127827" y="5777949"/>
                <a:ext cx="2743201" cy="43851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000" b="1" i="1" smtClean="0">
                                      <a:latin typeface="Cambria Math" panose="02040503050406030204" pitchFamily="18" charset="0"/>
                                    </a:rPr>
                                    <m:t>𝑵</m:t>
                                  </m:r>
                                </m:e>
                                <m:sub>
                                  <m:r>
                                    <a:rPr lang="fr-FR" sz="20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𝒂𝒒</m:t>
                          </m:r>
                        </m:sub>
                      </m:sSub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sSub>
                            <m:sSubPr>
                              <m:ctrlPr>
                                <a:rPr lang="fr-FR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i="1" smtClean="0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fr-FR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  <m:r>
                        <a:rPr lang="fr-F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sSub>
                            <m:sSubPr>
                              <m:ctrlPr>
                                <a:rPr lang="fr-F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fr-F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9" name="ZoneTexte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27" y="5777949"/>
                <a:ext cx="2743201" cy="438518"/>
              </a:xfrm>
              <a:prstGeom prst="rect">
                <a:avLst/>
              </a:prstGeom>
              <a:blipFill>
                <a:blip r:embed="rId10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5987775" y="5006283"/>
                <a:ext cx="2032479" cy="393121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sSub>
                            <m:sSubPr>
                              <m:ctrlPr>
                                <a:rPr lang="fr-F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𝐍</m:t>
                              </m:r>
                            </m:e>
                            <m:sub>
                              <m:r>
                                <a:rPr lang="fr-FR" b="1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𝟕𝟗</m:t>
                      </m:r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fr-F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𝑨𝑺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7775" y="5006283"/>
                <a:ext cx="2032479" cy="393121"/>
              </a:xfrm>
              <a:prstGeom prst="rect">
                <a:avLst/>
              </a:prstGeom>
              <a:blipFill>
                <a:blip r:embed="rId11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6493584" y="2701119"/>
                <a:ext cx="2230418" cy="375552"/>
              </a:xfrm>
              <a:prstGeom prst="rect">
                <a:avLst/>
              </a:prstGeom>
              <a:solidFill>
                <a:srgbClr val="CCECF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𝐓𝐨𝐭𝐚𝐥𝐞</m:t>
                          </m:r>
                        </m:sub>
                      </m:sSub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𝐀𝐒</m:t>
                          </m:r>
                        </m:sub>
                      </m:sSub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b="1" i="0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b="1" i="0">
                              <a:latin typeface="Cambria Math" panose="02040503050406030204" pitchFamily="18" charset="0"/>
                            </a:rPr>
                            <m:t>𝐞𝐚𝐮</m:t>
                          </m:r>
                        </m:sub>
                        <m:sup>
                          <m:r>
                            <a:rPr lang="fr-FR" b="1" i="0">
                              <a:latin typeface="Cambria Math" panose="02040503050406030204" pitchFamily="18" charset="0"/>
                            </a:rPr>
                            <m:t>𝟎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3584" y="2701119"/>
                <a:ext cx="2230418" cy="375552"/>
              </a:xfrm>
              <a:prstGeom prst="rect">
                <a:avLst/>
              </a:prstGeom>
              <a:blipFill>
                <a:blip r:embed="rId12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493584" y="3236107"/>
                <a:ext cx="2461250" cy="37555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fr-FR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𝐀𝐒</m:t>
                          </m:r>
                        </m:sub>
                      </m:sSub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𝐓𝐨𝐭𝐚𝐥𝐞</m:t>
                          </m:r>
                          <m:r>
                            <a:rPr lang="fr-FR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b="1" i="0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b="1" i="0">
                              <a:latin typeface="Cambria Math" panose="02040503050406030204" pitchFamily="18" charset="0"/>
                            </a:rPr>
                            <m:t>𝐞𝐚𝐮</m:t>
                          </m:r>
                        </m:sub>
                        <m:sup>
                          <m:r>
                            <a:rPr lang="fr-FR" b="1" i="0">
                              <a:latin typeface="Cambria Math" panose="02040503050406030204" pitchFamily="18" charset="0"/>
                            </a:rPr>
                            <m:t>𝟎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3584" y="3236107"/>
                <a:ext cx="2461250" cy="375552"/>
              </a:xfrm>
              <a:prstGeom prst="rect">
                <a:avLst/>
              </a:prstGeom>
              <a:blipFill>
                <a:blip r:embed="rId13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ZoneTexte 23"/>
              <p:cNvSpPr txBox="1"/>
              <p:nvPr/>
            </p:nvSpPr>
            <p:spPr>
              <a:xfrm>
                <a:off x="6385366" y="3815640"/>
                <a:ext cx="3552704" cy="344133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fr-FR" sz="1600" dirty="0"/>
                  <a:t>a</a:t>
                </a:r>
                <a:r>
                  <a:rPr lang="fr-FR" sz="1600" dirty="0" smtClean="0"/>
                  <a:t>vec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600" b="1"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fr-FR" sz="1600" b="1">
                            <a:latin typeface="Cambria Math" panose="02040503050406030204" pitchFamily="18" charset="0"/>
                          </a:rPr>
                          <m:t>𝐞𝐚𝐮</m:t>
                        </m:r>
                      </m:sub>
                      <m:sup>
                        <m:r>
                          <a:rPr lang="fr-FR" sz="1600" b="1"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fr-FR" sz="1600" dirty="0" smtClean="0"/>
                  <a:t> = 2.339 kPa (voir Tab 2.1) </a:t>
                </a:r>
                <a:endParaRPr lang="en-US" sz="1600" dirty="0"/>
              </a:p>
            </p:txBody>
          </p:sp>
        </mc:Choice>
        <mc:Fallback xmlns="">
          <p:sp>
            <p:nvSpPr>
              <p:cNvPr id="24" name="ZoneTexte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5366" y="3815640"/>
                <a:ext cx="3552704" cy="344133"/>
              </a:xfrm>
              <a:prstGeom prst="rect">
                <a:avLst/>
              </a:prstGeom>
              <a:blipFill>
                <a:blip r:embed="rId14"/>
                <a:stretch>
                  <a:fillRect l="-858" t="-3571" b="-23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6493584" y="4350628"/>
                <a:ext cx="4870885" cy="369332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fr-FR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fr-FR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𝐀𝐒</m:t>
                          </m:r>
                        </m:sub>
                      </m:sSub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𝟏𝟎𝟎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𝐤𝐏𝐚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𝟑𝟑𝟗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𝐤𝐏𝐚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𝟗𝟕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𝟔𝟔𝟏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𝐤𝐏𝐚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3584" y="4350628"/>
                <a:ext cx="4870885" cy="369332"/>
              </a:xfrm>
              <a:prstGeom prst="rect">
                <a:avLst/>
              </a:prstGeom>
              <a:blipFill>
                <a:blip r:embed="rId1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8161718" y="5006283"/>
                <a:ext cx="4058739" cy="39312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fr-FR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sSub>
                            <m:sSubPr>
                              <m:ctrlPr>
                                <a:rPr lang="fr-F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𝐍</m:t>
                              </m:r>
                            </m:e>
                            <m:sub>
                              <m:r>
                                <a:rPr lang="fr-FR" b="1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𝟕𝟗</m:t>
                      </m:r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𝟗𝟕</m:t>
                      </m:r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𝟔𝟔𝟏</m:t>
                      </m:r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𝟕𝟕</m:t>
                      </m:r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𝟏𝟓</m:t>
                      </m:r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𝒌𝑷𝒂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1718" y="5006283"/>
                <a:ext cx="4058739" cy="393121"/>
              </a:xfrm>
              <a:prstGeom prst="rect">
                <a:avLst/>
              </a:prstGeom>
              <a:blipFill>
                <a:blip r:embed="rId16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ZoneTexte 27"/>
              <p:cNvSpPr txBox="1"/>
              <p:nvPr/>
            </p:nvSpPr>
            <p:spPr>
              <a:xfrm>
                <a:off x="3203485" y="5638611"/>
                <a:ext cx="5770950" cy="714683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  <m:t>𝑵</m:t>
                                  </m:r>
                                </m:e>
                                <m:sub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𝒂𝒒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𝟗</m:t>
                          </m:r>
                        </m:sup>
                      </m:sSup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fr-FR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𝑚𝑜𝑙</m:t>
                              </m:r>
                            </m:num>
                            <m:den>
                              <m:r>
                                <a:rPr lang="fr-F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fr-FR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fr-FR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𝑃𝑎</m:t>
                              </m:r>
                            </m:den>
                          </m:f>
                        </m:e>
                      </m:d>
                      <m:r>
                        <a:rPr lang="fr-FR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𝟕𝟕</m:t>
                      </m:r>
                      <m:r>
                        <a:rPr lang="fr-FR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fr-FR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𝟏𝟓</m:t>
                      </m:r>
                      <m:r>
                        <a:rPr lang="fr-FR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fr-F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fr-F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fr-FR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fr-FR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𝑷𝒂</m:t>
                      </m:r>
                      <m:r>
                        <a:rPr lang="fr-FR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8" name="ZoneTexte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485" y="5638611"/>
                <a:ext cx="5770950" cy="714683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8761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/>
      <p:bldP spid="9" grpId="0"/>
      <p:bldP spid="10" grpId="0" animBg="1"/>
      <p:bldP spid="13" grpId="0" animBg="1"/>
      <p:bldP spid="14" grpId="0"/>
      <p:bldP spid="16" grpId="0" animBg="1"/>
      <p:bldP spid="17" grpId="0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6" grpId="0" animBg="1"/>
      <p:bldP spid="27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/>
              <p:cNvSpPr txBox="1"/>
              <p:nvPr/>
            </p:nvSpPr>
            <p:spPr>
              <a:xfrm>
                <a:off x="269773" y="1638384"/>
                <a:ext cx="2743202" cy="4292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000" b="1" i="1" smtClean="0">
                                  <a:latin typeface="Cambria Math" panose="02040503050406030204" pitchFamily="18" charset="0"/>
                                </a:rPr>
                                <m:t>𝒈𝒂𝒛</m:t>
                              </m:r>
                            </m:e>
                          </m:d>
                        </m:e>
                        <m:sub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𝒂𝒒</m:t>
                          </m:r>
                        </m:sub>
                      </m:sSub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sub>
                      </m:sSub>
                      <m:r>
                        <a:rPr lang="fr-F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𝒈𝒂𝒛</m:t>
                          </m:r>
                        </m:sub>
                      </m:sSub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2" name="ZoneText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773" y="1638384"/>
                <a:ext cx="2743202" cy="429220"/>
              </a:xfrm>
              <a:prstGeom prst="rect">
                <a:avLst/>
              </a:prstGeom>
              <a:blipFill>
                <a:blip r:embed="rId2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/>
              <p:cNvSpPr txBox="1"/>
              <p:nvPr/>
            </p:nvSpPr>
            <p:spPr>
              <a:xfrm>
                <a:off x="269773" y="2295161"/>
                <a:ext cx="2743201" cy="43851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000" b="1" i="1" smtClean="0">
                                      <a:latin typeface="Cambria Math" panose="02040503050406030204" pitchFamily="18" charset="0"/>
                                    </a:rPr>
                                    <m:t>𝑵</m:t>
                                  </m:r>
                                </m:e>
                                <m:sub>
                                  <m:r>
                                    <a:rPr lang="fr-FR" sz="20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𝒂𝒒</m:t>
                          </m:r>
                        </m:sub>
                      </m:sSub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sSub>
                            <m:sSubPr>
                              <m:ctrlPr>
                                <a:rPr lang="fr-FR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i="1" smtClean="0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fr-FR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  <m:r>
                        <a:rPr lang="fr-F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sSub>
                            <m:sSubPr>
                              <m:ctrlPr>
                                <a:rPr lang="fr-F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fr-F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3" name="ZoneText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773" y="2295161"/>
                <a:ext cx="2743201" cy="438518"/>
              </a:xfrm>
              <a:prstGeom prst="rect">
                <a:avLst/>
              </a:prstGeom>
              <a:blipFill>
                <a:blip r:embed="rId3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/>
            </p:nvSpPr>
            <p:spPr>
              <a:xfrm>
                <a:off x="4117885" y="1495652"/>
                <a:ext cx="5770950" cy="714683"/>
              </a:xfrm>
              <a:prstGeom prst="rect">
                <a:avLst/>
              </a:prstGeom>
              <a:solidFill>
                <a:srgbClr val="FFFF66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  <m:t>𝑵</m:t>
                                  </m:r>
                                </m:e>
                                <m:sub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𝒂𝒒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𝟗</m:t>
                          </m:r>
                        </m:sup>
                      </m:sSup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fr-FR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𝑚𝑜𝑙</m:t>
                              </m:r>
                            </m:num>
                            <m:den>
                              <m:r>
                                <a:rPr lang="fr-F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fr-FR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fr-FR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𝑃𝑎</m:t>
                              </m:r>
                            </m:den>
                          </m:f>
                        </m:e>
                      </m:d>
                      <m:r>
                        <a:rPr lang="fr-FR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𝟕𝟕</m:t>
                      </m:r>
                      <m:r>
                        <a:rPr lang="fr-FR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fr-FR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𝟏𝟓</m:t>
                      </m:r>
                      <m:r>
                        <a:rPr lang="fr-FR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fr-F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fr-F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fr-FR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fr-FR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𝑷𝒂</m:t>
                      </m:r>
                      <m:r>
                        <a:rPr lang="fr-FR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885" y="1495652"/>
                <a:ext cx="5770950" cy="7146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ZoneTexte 5"/>
          <p:cNvSpPr txBox="1"/>
          <p:nvPr/>
        </p:nvSpPr>
        <p:spPr>
          <a:xfrm>
            <a:off x="269773" y="451149"/>
            <a:ext cx="365676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Exercice d’application #1    suite</a:t>
            </a:r>
            <a:endParaRPr lang="en-US" dirty="0"/>
          </a:p>
        </p:txBody>
      </p:sp>
      <p:cxnSp>
        <p:nvCxnSpPr>
          <p:cNvPr id="8" name="Connecteur droit 7"/>
          <p:cNvCxnSpPr/>
          <p:nvPr/>
        </p:nvCxnSpPr>
        <p:spPr>
          <a:xfrm flipH="1">
            <a:off x="7207624" y="1852994"/>
            <a:ext cx="457200" cy="214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 flipH="1">
            <a:off x="8987119" y="1836303"/>
            <a:ext cx="457200" cy="214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4117885" y="2514420"/>
                <a:ext cx="2958630" cy="714683"/>
              </a:xfrm>
              <a:prstGeom prst="rect">
                <a:avLst/>
              </a:prstGeom>
              <a:solidFill>
                <a:srgbClr val="CCECF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𝑵</m:t>
                                  </m:r>
                                </m:e>
                                <m:sub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𝒂𝒒</m:t>
                          </m:r>
                        </m:sub>
                      </m:sSub>
                      <m:r>
                        <a:rPr lang="fr-FR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𝟎𝟎𝟎𝟓𝟎𝟏</m:t>
                      </m:r>
                      <m:d>
                        <m:dPr>
                          <m:ctrlPr>
                            <a:rPr lang="fr-FR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𝑚𝑜𝑙</m:t>
                              </m:r>
                            </m:num>
                            <m:den>
                              <m:r>
                                <a:rPr lang="fr-FR" b="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885" y="2514420"/>
                <a:ext cx="2958630" cy="7146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4160418" y="3540825"/>
                <a:ext cx="1671740" cy="62677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𝑵</m:t>
                                  </m:r>
                                </m:e>
                                <m:sub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𝒂𝒒</m:t>
                          </m:r>
                        </m:sub>
                      </m:sSub>
                      <m:r>
                        <a:rPr lang="fr-FR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  <m:t>𝑵</m:t>
                                  </m:r>
                                </m:e>
                                <m:sub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𝒆𝒂𝒖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0418" y="3540825"/>
                <a:ext cx="1671740" cy="626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7207624" y="3699867"/>
                <a:ext cx="2523448" cy="39433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𝑵</m:t>
                                  </m:r>
                                </m:e>
                                <m:sub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sub>
                          </m:sSub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𝑵</m:t>
                                  </m:r>
                                </m:e>
                                <m:sub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𝒂𝒒</m:t>
                          </m:r>
                        </m:sub>
                      </m:sSub>
                      <m:r>
                        <a:rPr lang="fr-FR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𝒆𝒂𝒖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7624" y="3699867"/>
                <a:ext cx="2523448" cy="394339"/>
              </a:xfrm>
              <a:prstGeom prst="rect">
                <a:avLst/>
              </a:prstGeom>
              <a:blipFill>
                <a:blip r:embed="rId7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2775985" y="4508106"/>
                <a:ext cx="4888839" cy="714683"/>
              </a:xfrm>
              <a:prstGeom prst="rect">
                <a:avLst/>
              </a:prstGeom>
              <a:solidFill>
                <a:srgbClr val="CCECF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sSub>
                            <m:sSub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𝟎𝟎𝟎𝟓𝟎𝟏</m:t>
                      </m:r>
                      <m:d>
                        <m:dPr>
                          <m:ctrlPr>
                            <a:rPr lang="fr-FR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𝑚𝑜𝑙</m:t>
                              </m:r>
                            </m:num>
                            <m:den>
                              <m:r>
                                <a:rPr lang="fr-FR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</m:e>
                      </m:d>
                      <m:r>
                        <a:rPr lang="fr-FR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</m:t>
                          </m:r>
                        </m:e>
                      </m:d>
                      <m:r>
                        <a:rPr lang="fr-FR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 </m:t>
                      </m:r>
                      <m:r>
                        <a:rPr lang="fr-FR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0.001</m:t>
                      </m:r>
                      <m:r>
                        <a:rPr lang="fr-FR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mol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985" y="4508106"/>
                <a:ext cx="4888839" cy="7146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onnecteur droit 14"/>
          <p:cNvCxnSpPr/>
          <p:nvPr/>
        </p:nvCxnSpPr>
        <p:spPr>
          <a:xfrm flipH="1">
            <a:off x="4767688" y="4940358"/>
            <a:ext cx="457200" cy="21461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/>
          <p:cNvCxnSpPr/>
          <p:nvPr/>
        </p:nvCxnSpPr>
        <p:spPr>
          <a:xfrm flipH="1">
            <a:off x="5750856" y="4732148"/>
            <a:ext cx="457200" cy="21461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2775984" y="5297699"/>
                <a:ext cx="5302285" cy="56675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sSub>
                            <m:sSub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sSub>
                            <m:sSub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sSub>
                            <m:sSubPr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fr-F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fr-FR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0.001</m:t>
                      </m:r>
                      <m:r>
                        <a:rPr lang="fr-FR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mol</m:t>
                      </m:r>
                      <m:r>
                        <a:rPr lang="fr-FR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×2×14.007</m:t>
                      </m:r>
                      <m:f>
                        <m:fPr>
                          <m:ctrlPr>
                            <a:rPr lang="fr-FR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fr-FR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𝑚𝑜𝑙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984" y="5297699"/>
                <a:ext cx="5302285" cy="56675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2775984" y="6022884"/>
                <a:ext cx="1969322" cy="39312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sSub>
                            <m:sSub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𝟎𝟐𝟖𝟏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984" y="6022884"/>
                <a:ext cx="1969322" cy="393121"/>
              </a:xfrm>
              <a:prstGeom prst="rect">
                <a:avLst/>
              </a:prstGeom>
              <a:blipFill>
                <a:blip r:embed="rId10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0431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10" grpId="0" animBg="1"/>
      <p:bldP spid="11" grpId="0" animBg="1"/>
      <p:bldP spid="13" grpId="0" animBg="1"/>
      <p:bldP spid="14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0362" y="986481"/>
            <a:ext cx="11474825" cy="10849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endParaRPr lang="en-US" sz="105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fr-FR" dirty="0" smtClean="0"/>
              <a:t>Un </a:t>
            </a:r>
            <a:r>
              <a:rPr lang="fr-FR" dirty="0"/>
              <a:t>réservoir rigide d’une capacité de 300 </a:t>
            </a:r>
            <a:r>
              <a:rPr lang="fr-FR" dirty="0" err="1"/>
              <a:t>mL</a:t>
            </a:r>
            <a:r>
              <a:rPr lang="fr-FR" dirty="0"/>
              <a:t> contient 250 </a:t>
            </a:r>
            <a:r>
              <a:rPr lang="fr-FR" dirty="0" err="1"/>
              <a:t>mL</a:t>
            </a:r>
            <a:r>
              <a:rPr lang="fr-FR" dirty="0"/>
              <a:t> d’eau et de l’air. Alors que la température est maintenue constante à 20°C, on injecte 0,150 mol de CO</a:t>
            </a:r>
            <a:r>
              <a:rPr lang="fr-FR" baseline="-25000" dirty="0"/>
              <a:t>2</a:t>
            </a:r>
            <a:r>
              <a:rPr lang="fr-FR" dirty="0"/>
              <a:t> gazeux. Quelle sera la pression partielle du CO</a:t>
            </a:r>
            <a:r>
              <a:rPr lang="fr-FR" baseline="-25000" dirty="0"/>
              <a:t>2</a:t>
            </a:r>
            <a:r>
              <a:rPr lang="fr-FR" dirty="0"/>
              <a:t> à l’équilibre ? </a:t>
            </a:r>
            <a:endParaRPr lang="en-US" dirty="0"/>
          </a:p>
        </p:txBody>
      </p:sp>
      <p:sp>
        <p:nvSpPr>
          <p:cNvPr id="3" name="ZoneTexte 2"/>
          <p:cNvSpPr txBox="1"/>
          <p:nvPr/>
        </p:nvSpPr>
        <p:spPr>
          <a:xfrm>
            <a:off x="269773" y="451149"/>
            <a:ext cx="340210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Exercice d’application #2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44415" y="3549514"/>
            <a:ext cx="1596788" cy="192433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5" name="Rectangle 4"/>
          <p:cNvSpPr/>
          <p:nvPr/>
        </p:nvSpPr>
        <p:spPr>
          <a:xfrm>
            <a:off x="741958" y="4139534"/>
            <a:ext cx="1610436" cy="1327491"/>
          </a:xfrm>
          <a:prstGeom prst="rect">
            <a:avLst/>
          </a:prstGeom>
          <a:solidFill>
            <a:srgbClr val="CCECF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ccolade fermante 5"/>
          <p:cNvSpPr/>
          <p:nvPr/>
        </p:nvSpPr>
        <p:spPr>
          <a:xfrm>
            <a:off x="2396900" y="4139535"/>
            <a:ext cx="239884" cy="126523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ccolade fermante 6"/>
          <p:cNvSpPr/>
          <p:nvPr/>
        </p:nvSpPr>
        <p:spPr>
          <a:xfrm>
            <a:off x="2440402" y="3538308"/>
            <a:ext cx="141447" cy="534703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ZoneTexte 7"/>
              <p:cNvSpPr txBox="1"/>
              <p:nvPr/>
            </p:nvSpPr>
            <p:spPr>
              <a:xfrm>
                <a:off x="2596636" y="3557128"/>
                <a:ext cx="1683987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𝑔𝑎𝑧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0.0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50 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ZoneText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6636" y="3557128"/>
                <a:ext cx="1683987" cy="391902"/>
              </a:xfrm>
              <a:prstGeom prst="rect">
                <a:avLst/>
              </a:prstGeom>
              <a:blipFill>
                <a:blip r:embed="rId2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ZoneTexte 8"/>
              <p:cNvSpPr txBox="1"/>
              <p:nvPr/>
            </p:nvSpPr>
            <p:spPr>
              <a:xfrm>
                <a:off x="2736987" y="4687632"/>
                <a:ext cx="15647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𝑒𝑎𝑢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=0.25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ZoneText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6987" y="4687632"/>
                <a:ext cx="156478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/>
              <p:cNvSpPr txBox="1"/>
              <p:nvPr/>
            </p:nvSpPr>
            <p:spPr>
              <a:xfrm>
                <a:off x="894186" y="5657290"/>
                <a:ext cx="1344366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𝟐𝟎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℃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6" name="ZoneTexte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186" y="5657290"/>
                <a:ext cx="134436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/>
          <p:cNvSpPr/>
          <p:nvPr/>
        </p:nvSpPr>
        <p:spPr>
          <a:xfrm>
            <a:off x="8333608" y="3501337"/>
            <a:ext cx="1596788" cy="192433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0" name="Rectangle 29"/>
          <p:cNvSpPr/>
          <p:nvPr/>
        </p:nvSpPr>
        <p:spPr>
          <a:xfrm>
            <a:off x="8331151" y="4091357"/>
            <a:ext cx="1610436" cy="1327491"/>
          </a:xfrm>
          <a:prstGeom prst="rect">
            <a:avLst/>
          </a:prstGeom>
          <a:solidFill>
            <a:srgbClr val="CCECF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ccolade fermante 30"/>
          <p:cNvSpPr/>
          <p:nvPr/>
        </p:nvSpPr>
        <p:spPr>
          <a:xfrm>
            <a:off x="10041790" y="4139534"/>
            <a:ext cx="205707" cy="128613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ccolade fermante 31"/>
          <p:cNvSpPr/>
          <p:nvPr/>
        </p:nvSpPr>
        <p:spPr>
          <a:xfrm>
            <a:off x="10029595" y="3490131"/>
            <a:ext cx="141447" cy="534703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ZoneTexte 32"/>
              <p:cNvSpPr txBox="1"/>
              <p:nvPr/>
            </p:nvSpPr>
            <p:spPr>
              <a:xfrm>
                <a:off x="10185829" y="3508951"/>
                <a:ext cx="1683987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𝑔𝑎𝑧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0.0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50 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ZoneTexte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5829" y="3508951"/>
                <a:ext cx="1683987" cy="391902"/>
              </a:xfrm>
              <a:prstGeom prst="rect">
                <a:avLst/>
              </a:prstGeom>
              <a:blipFill>
                <a:blip r:embed="rId5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ZoneTexte 33"/>
              <p:cNvSpPr txBox="1"/>
              <p:nvPr/>
            </p:nvSpPr>
            <p:spPr>
              <a:xfrm>
                <a:off x="10326180" y="4639455"/>
                <a:ext cx="15647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𝑒𝑎𝑢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=0.25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4" name="ZoneTexte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6180" y="4639455"/>
                <a:ext cx="156478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8488466" y="4658169"/>
                <a:ext cx="877483" cy="360676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sSub>
                            <m:sSubPr>
                              <m:ctrlPr>
                                <a:rPr lang="fr-FR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1" i="1" smtClean="0">
                                  <a:latin typeface="Cambria Math" panose="02040503050406030204" pitchFamily="18" charset="0"/>
                                </a:rPr>
                                <m:t>𝑪𝑶</m:t>
                              </m:r>
                            </m:e>
                            <m:sub>
                              <m:r>
                                <a:rPr lang="fr-FR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fr-FR" sz="16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1600" b="1" i="1" smtClean="0">
                              <a:latin typeface="Cambria Math" panose="02040503050406030204" pitchFamily="18" charset="0"/>
                            </a:rPr>
                            <m:t>𝒂𝒒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8466" y="4658169"/>
                <a:ext cx="877483" cy="360676"/>
              </a:xfrm>
              <a:prstGeom prst="rect">
                <a:avLst/>
              </a:prstGeom>
              <a:blipFill>
                <a:blip r:embed="rId7"/>
                <a:stretch>
                  <a:fillRect b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8478318" y="3560312"/>
                <a:ext cx="965649" cy="361894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sSub>
                            <m:sSubPr>
                              <m:ctrlPr>
                                <a:rPr lang="fr-FR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1" i="1" smtClean="0">
                                  <a:latin typeface="Cambria Math" panose="02040503050406030204" pitchFamily="18" charset="0"/>
                                </a:rPr>
                                <m:t>𝑪𝑶</m:t>
                              </m:r>
                            </m:e>
                            <m:sub>
                              <m:r>
                                <a:rPr lang="fr-FR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fr-FR" sz="16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1600" b="1" i="1" smtClean="0">
                              <a:latin typeface="Cambria Math" panose="02040503050406030204" pitchFamily="18" charset="0"/>
                            </a:rPr>
                            <m:t>𝒈𝒂𝒛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8318" y="3560312"/>
                <a:ext cx="965649" cy="361894"/>
              </a:xfrm>
              <a:prstGeom prst="rect">
                <a:avLst/>
              </a:prstGeom>
              <a:blipFill>
                <a:blip r:embed="rId8"/>
                <a:stretch>
                  <a:fillRect b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onnecteur en arc 14"/>
          <p:cNvCxnSpPr/>
          <p:nvPr/>
        </p:nvCxnSpPr>
        <p:spPr>
          <a:xfrm rot="5400000">
            <a:off x="1403495" y="3241859"/>
            <a:ext cx="879240" cy="53418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ZoneTexte 37"/>
              <p:cNvSpPr txBox="1"/>
              <p:nvPr/>
            </p:nvSpPr>
            <p:spPr>
              <a:xfrm>
                <a:off x="1843115" y="2756745"/>
                <a:ext cx="738734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𝐂𝐎</m:t>
                          </m:r>
                        </m:e>
                        <m:sub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8" name="ZoneTexte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3115" y="2756745"/>
                <a:ext cx="738734" cy="369332"/>
              </a:xfrm>
              <a:prstGeom prst="rect">
                <a:avLst/>
              </a:prstGeom>
              <a:blipFill>
                <a:blip r:embed="rId9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ZoneTexte 38"/>
              <p:cNvSpPr txBox="1"/>
              <p:nvPr/>
            </p:nvSpPr>
            <p:spPr>
              <a:xfrm>
                <a:off x="4203240" y="5657290"/>
                <a:ext cx="2733763" cy="393121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>
                                  <a:latin typeface="Cambria Math" panose="02040503050406030204" pitchFamily="18" charset="0"/>
                                </a:rPr>
                                <m:t>𝐂𝐎</m:t>
                              </m:r>
                            </m:e>
                            <m:sub>
                              <m:r>
                                <a:rPr lang="fr-FR" b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𝑻𝒐𝒕𝒂𝒍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𝟏𝟓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𝒎𝒐𝒍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9" name="ZoneTexte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3240" y="5657290"/>
                <a:ext cx="2733763" cy="393121"/>
              </a:xfrm>
              <a:prstGeom prst="rect">
                <a:avLst/>
              </a:prstGeom>
              <a:blipFill>
                <a:blip r:embed="rId10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/>
              <p:cNvSpPr txBox="1"/>
              <p:nvPr/>
            </p:nvSpPr>
            <p:spPr>
              <a:xfrm>
                <a:off x="9351666" y="3557128"/>
                <a:ext cx="677929" cy="3931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𝐂𝐎</m:t>
                              </m:r>
                            </m:e>
                            <m:sub>
                              <m:r>
                                <a:rPr lang="fr-FR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ZoneTexte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1666" y="3557128"/>
                <a:ext cx="677929" cy="393121"/>
              </a:xfrm>
              <a:prstGeom prst="rect">
                <a:avLst/>
              </a:prstGeom>
              <a:blipFill>
                <a:blip r:embed="rId11"/>
                <a:stretch>
                  <a:fillRect b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ZoneTexte 39"/>
              <p:cNvSpPr txBox="1"/>
              <p:nvPr/>
            </p:nvSpPr>
            <p:spPr>
              <a:xfrm>
                <a:off x="8478318" y="5649218"/>
                <a:ext cx="1344366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𝟐𝟎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℃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0" name="ZoneTexte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8318" y="5649218"/>
                <a:ext cx="1344366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4753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/>
      <p:bldP spid="9" grpId="0"/>
      <p:bldP spid="16" grpId="0" animBg="1"/>
      <p:bldP spid="29" grpId="0" animBg="1"/>
      <p:bldP spid="30" grpId="0" animBg="1"/>
      <p:bldP spid="31" grpId="0" animBg="1"/>
      <p:bldP spid="32" grpId="0" animBg="1"/>
      <p:bldP spid="33" grpId="0"/>
      <p:bldP spid="34" grpId="0"/>
      <p:bldP spid="35" grpId="0" animBg="1"/>
      <p:bldP spid="37" grpId="0" animBg="1"/>
      <p:bldP spid="38" grpId="0" animBg="1"/>
      <p:bldP spid="39" grpId="0" animBg="1"/>
      <p:bldP spid="17" grpId="0"/>
      <p:bldP spid="4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269773" y="451149"/>
            <a:ext cx="374052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Exercice d’application #2    suite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ZoneTexte 38"/>
              <p:cNvSpPr txBox="1"/>
              <p:nvPr/>
            </p:nvSpPr>
            <p:spPr>
              <a:xfrm>
                <a:off x="295195" y="1547024"/>
                <a:ext cx="2733763" cy="39312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>
                                  <a:latin typeface="Cambria Math" panose="02040503050406030204" pitchFamily="18" charset="0"/>
                                </a:rPr>
                                <m:t>𝐂𝐎</m:t>
                              </m:r>
                            </m:e>
                            <m:sub>
                              <m:r>
                                <a:rPr lang="fr-FR" b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𝑻𝒐𝒕𝒂𝒍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𝟏𝟓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𝒎𝒐𝒍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9" name="ZoneTexte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195" y="1547024"/>
                <a:ext cx="2733763" cy="393121"/>
              </a:xfrm>
              <a:prstGeom prst="rect">
                <a:avLst/>
              </a:prstGeom>
              <a:blipFill>
                <a:blip r:embed="rId6"/>
                <a:stretch>
                  <a:fillRect b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269773" y="3169189"/>
                <a:ext cx="5518370" cy="395493"/>
              </a:xfrm>
              <a:prstGeom prst="rect">
                <a:avLst/>
              </a:prstGeom>
              <a:solidFill>
                <a:srgbClr val="CCECF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𝐂𝐎</m:t>
                              </m:r>
                            </m:e>
                            <m:sub>
                              <m:r>
                                <a:rPr lang="fr-FR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fr-FR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fr-FR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𝐠𝐚𝐳</m:t>
                          </m:r>
                        </m:sub>
                      </m:sSub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Il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faut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le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calculer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avec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la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loi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des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gaz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parfaits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773" y="3169189"/>
                <a:ext cx="5518370" cy="395493"/>
              </a:xfrm>
              <a:prstGeom prst="rect">
                <a:avLst/>
              </a:prstGeom>
              <a:blipFill>
                <a:blip r:embed="rId7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269773" y="3789383"/>
                <a:ext cx="2489015" cy="61850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𝐂𝐎</m:t>
                              </m:r>
                            </m:e>
                            <m:sub>
                              <m:r>
                                <a:rPr lang="fr-FR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fr-FR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fr-FR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𝐠𝐚𝐳</m:t>
                          </m:r>
                        </m:sub>
                      </m:sSub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𝐂𝐎</m:t>
                                  </m:r>
                                </m:e>
                                <m:sub>
                                  <m:r>
                                    <a:rPr lang="fr-FR" b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sub>
                          </m:sSub>
                          <m:r>
                            <a:rPr lang="fr-F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fr-F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𝑔𝑎𝑧</m:t>
                              </m:r>
                            </m:sub>
                          </m:sSub>
                        </m:num>
                        <m:den>
                          <m:r>
                            <a:rPr lang="fr-F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fr-F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fr-F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773" y="3789383"/>
                <a:ext cx="2489015" cy="61850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269773" y="5934086"/>
                <a:ext cx="3527440" cy="70673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𝐂𝐎</m:t>
                              </m:r>
                            </m:e>
                            <m:sub>
                              <m:r>
                                <a:rPr lang="fr-FR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fr-FR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fr-FR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𝐠𝐚𝐳</m:t>
                          </m:r>
                        </m:sub>
                      </m:sSub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𝐂𝐎</m:t>
                                  </m:r>
                                </m:e>
                                <m:sub>
                                  <m:r>
                                    <a:rPr lang="fr-FR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sub>
                          </m:sSub>
                          <m:r>
                            <a:rPr lang="fr-F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  <m: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 ×</m:t>
                          </m:r>
                          <m:sSup>
                            <m:sSupPr>
                              <m:ctrlP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−6 </m:t>
                              </m:r>
                            </m:sup>
                          </m:sSup>
                          <m:sSup>
                            <m:sSupPr>
                              <m:ctrlP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8.314</m:t>
                          </m:r>
                          <m:r>
                            <a:rPr lang="fr-F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(25+273.15)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773" y="5934086"/>
                <a:ext cx="3527440" cy="7067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6107718" y="3203115"/>
                <a:ext cx="5200976" cy="394210"/>
              </a:xfrm>
              <a:prstGeom prst="rect">
                <a:avLst/>
              </a:prstGeom>
              <a:solidFill>
                <a:srgbClr val="CCECF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𝐂𝐎</m:t>
                              </m:r>
                            </m:e>
                            <m:sub>
                              <m:r>
                                <a:rPr lang="fr-FR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fr-FR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fr-FR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𝐚𝐪𝐮𝐞𝐮𝐱</m:t>
                          </m:r>
                        </m:sub>
                      </m:sSub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Il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faut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le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calculer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avec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la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loi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de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Henry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718" y="3203115"/>
                <a:ext cx="5200976" cy="394210"/>
              </a:xfrm>
              <a:prstGeom prst="rect">
                <a:avLst/>
              </a:prstGeom>
              <a:blipFill>
                <a:blip r:embed="rId12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ZoneTexte 35"/>
              <p:cNvSpPr txBox="1"/>
              <p:nvPr/>
            </p:nvSpPr>
            <p:spPr>
              <a:xfrm>
                <a:off x="6048744" y="4177090"/>
                <a:ext cx="2743201" cy="43851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000" b="1" i="1" smtClean="0">
                                      <a:latin typeface="Cambria Math" panose="02040503050406030204" pitchFamily="18" charset="0"/>
                                    </a:rPr>
                                    <m:t>𝑪𝑶</m:t>
                                  </m:r>
                                </m:e>
                                <m:sub>
                                  <m:r>
                                    <a:rPr lang="fr-FR" sz="20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𝒂𝒒</m:t>
                          </m:r>
                        </m:sub>
                      </m:sSub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sSub>
                            <m:sSubPr>
                              <m:ctrlPr>
                                <a:rPr lang="fr-FR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i="1" smtClean="0">
                                  <a:latin typeface="Cambria Math" panose="02040503050406030204" pitchFamily="18" charset="0"/>
                                </a:rPr>
                                <m:t>𝑪𝑶</m:t>
                              </m:r>
                            </m:e>
                            <m:sub>
                              <m:r>
                                <a:rPr lang="fr-FR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  <m:r>
                        <a:rPr lang="fr-F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sSub>
                            <m:sSubPr>
                              <m:ctrlPr>
                                <a:rPr lang="fr-F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𝑪𝑶</m:t>
                              </m:r>
                            </m:e>
                            <m:sub>
                              <m:r>
                                <a:rPr lang="fr-F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36" name="ZoneTexte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8744" y="4177090"/>
                <a:ext cx="2743201" cy="438518"/>
              </a:xfrm>
              <a:prstGeom prst="rect">
                <a:avLst/>
              </a:prstGeom>
              <a:blipFill>
                <a:blip r:embed="rId13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/>
              <p:cNvSpPr/>
              <p:nvPr/>
            </p:nvSpPr>
            <p:spPr>
              <a:xfrm>
                <a:off x="6107718" y="4745219"/>
                <a:ext cx="3134191" cy="39433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  <m:t>𝑪𝑶</m:t>
                                  </m:r>
                                </m:e>
                                <m:sub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𝒂𝒒</m:t>
                              </m:r>
                            </m:sub>
                          </m:sSub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𝑵</m:t>
                                  </m:r>
                                </m:e>
                                <m:sub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  <m:t>𝑪𝑶</m:t>
                                  </m:r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𝒂𝒒</m:t>
                          </m:r>
                        </m:sub>
                      </m:sSub>
                      <m:r>
                        <a:rPr lang="fr-FR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𝒆𝒂𝒖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718" y="4745219"/>
                <a:ext cx="3134191" cy="394339"/>
              </a:xfrm>
              <a:prstGeom prst="rect">
                <a:avLst/>
              </a:prstGeom>
              <a:blipFill>
                <a:blip r:embed="rId14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/>
              <p:cNvSpPr/>
              <p:nvPr/>
            </p:nvSpPr>
            <p:spPr>
              <a:xfrm>
                <a:off x="6133866" y="5310339"/>
                <a:ext cx="3496278" cy="43043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  <m:t>𝑪𝑶</m:t>
                                  </m:r>
                                </m:e>
                                <m:sub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𝒂𝒒</m:t>
                              </m:r>
                            </m:sub>
                          </m:sSub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fr-FR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fr-FR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𝑪𝑶</m:t>
                                  </m:r>
                                </m:e>
                                <m:sub>
                                  <m:r>
                                    <a:rPr lang="fr-FR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sub>
                          </m:sSub>
                          <m:r>
                            <a:rPr lang="fr-FR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fr-FR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fr-FR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𝑪𝑶</m:t>
                                  </m:r>
                                </m:e>
                                <m:sub>
                                  <m:r>
                                    <a:rPr lang="fr-FR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sub>
                          </m:sSub>
                        </m:e>
                        <m:sub/>
                      </m:sSub>
                      <m:r>
                        <a:rPr lang="fr-FR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𝒆𝒂𝒖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3866" y="5310339"/>
                <a:ext cx="3496278" cy="43043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/>
              <p:cNvSpPr/>
              <p:nvPr/>
            </p:nvSpPr>
            <p:spPr>
              <a:xfrm>
                <a:off x="6053993" y="6070886"/>
                <a:ext cx="4383829" cy="43435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  <m:t>𝑪𝑶</m:t>
                                  </m:r>
                                </m:e>
                                <m:sub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sub>
                              </m:s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𝒂𝒒</m:t>
                              </m:r>
                            </m:sub>
                          </m:sSub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  <m:r>
                            <m:rPr>
                              <m:nor/>
                            </m:rPr>
                            <a:rPr lang="en-US" smtClean="0"/>
                            <m:t> × </m:t>
                          </m:r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−7</m:t>
                              </m:r>
                            </m:sup>
                          </m:sSup>
                          <m:r>
                            <a:rPr lang="fr-FR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fr-FR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fr-FR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𝑪𝑶</m:t>
                                  </m:r>
                                </m:e>
                                <m:sub>
                                  <m:r>
                                    <a:rPr lang="fr-FR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sub>
                          </m:sSub>
                        </m:e>
                        <m:sub/>
                      </m:sSub>
                      <m:r>
                        <a:rPr lang="fr-FR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𝟐𝟓</m:t>
                      </m:r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𝑳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3993" y="6070886"/>
                <a:ext cx="4383829" cy="43435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/>
          <p:cNvSpPr/>
          <p:nvPr/>
        </p:nvSpPr>
        <p:spPr>
          <a:xfrm>
            <a:off x="7883094" y="420965"/>
            <a:ext cx="1596788" cy="192433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" name="Rectangle 22"/>
          <p:cNvSpPr/>
          <p:nvPr/>
        </p:nvSpPr>
        <p:spPr>
          <a:xfrm>
            <a:off x="7880637" y="1010985"/>
            <a:ext cx="1610436" cy="1327491"/>
          </a:xfrm>
          <a:prstGeom prst="rect">
            <a:avLst/>
          </a:prstGeom>
          <a:solidFill>
            <a:srgbClr val="CCECF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ccolade fermante 23"/>
          <p:cNvSpPr/>
          <p:nvPr/>
        </p:nvSpPr>
        <p:spPr>
          <a:xfrm>
            <a:off x="9591276" y="1059162"/>
            <a:ext cx="205707" cy="128613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ccolade fermante 24"/>
          <p:cNvSpPr/>
          <p:nvPr/>
        </p:nvSpPr>
        <p:spPr>
          <a:xfrm>
            <a:off x="9579081" y="409759"/>
            <a:ext cx="141447" cy="534703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ZoneTexte 26"/>
              <p:cNvSpPr txBox="1"/>
              <p:nvPr/>
            </p:nvSpPr>
            <p:spPr>
              <a:xfrm>
                <a:off x="9735315" y="428579"/>
                <a:ext cx="1683987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𝑔𝑎𝑧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0.0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50 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ZoneTexte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5315" y="428579"/>
                <a:ext cx="1683987" cy="391902"/>
              </a:xfrm>
              <a:prstGeom prst="rect">
                <a:avLst/>
              </a:prstGeom>
              <a:blipFill>
                <a:blip r:embed="rId17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ZoneTexte 37"/>
              <p:cNvSpPr txBox="1"/>
              <p:nvPr/>
            </p:nvSpPr>
            <p:spPr>
              <a:xfrm>
                <a:off x="9875666" y="1559083"/>
                <a:ext cx="15647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𝑒𝑎𝑢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=0.25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8" name="ZoneTexte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5666" y="1559083"/>
                <a:ext cx="1564787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8037952" y="1577797"/>
                <a:ext cx="877483" cy="360676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sSub>
                            <m:sSubPr>
                              <m:ctrlPr>
                                <a:rPr lang="fr-FR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1" i="1" smtClean="0">
                                  <a:latin typeface="Cambria Math" panose="02040503050406030204" pitchFamily="18" charset="0"/>
                                </a:rPr>
                                <m:t>𝑪𝑶</m:t>
                              </m:r>
                            </m:e>
                            <m:sub>
                              <m:r>
                                <a:rPr lang="fr-FR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fr-FR" sz="16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1600" b="1" i="1" smtClean="0">
                              <a:latin typeface="Cambria Math" panose="02040503050406030204" pitchFamily="18" charset="0"/>
                            </a:rPr>
                            <m:t>𝒂𝒒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7952" y="1577797"/>
                <a:ext cx="877483" cy="360676"/>
              </a:xfrm>
              <a:prstGeom prst="rect">
                <a:avLst/>
              </a:prstGeom>
              <a:blipFill>
                <a:blip r:embed="rId19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8027804" y="479940"/>
                <a:ext cx="965649" cy="361894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sSub>
                            <m:sSubPr>
                              <m:ctrlPr>
                                <a:rPr lang="fr-FR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1" i="1" smtClean="0">
                                  <a:latin typeface="Cambria Math" panose="02040503050406030204" pitchFamily="18" charset="0"/>
                                </a:rPr>
                                <m:t>𝑪𝑶</m:t>
                              </m:r>
                            </m:e>
                            <m:sub>
                              <m:r>
                                <a:rPr lang="fr-FR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fr-FR" sz="16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1600" b="1" i="1" smtClean="0">
                              <a:latin typeface="Cambria Math" panose="02040503050406030204" pitchFamily="18" charset="0"/>
                            </a:rPr>
                            <m:t>𝒈𝒂𝒛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7804" y="479940"/>
                <a:ext cx="965649" cy="361894"/>
              </a:xfrm>
              <a:prstGeom prst="rect">
                <a:avLst/>
              </a:prstGeom>
              <a:blipFill>
                <a:blip r:embed="rId20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ZoneTexte 45"/>
              <p:cNvSpPr txBox="1"/>
              <p:nvPr/>
            </p:nvSpPr>
            <p:spPr>
              <a:xfrm>
                <a:off x="8901152" y="476756"/>
                <a:ext cx="677929" cy="3931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𝐂𝐎</m:t>
                              </m:r>
                            </m:e>
                            <m:sub>
                              <m:r>
                                <a:rPr lang="fr-FR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6" name="ZoneTexte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1152" y="476756"/>
                <a:ext cx="677929" cy="393121"/>
              </a:xfrm>
              <a:prstGeom prst="rect">
                <a:avLst/>
              </a:prstGeom>
              <a:blipFill>
                <a:blip r:embed="rId21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ZoneTexte 46"/>
              <p:cNvSpPr txBox="1"/>
              <p:nvPr/>
            </p:nvSpPr>
            <p:spPr>
              <a:xfrm>
                <a:off x="8027804" y="2568846"/>
                <a:ext cx="1344366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𝟐𝟎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℃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7" name="ZoneTexte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7804" y="2568846"/>
                <a:ext cx="1344366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837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10" grpId="0" animBg="1"/>
      <p:bldP spid="11" grpId="0" animBg="1"/>
      <p:bldP spid="26" grpId="0" animBg="1"/>
      <p:bldP spid="28" grpId="0" animBg="1"/>
      <p:bldP spid="36" grpId="0" animBg="1"/>
      <p:bldP spid="41" grpId="0" animBg="1"/>
      <p:bldP spid="42" grpId="0" animBg="1"/>
      <p:bldP spid="43" grpId="0" animBg="1"/>
      <p:bldP spid="22" grpId="0" animBg="1"/>
      <p:bldP spid="23" grpId="0" animBg="1"/>
      <p:bldP spid="24" grpId="0" animBg="1"/>
      <p:bldP spid="25" grpId="0" animBg="1"/>
      <p:bldP spid="27" grpId="0"/>
      <p:bldP spid="38" grpId="0"/>
      <p:bldP spid="44" grpId="0" animBg="1"/>
      <p:bldP spid="45" grpId="0" animBg="1"/>
      <p:bldP spid="46" grpId="0"/>
      <p:bldP spid="4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269773" y="451149"/>
            <a:ext cx="374052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Exercice d’application #2    suite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541327" y="996326"/>
                <a:ext cx="3527440" cy="70673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𝐂𝐎</m:t>
                              </m:r>
                            </m:e>
                            <m:sub>
                              <m:r>
                                <a:rPr lang="fr-FR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fr-FR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fr-FR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𝐠𝐚𝐳</m:t>
                          </m:r>
                        </m:sub>
                      </m:sSub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𝐂𝐎</m:t>
                                  </m:r>
                                </m:e>
                                <m:sub>
                                  <m:r>
                                    <a:rPr lang="fr-FR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sub>
                          </m:sSub>
                          <m:r>
                            <a:rPr lang="fr-F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  <m: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 ×</m:t>
                          </m:r>
                          <m:sSup>
                            <m:sSupPr>
                              <m:ctrlP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−6 </m:t>
                              </m:r>
                            </m:sup>
                          </m:sSup>
                          <m:sSup>
                            <m:sSupPr>
                              <m:ctrlP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8.314</m:t>
                          </m:r>
                          <m:r>
                            <a:rPr lang="fr-F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(25+273.15)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1327" y="996326"/>
                <a:ext cx="3527440" cy="7067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541327" y="2230406"/>
                <a:ext cx="4383829" cy="43435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  <m:t>𝑪𝑶</m:t>
                                  </m:r>
                                </m:e>
                                <m:sub>
                                  <m:r>
                                    <a:rPr lang="fr-FR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sub>
                              </m:sSub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𝒂𝒒</m:t>
                              </m:r>
                            </m:sub>
                          </m:sSub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  <m:r>
                            <m:rPr>
                              <m:nor/>
                            </m:rPr>
                            <a:rPr lang="en-US" smtClean="0"/>
                            <m:t> × </m:t>
                          </m:r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−7</m:t>
                              </m:r>
                            </m:sup>
                          </m:sSup>
                          <m:r>
                            <a:rPr lang="fr-FR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fr-FR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fr-FR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𝑪𝑶</m:t>
                                  </m:r>
                                </m:e>
                                <m:sub>
                                  <m:r>
                                    <a:rPr lang="fr-FR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sub>
                          </m:sSub>
                        </m:e>
                        <m:sub/>
                      </m:sSub>
                      <m:r>
                        <a:rPr lang="fr-FR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𝟐𝟓</m:t>
                      </m:r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𝑳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1327" y="2230406"/>
                <a:ext cx="4383829" cy="4343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/>
              <p:cNvSpPr txBox="1"/>
              <p:nvPr/>
            </p:nvSpPr>
            <p:spPr>
              <a:xfrm>
                <a:off x="4541327" y="2891328"/>
                <a:ext cx="2733763" cy="39312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>
                                  <a:latin typeface="Cambria Math" panose="02040503050406030204" pitchFamily="18" charset="0"/>
                                </a:rPr>
                                <m:t>𝐂𝐎</m:t>
                              </m:r>
                            </m:e>
                            <m:sub>
                              <m:r>
                                <a:rPr lang="fr-FR" b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𝑻𝒐𝒕𝒂𝒍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𝟏𝟓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𝒎𝒐𝒍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ZoneText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1327" y="2891328"/>
                <a:ext cx="2733763" cy="393121"/>
              </a:xfrm>
              <a:prstGeom prst="rect">
                <a:avLst/>
              </a:prstGeom>
              <a:blipFill>
                <a:blip r:embed="rId4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ZoneTexte 8"/>
          <p:cNvSpPr txBox="1"/>
          <p:nvPr/>
        </p:nvSpPr>
        <p:spPr>
          <a:xfrm>
            <a:off x="205845" y="3465353"/>
            <a:ext cx="33402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/>
              <a:t>Ce qui donne l’équation suivante: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4462266" y="3468223"/>
                <a:ext cx="3276282" cy="3956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>
                              <a:latin typeface="Cambria Math" panose="02040503050406030204" pitchFamily="18" charset="0"/>
                            </a:rPr>
                            <m:t>𝐧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>
                                  <a:latin typeface="Cambria Math" panose="02040503050406030204" pitchFamily="18" charset="0"/>
                                </a:rPr>
                                <m:t>𝐂𝐎</m:t>
                              </m:r>
                            </m:e>
                            <m:sub>
                              <m:r>
                                <a:rPr lang="fr-FR" b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fr-FR" b="1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fr-FR" b="1">
                              <a:latin typeface="Cambria Math" panose="02040503050406030204" pitchFamily="18" charset="0"/>
                            </a:rPr>
                            <m:t>𝐠𝐚𝐳</m:t>
                          </m:r>
                        </m:sub>
                      </m:sSub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sSub>
                            <m:sSubPr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𝑪𝑶</m:t>
                              </m:r>
                            </m:e>
                            <m:sub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  <m:r>
                            <a:rPr lang="fr-FR" b="1" i="1">
                              <a:latin typeface="Cambria Math" panose="02040503050406030204" pitchFamily="18" charset="0"/>
                            </a:rPr>
                            <m:t>𝒂𝒒</m:t>
                          </m:r>
                        </m:sub>
                      </m:sSub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=0.15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mol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2266" y="3468223"/>
                <a:ext cx="3276282" cy="395686"/>
              </a:xfrm>
              <a:prstGeom prst="rect">
                <a:avLst/>
              </a:prstGeom>
              <a:blipFill>
                <a:blip r:embed="rId5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007288" y="4367049"/>
                <a:ext cx="6394443" cy="983731"/>
              </a:xfrm>
              <a:prstGeom prst="rect">
                <a:avLst/>
              </a:prstGeom>
              <a:solidFill>
                <a:srgbClr val="CCECF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𝐂𝐎</m:t>
                                  </m:r>
                                </m:e>
                                <m:sub>
                                  <m:r>
                                    <a:rPr lang="fr-FR" b="1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sub>
                          </m:sSub>
                          <m:r>
                            <a:rPr lang="fr-FR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×50 ×</m:t>
                          </m:r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fr-FR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−6 </m:t>
                              </m:r>
                            </m:sup>
                          </m:sSup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fr-FR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</m:t>
                              </m:r>
                            </m:e>
                            <m:sup>
                              <m:r>
                                <a:rPr lang="fr-FR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8.314</m:t>
                          </m:r>
                          <m:r>
                            <a:rPr lang="fr-FR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∙(25+273.15)</m:t>
                          </m:r>
                        </m:den>
                      </m:f>
                      <m:r>
                        <a:rPr lang="fr-F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fr-FR" b="1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b="1" i="0">
                              <a:latin typeface="Cambria Math" panose="02040503050406030204" pitchFamily="18" charset="0"/>
                            </a:rPr>
                            <m:t>𝟖</m:t>
                          </m:r>
                          <m:r>
                            <m:rPr>
                              <m:nor/>
                            </m:rPr>
                            <a:rPr lang="en-US"/>
                            <m:t> × 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−7</m:t>
                              </m:r>
                            </m:sup>
                          </m:sSup>
                          <m:r>
                            <a:rPr lang="fr-FR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fr-FR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fr-FR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𝐂𝐎</m:t>
                                  </m:r>
                                </m:e>
                                <m:sub>
                                  <m:r>
                                    <a:rPr lang="fr-FR" b="1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sub>
                          </m:sSub>
                        </m:e>
                        <m:sub/>
                      </m:sSub>
                      <m:r>
                        <a:rPr lang="fr-FR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fr-FR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fr-FR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fr-FR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𝟐𝟓</m:t>
                      </m:r>
                      <m:r>
                        <a:rPr lang="fr-FR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𝐋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𝟏𝟓</m:t>
                      </m:r>
                      <m:r>
                        <a:rPr lang="fr-FR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288" y="4367049"/>
                <a:ext cx="6394443" cy="9837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Imag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385" y="5566202"/>
            <a:ext cx="6572250" cy="8477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8675599" y="5840811"/>
                <a:ext cx="2301143" cy="393121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𝐂𝐎</m:t>
                              </m:r>
                            </m:e>
                            <m:sub>
                              <m:r>
                                <a:rPr lang="fr-FR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  <m:r>
                        <a:rPr lang="fr-FR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𝟏𝟑𝟎𝟐</m:t>
                      </m:r>
                      <m:r>
                        <a:rPr lang="fr-FR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fr-FR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𝐤𝐏𝐚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5599" y="5840811"/>
                <a:ext cx="2301143" cy="393121"/>
              </a:xfrm>
              <a:prstGeom prst="rect">
                <a:avLst/>
              </a:prstGeom>
              <a:blipFill>
                <a:blip r:embed="rId8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1832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/>
      <p:bldP spid="10" grpId="0"/>
      <p:bldP spid="11" grpId="0" animBg="1"/>
      <p:bldP spid="13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ype de bois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TM03090434[[fn=Type de bois]]</Template>
  <TotalTime>77</TotalTime>
  <Words>141</Words>
  <Application>Microsoft Office PowerPoint</Application>
  <PresentationFormat>Grand écran</PresentationFormat>
  <Paragraphs>74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4" baseType="lpstr">
      <vt:lpstr>Arial</vt:lpstr>
      <vt:lpstr>Arial Narrow</vt:lpstr>
      <vt:lpstr>Cambria Math</vt:lpstr>
      <vt:lpstr>Rockwell</vt:lpstr>
      <vt:lpstr>Rockwell Condensed</vt:lpstr>
      <vt:lpstr>Wingdings</vt:lpstr>
      <vt:lpstr>Type de bois</vt:lpstr>
      <vt:lpstr>Résumé du cours: 3.7  Solubilité des gaz dans un liquide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Résumé du cours: 3.7  Solubilité des gaz dans un liquide</dc:title>
  <dc:creator>Utilisateur Windows</dc:creator>
  <cp:lastModifiedBy>Utilisateur Windows</cp:lastModifiedBy>
  <cp:revision>24</cp:revision>
  <dcterms:created xsi:type="dcterms:W3CDTF">2020-11-25T02:23:45Z</dcterms:created>
  <dcterms:modified xsi:type="dcterms:W3CDTF">2020-11-26T16:37:31Z</dcterms:modified>
</cp:coreProperties>
</file>