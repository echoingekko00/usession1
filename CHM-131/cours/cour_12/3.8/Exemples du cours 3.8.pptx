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11/25/2020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microsoft.com/office/2007/relationships/hdphoto" Target="../media/hdphoto3.wdp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000" dirty="0" smtClean="0"/>
              <a:t>Résumé du cours:</a:t>
            </a:r>
            <a:br>
              <a:rPr lang="fr-FR" sz="4000" dirty="0" smtClean="0"/>
            </a:br>
            <a:r>
              <a:rPr lang="fr-FR" sz="4000" dirty="0" smtClean="0"/>
              <a:t/>
            </a:r>
            <a:br>
              <a:rPr lang="fr-FR" sz="4000" dirty="0" smtClean="0"/>
            </a:br>
            <a:r>
              <a:rPr lang="fr-FR" sz="4000" dirty="0" smtClean="0"/>
              <a:t>3.8  Pollution et traitement des eaux</a:t>
            </a:r>
            <a:endParaRPr lang="en-US" sz="4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8281" y="5199017"/>
            <a:ext cx="7891272" cy="1069848"/>
          </a:xfrm>
        </p:spPr>
        <p:txBody>
          <a:bodyPr>
            <a:normAutofit/>
          </a:bodyPr>
          <a:lstStyle/>
          <a:p>
            <a:pPr algn="r"/>
            <a:r>
              <a:rPr lang="fr-FR" sz="1600" i="1" dirty="0" err="1" smtClean="0">
                <a:solidFill>
                  <a:srgbClr val="002060"/>
                </a:solidFill>
              </a:rPr>
              <a:t>Z.Hamoudi</a:t>
            </a:r>
            <a:r>
              <a:rPr lang="fr-FR" sz="1600" i="1" dirty="0" smtClean="0">
                <a:solidFill>
                  <a:srgbClr val="002060"/>
                </a:solidFill>
              </a:rPr>
              <a:t> Aut-2020</a:t>
            </a:r>
            <a:endParaRPr lang="en-US" sz="16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56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4108134" y="2425638"/>
                <a:ext cx="4767575" cy="795411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DBO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masse</m:t>
                          </m:r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consomm</m:t>
                          </m:r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volume</m:t>
                          </m:r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us</m:t>
                          </m:r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34" y="2425638"/>
                <a:ext cx="4767575" cy="795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243583" y="478715"/>
            <a:ext cx="10703092" cy="5847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Comment calculer la DBO (méthode conventionnelle)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4108133" y="3738622"/>
                <a:ext cx="5924141" cy="845103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DBO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𝑏𝑢𝑡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−  </m:t>
                              </m:r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volume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fr-FR" sz="28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us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e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33" y="3738622"/>
                <a:ext cx="5924141" cy="8451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10"/>
          <p:cNvCxnSpPr/>
          <p:nvPr/>
        </p:nvCxnSpPr>
        <p:spPr>
          <a:xfrm>
            <a:off x="1482498" y="5448998"/>
            <a:ext cx="13063" cy="1031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243583" y="4987333"/>
            <a:ext cx="1793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Unités:</a:t>
            </a:r>
            <a:endParaRPr lang="en-US" sz="24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/>
              <p:cNvSpPr txBox="1"/>
              <p:nvPr/>
            </p:nvSpPr>
            <p:spPr>
              <a:xfrm>
                <a:off x="1611045" y="5571825"/>
                <a:ext cx="1363059" cy="3931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𝒎𝒈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045" y="5571825"/>
                <a:ext cx="1363059" cy="393121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1656115" y="6111563"/>
                <a:ext cx="2452018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volume</m:t>
                    </m:r>
                    <m:r>
                      <a:rPr lang="fr-FR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fr-FR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eau</m:t>
                    </m:r>
                    <m:r>
                      <a:rPr lang="fr-F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us</m:t>
                    </m:r>
                    <m:r>
                      <a:rPr lang="fr-FR"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 smtClean="0"/>
                  <a:t> :  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L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15" y="6111563"/>
                <a:ext cx="2452018" cy="369332"/>
              </a:xfrm>
              <a:prstGeom prst="rect">
                <a:avLst/>
              </a:prstGeom>
              <a:blipFill>
                <a:blip r:embed="rId5"/>
                <a:stretch>
                  <a:fillRect t="-10000" r="-1493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9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2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362" y="986481"/>
            <a:ext cx="11474825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veut réaliser un test de DBO. La bouteille utilisée a une capacité de 305 </a:t>
            </a:r>
            <a:r>
              <a:rPr lang="fr-F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lang="fr-F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concentration initiale en oxygène dissous (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r>
              <a:rPr lang="fr-F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initial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) est : 9,00 mg/L </a:t>
            </a:r>
            <a:r>
              <a:rPr lang="fr-F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et 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la concentration finale (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r>
              <a:rPr lang="fr-F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) est : 4,50 mg/L </a:t>
            </a:r>
            <a:endParaRPr lang="fr-FR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Quel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volume d’échantillon a-t-on utilisé si la DBO est 350 mg/L ?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69773" y="451149"/>
            <a:ext cx="340210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#1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23961" y="3037519"/>
            <a:ext cx="221086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lang="fr-FR" dirty="0" err="1" smtClean="0"/>
              <a:t>OD</a:t>
            </a:r>
            <a:r>
              <a:rPr lang="fr-FR" baseline="-25000" dirty="0" err="1" smtClean="0"/>
              <a:t>initial</a:t>
            </a:r>
            <a:r>
              <a:rPr lang="fr-FR" dirty="0" smtClean="0"/>
              <a:t>= </a:t>
            </a:r>
            <a:r>
              <a:rPr lang="fr-FR" dirty="0"/>
              <a:t>9,00 mg/L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223961" y="3612261"/>
                <a:ext cx="3312573" cy="4603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b="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𝑏𝑢𝑡</m:t>
                        </m:r>
                      </m:sub>
                    </m:sSub>
                  </m:oMath>
                </a14:m>
                <a:r>
                  <a:rPr lang="fr-FR" dirty="0" smtClean="0"/>
                  <a:t>= </a:t>
                </a:r>
                <a:r>
                  <a:rPr lang="fr-FR" dirty="0"/>
                  <a:t>9,00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𝑚𝑔</m:t>
                        </m:r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𝑏𝑜𝑢𝑡𝑒𝑖𝑙𝑙𝑒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61" y="3612261"/>
                <a:ext cx="3312573" cy="460382"/>
              </a:xfrm>
              <a:prstGeom prst="rect">
                <a:avLst/>
              </a:prstGeom>
              <a:blipFill>
                <a:blip r:embed="rId2"/>
                <a:stretch>
                  <a:fillRect t="-133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237555" y="4240093"/>
                <a:ext cx="4394536" cy="4614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b="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𝑏𝑢𝑡</m:t>
                        </m:r>
                      </m:sub>
                    </m:sSub>
                  </m:oMath>
                </a14:m>
                <a:r>
                  <a:rPr lang="fr-FR" dirty="0" smtClean="0"/>
                  <a:t>= </a:t>
                </a:r>
                <a:r>
                  <a:rPr lang="fr-FR" dirty="0"/>
                  <a:t>9,00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𝑚𝑔</m:t>
                        </m:r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×0.305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=2.745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𝑚𝑔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55" y="4240093"/>
                <a:ext cx="4394536" cy="461473"/>
              </a:xfrm>
              <a:prstGeom prst="rect">
                <a:avLst/>
              </a:prstGeom>
              <a:blipFill>
                <a:blip r:embed="rId3"/>
                <a:stretch>
                  <a:fillRect t="-133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7068657" y="2941211"/>
            <a:ext cx="203453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dirty="0" err="1" smtClean="0"/>
              <a:t>OD</a:t>
            </a:r>
            <a:r>
              <a:rPr lang="fr-FR" baseline="-25000" dirty="0" err="1" smtClean="0"/>
              <a:t>Final</a:t>
            </a:r>
            <a:r>
              <a:rPr lang="fr-FR" dirty="0" smtClean="0"/>
              <a:t>= 4.5 </a:t>
            </a:r>
            <a:r>
              <a:rPr lang="fr-FR" dirty="0"/>
              <a:t>mg/L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7068657" y="3406851"/>
                <a:ext cx="2891817" cy="46147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𝑓𝑖𝑛</m:t>
                        </m:r>
                      </m:sub>
                    </m:sSub>
                  </m:oMath>
                </a14:m>
                <a:r>
                  <a:rPr lang="fr-FR" dirty="0" smtClean="0"/>
                  <a:t>= 4.5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𝑚𝑔</m:t>
                        </m:r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𝑏𝑜𝑢𝑡𝑒𝑖𝑙𝑙𝑒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657" y="3406851"/>
                <a:ext cx="2891817" cy="461473"/>
              </a:xfrm>
              <a:prstGeom prst="rect">
                <a:avLst/>
              </a:prstGeom>
              <a:blipFill>
                <a:blip r:embed="rId4"/>
                <a:stretch>
                  <a:fillRect t="-1316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7068657" y="3999199"/>
                <a:ext cx="4192558" cy="46147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fr-F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𝑓𝑖𝑛</m:t>
                        </m:r>
                      </m:sub>
                    </m:sSub>
                  </m:oMath>
                </a14:m>
                <a:r>
                  <a:rPr lang="fr-FR" dirty="0" smtClean="0"/>
                  <a:t>= 4.5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𝑚𝑔</m:t>
                        </m:r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×0.305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=1.3725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𝑚𝑔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657" y="3999199"/>
                <a:ext cx="4192558" cy="461473"/>
              </a:xfrm>
              <a:prstGeom prst="rect">
                <a:avLst/>
              </a:prstGeom>
              <a:blipFill>
                <a:blip r:embed="rId5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ZoneTexte 34"/>
              <p:cNvSpPr txBox="1"/>
              <p:nvPr/>
            </p:nvSpPr>
            <p:spPr>
              <a:xfrm>
                <a:off x="223961" y="5693086"/>
                <a:ext cx="3409412" cy="630109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DBO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𝑏𝑢𝑡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−  </m:t>
                              </m:r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fr-FR" sz="2000">
                              <a:latin typeface="Cambria Math" panose="02040503050406030204" pitchFamily="18" charset="0"/>
                            </a:rPr>
                            <m:t>volume</m:t>
                          </m:r>
                          <m:r>
                            <a:rPr lang="fr-FR" sz="200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fr-FR" sz="20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fr-FR" sz="2000"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sz="20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latin typeface="Cambria Math" panose="02040503050406030204" pitchFamily="18" charset="0"/>
                            </a:rPr>
                            <m:t>us</m:t>
                          </m:r>
                          <m:r>
                            <a:rPr lang="fr-FR" sz="200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latin typeface="Cambria Math" panose="02040503050406030204" pitchFamily="18" charset="0"/>
                            </a:rPr>
                            <m:t>e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61" y="5693086"/>
                <a:ext cx="3409412" cy="6301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ZoneTexte 35"/>
              <p:cNvSpPr txBox="1"/>
              <p:nvPr/>
            </p:nvSpPr>
            <p:spPr>
              <a:xfrm>
                <a:off x="4115037" y="5727888"/>
                <a:ext cx="3886308" cy="7287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50 =</m:t>
                      </m:r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.745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   −1.3725 </m:t>
                          </m:r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mg</m:t>
                          </m:r>
                        </m:num>
                        <m:den>
                          <m:sSub>
                            <m:sSub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ZoneText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037" y="5727888"/>
                <a:ext cx="3886308" cy="7287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8223029" y="5881811"/>
                <a:ext cx="3229923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us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i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=0.0039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=3.9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029" y="5881811"/>
                <a:ext cx="3229923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223961" y="2518615"/>
            <a:ext cx="159366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Au début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7068915" y="2501305"/>
            <a:ext cx="159366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À la fin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4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69773" y="1638384"/>
                <a:ext cx="2743202" cy="429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𝒈𝒂𝒛</m:t>
                              </m:r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1638384"/>
                <a:ext cx="2743202" cy="429220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269773" y="2295161"/>
                <a:ext cx="2743201" cy="4385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2295161"/>
                <a:ext cx="2743201" cy="438518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4117885" y="1495652"/>
                <a:ext cx="5770950" cy="7146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𝑃𝑎</m:t>
                              </m:r>
                            </m:den>
                          </m:f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𝟕𝟕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𝑷𝒂</m:t>
                      </m:r>
                      <m:r>
                        <a:rPr lang="fr-F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85" y="1495652"/>
                <a:ext cx="577095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269773" y="451149"/>
            <a:ext cx="365676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#1    suite</a:t>
            </a:r>
            <a:endParaRPr lang="en-US" dirty="0"/>
          </a:p>
        </p:txBody>
      </p:sp>
      <p:cxnSp>
        <p:nvCxnSpPr>
          <p:cNvPr id="8" name="Connecteur droit 7"/>
          <p:cNvCxnSpPr/>
          <p:nvPr/>
        </p:nvCxnSpPr>
        <p:spPr>
          <a:xfrm flipH="1">
            <a:off x="7207624" y="1852994"/>
            <a:ext cx="457200" cy="214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H="1">
            <a:off x="8987119" y="1836303"/>
            <a:ext cx="457200" cy="214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17885" y="2514420"/>
                <a:ext cx="2958630" cy="7146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𝟎𝟎𝟎𝟓𝟎𝟏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b="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85" y="2514420"/>
                <a:ext cx="2958630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117885" y="3312268"/>
                <a:ext cx="1671740" cy="6267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𝒆𝒂𝒖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85" y="3312268"/>
                <a:ext cx="1671740" cy="626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168823" y="4022208"/>
                <a:ext cx="2523448" cy="39433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𝒆𝒂𝒖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23" y="4022208"/>
                <a:ext cx="2523448" cy="394339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775985" y="4508106"/>
                <a:ext cx="4888839" cy="714683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𝟎𝟎𝟎𝟓𝟎𝟏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</m:d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0.001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85" y="4508106"/>
                <a:ext cx="4888839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14"/>
          <p:cNvCxnSpPr/>
          <p:nvPr/>
        </p:nvCxnSpPr>
        <p:spPr>
          <a:xfrm flipH="1">
            <a:off x="4767688" y="4940358"/>
            <a:ext cx="457200" cy="214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H="1">
            <a:off x="5750856" y="4732148"/>
            <a:ext cx="457200" cy="214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775984" y="5297699"/>
                <a:ext cx="5302285" cy="566758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0.001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mol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×2×14.007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84" y="5297699"/>
                <a:ext cx="5302285" cy="5667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2775984" y="6022884"/>
                <a:ext cx="1969322" cy="39312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𝟎𝟐𝟖𝟏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84" y="6022884"/>
                <a:ext cx="1969322" cy="393121"/>
              </a:xfrm>
              <a:prstGeom prst="rect">
                <a:avLst/>
              </a:prstGeom>
              <a:blipFill>
                <a:blip r:embed="rId10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4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0" grpId="0" animBg="1"/>
      <p:bldP spid="11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243582" y="478715"/>
            <a:ext cx="10167515" cy="5232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Comment calculer la DBO à l’aide la méthode manométrique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37470" y="1608729"/>
                <a:ext cx="3964713" cy="735073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DBO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𝑏𝑢𝑡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−  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𝑓𝑖𝑛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volume</m:t>
                          </m:r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fr-FR" sz="24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eau</m:t>
                          </m:r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us</m:t>
                          </m:r>
                          <m:r>
                            <a:rPr lang="fr-FR" sz="240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e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70" y="1608729"/>
                <a:ext cx="3964713" cy="7350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10"/>
          <p:cNvCxnSpPr/>
          <p:nvPr/>
        </p:nvCxnSpPr>
        <p:spPr>
          <a:xfrm>
            <a:off x="4852715" y="1637939"/>
            <a:ext cx="13063" cy="10318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4902661" y="1468662"/>
            <a:ext cx="179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smtClean="0"/>
              <a:t>Unités:</a:t>
            </a:r>
            <a:endParaRPr lang="en-US" sz="16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4970282" y="1839972"/>
                <a:ext cx="1363059" cy="3597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𝒎𝒈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282" y="1839972"/>
                <a:ext cx="1363059" cy="3597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970282" y="2343802"/>
                <a:ext cx="2199769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>
                        <a:latin typeface="Cambria Math" panose="02040503050406030204" pitchFamily="18" charset="0"/>
                      </a:rPr>
                      <m:t>volume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fr-FR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fr-FR" sz="1600">
                        <a:latin typeface="Cambria Math" panose="02040503050406030204" pitchFamily="18" charset="0"/>
                      </a:rPr>
                      <m:t>eau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>
                        <a:latin typeface="Cambria Math" panose="02040503050406030204" pitchFamily="18" charset="0"/>
                      </a:rPr>
                      <m:t>us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sty m:val="p"/>
                      </m:rPr>
                      <a:rPr lang="fr-FR" sz="160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600" dirty="0" smtClean="0"/>
                  <a:t> :   </a:t>
                </a:r>
                <a:r>
                  <a:rPr lang="en-US" sz="1600" b="1" dirty="0" smtClean="0">
                    <a:solidFill>
                      <a:srgbClr val="FF0000"/>
                    </a:solidFill>
                  </a:rPr>
                  <a:t>L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282" y="2343802"/>
                <a:ext cx="2199769" cy="338554"/>
              </a:xfrm>
              <a:prstGeom prst="rect">
                <a:avLst/>
              </a:prstGeom>
              <a:blipFill>
                <a:blip r:embed="rId4"/>
                <a:stretch>
                  <a:fillRect t="-5357" r="-277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744415" y="3549514"/>
            <a:ext cx="1596788" cy="19243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741958" y="4139534"/>
            <a:ext cx="1610436" cy="1327491"/>
          </a:xfrm>
          <a:prstGeom prst="rect">
            <a:avLst/>
          </a:prstGeom>
          <a:solidFill>
            <a:srgbClr val="CCEC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ccolade fermante 15"/>
          <p:cNvSpPr/>
          <p:nvPr/>
        </p:nvSpPr>
        <p:spPr>
          <a:xfrm>
            <a:off x="2368930" y="4124575"/>
            <a:ext cx="356866" cy="13424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ccolade fermante 16"/>
          <p:cNvSpPr/>
          <p:nvPr/>
        </p:nvSpPr>
        <p:spPr>
          <a:xfrm>
            <a:off x="2440402" y="3538308"/>
            <a:ext cx="141447" cy="53470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2596636" y="3557128"/>
                <a:ext cx="64209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𝑔𝑎𝑧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636" y="3557128"/>
                <a:ext cx="642099" cy="391902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736987" y="4687632"/>
                <a:ext cx="651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987" y="4687632"/>
                <a:ext cx="6511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741958" y="5687713"/>
                <a:ext cx="134436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58" y="5687713"/>
                <a:ext cx="134436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836023" y="3620993"/>
                <a:ext cx="4455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23" y="3620993"/>
                <a:ext cx="445529" cy="369332"/>
              </a:xfrm>
              <a:prstGeom prst="rect">
                <a:avLst/>
              </a:prstGeom>
              <a:blipFill>
                <a:blip r:embed="rId8"/>
                <a:stretch>
                  <a:fillRect r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/>
          <p:cNvSpPr txBox="1"/>
          <p:nvPr/>
        </p:nvSpPr>
        <p:spPr>
          <a:xfrm>
            <a:off x="610161" y="6227284"/>
            <a:ext cx="19009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Au début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9198" y="3718418"/>
            <a:ext cx="3508286" cy="51761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9198" y="4507008"/>
            <a:ext cx="4989222" cy="62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4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 animBg="1"/>
      <p:bldP spid="14" grpId="0" animBg="1"/>
      <p:bldP spid="10" grpId="0" animBg="1"/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3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243582" y="478715"/>
            <a:ext cx="10167515" cy="5232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Comment calculer la DBO à l’aide la méthode manométrique</a:t>
            </a:r>
            <a:endParaRPr lang="en-US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478877" y="4423271"/>
            <a:ext cx="19009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À la fin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2466" y="1776083"/>
            <a:ext cx="1596788" cy="19243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/>
          <p:cNvSpPr/>
          <p:nvPr/>
        </p:nvSpPr>
        <p:spPr>
          <a:xfrm>
            <a:off x="596946" y="2366103"/>
            <a:ext cx="1610436" cy="1327491"/>
          </a:xfrm>
          <a:prstGeom prst="rect">
            <a:avLst/>
          </a:prstGeom>
          <a:solidFill>
            <a:srgbClr val="CCEC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ccolade fermante 22"/>
          <p:cNvSpPr/>
          <p:nvPr/>
        </p:nvSpPr>
        <p:spPr>
          <a:xfrm>
            <a:off x="2271429" y="2366104"/>
            <a:ext cx="178471" cy="131784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ccolade fermante 23"/>
          <p:cNvSpPr/>
          <p:nvPr/>
        </p:nvSpPr>
        <p:spPr>
          <a:xfrm>
            <a:off x="2308453" y="1764877"/>
            <a:ext cx="141447" cy="53470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2464687" y="1783697"/>
                <a:ext cx="64209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𝑔𝑎𝑧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687" y="1783697"/>
                <a:ext cx="642099" cy="391902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ZoneTexte 25"/>
              <p:cNvSpPr txBox="1"/>
              <p:nvPr/>
            </p:nvSpPr>
            <p:spPr>
              <a:xfrm>
                <a:off x="2499977" y="2816622"/>
                <a:ext cx="651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977" y="2816622"/>
                <a:ext cx="6511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27601" y="2922857"/>
                <a:ext cx="782907" cy="36067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01" y="2922857"/>
                <a:ext cx="782907" cy="360676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39436" y="1838600"/>
                <a:ext cx="871072" cy="36189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36" y="1838600"/>
                <a:ext cx="871072" cy="361894"/>
              </a:xfrm>
              <a:prstGeom prst="rect">
                <a:avLst/>
              </a:prstGeom>
              <a:blipFill>
                <a:blip r:embed="rId5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ZoneTexte 28"/>
              <p:cNvSpPr txBox="1"/>
              <p:nvPr/>
            </p:nvSpPr>
            <p:spPr>
              <a:xfrm>
                <a:off x="1470623" y="1861186"/>
                <a:ext cx="677929" cy="361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fr-FR" sz="16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fr-FR" sz="16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𝒇𝒊𝒏𝒂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623" y="1861186"/>
                <a:ext cx="677929" cy="361894"/>
              </a:xfrm>
              <a:prstGeom prst="rect">
                <a:avLst/>
              </a:prstGeom>
              <a:blipFill>
                <a:blip r:embed="rId6"/>
                <a:stretch>
                  <a:fillRect r="-2072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757176" y="3923964"/>
                <a:ext cx="134436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76" y="3923964"/>
                <a:ext cx="134436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 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5297" y="1381302"/>
            <a:ext cx="3449813" cy="48760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9651" y="2055701"/>
            <a:ext cx="4818900" cy="56289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3425" y="3334743"/>
            <a:ext cx="2807828" cy="475707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3425" y="4072891"/>
            <a:ext cx="5368902" cy="45371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0009" y="5498990"/>
            <a:ext cx="10754524" cy="88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6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1155499" y="3693185"/>
                <a:ext cx="7952382" cy="4042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𝑒𝑛𝑡𝑟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𝐶𝑜𝑒𝑓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𝑒𝑓𝑓𝑖𝑐𝑎𝑐𝑖𝑡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𝑠𝑜𝑟𝑡𝑖𝑒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499" y="3693185"/>
                <a:ext cx="7952382" cy="404213"/>
              </a:xfrm>
              <a:prstGeom prst="rect">
                <a:avLst/>
              </a:prstGeom>
              <a:blipFill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1293222" y="418011"/>
            <a:ext cx="845166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Méthode de traitement : Boues activées</a:t>
            </a:r>
            <a:endParaRPr lang="en-US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70" y="1358538"/>
            <a:ext cx="5930539" cy="1088316"/>
          </a:xfrm>
          <a:prstGeom prst="rect">
            <a:avLst/>
          </a:prstGeom>
        </p:spPr>
      </p:pic>
      <p:sp>
        <p:nvSpPr>
          <p:cNvPr id="5" name="Accolade fermante 4"/>
          <p:cNvSpPr/>
          <p:nvPr/>
        </p:nvSpPr>
        <p:spPr>
          <a:xfrm rot="16200000">
            <a:off x="4937339" y="2308098"/>
            <a:ext cx="326571" cy="244360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5094514" y="2490807"/>
            <a:ext cx="1" cy="670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2462144" y="1916042"/>
            <a:ext cx="0" cy="1336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ccolade fermante 8"/>
          <p:cNvSpPr/>
          <p:nvPr/>
        </p:nvSpPr>
        <p:spPr>
          <a:xfrm rot="16200000">
            <a:off x="2303214" y="2260366"/>
            <a:ext cx="326571" cy="250573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7582571" y="2490807"/>
            <a:ext cx="8706" cy="77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ccolade fermante 12"/>
          <p:cNvSpPr/>
          <p:nvPr/>
        </p:nvSpPr>
        <p:spPr>
          <a:xfrm rot="16200000">
            <a:off x="7427992" y="2308098"/>
            <a:ext cx="326571" cy="244360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/>
              <p:cNvSpPr txBox="1"/>
              <p:nvPr/>
            </p:nvSpPr>
            <p:spPr>
              <a:xfrm>
                <a:off x="1047659" y="5736807"/>
                <a:ext cx="9048466" cy="610936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𝑒𝑛𝑡𝑟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fr-FR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𝑨𝑺</m:t>
                              </m:r>
                            </m:sub>
                          </m:sSub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𝑨𝑺</m:t>
                              </m:r>
                            </m:sub>
                          </m:sSub>
                        </m:num>
                        <m:den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𝐶𝑜𝑒𝑓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𝑒𝑓𝑓𝑖𝑐𝑎𝑐𝑖𝑡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𝑠𝑜𝑟𝑡𝑖𝑒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59" y="5736807"/>
                <a:ext cx="9048466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721826" y="4766487"/>
                <a:ext cx="1465465" cy="49564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𝐴𝑆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𝐴𝑆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𝐴𝑆</m:t>
                              </m:r>
                            </m:sub>
                          </m:sSub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826" y="4766487"/>
                <a:ext cx="1465465" cy="495649"/>
              </a:xfrm>
              <a:prstGeom prst="rect">
                <a:avLst/>
              </a:prstGeom>
              <a:blipFill>
                <a:blip r:embed="rId5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719367" y="4314591"/>
                <a:ext cx="1529137" cy="3262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=0.21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𝐴𝑆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367" y="4314591"/>
                <a:ext cx="1529137" cy="326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ccolade fermante 17"/>
          <p:cNvSpPr/>
          <p:nvPr/>
        </p:nvSpPr>
        <p:spPr>
          <a:xfrm>
            <a:off x="5304260" y="4323179"/>
            <a:ext cx="45719" cy="8866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466948" y="4518661"/>
                <a:ext cx="2010679" cy="49564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=0.21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𝐴𝑆</m:t>
                              </m:r>
                            </m:sub>
                          </m:sSub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𝐴𝑆</m:t>
                              </m:r>
                            </m:sub>
                          </m:sSub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948" y="4518661"/>
                <a:ext cx="2010679" cy="49564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59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9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4616" y="995571"/>
            <a:ext cx="10406743" cy="18466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endParaRPr 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Une station de traitement biologique (type boues activées) reçoit </a:t>
            </a:r>
            <a:r>
              <a:rPr lang="fr-FR" b="1" dirty="0">
                <a:latin typeface="Arial" panose="020B0604020202020204" pitchFamily="34" charset="0"/>
              </a:rPr>
              <a:t>3,25 </a:t>
            </a:r>
            <a:r>
              <a:rPr lang="fr-FR" b="1" dirty="0" smtClean="0">
                <a:latin typeface="Arial" panose="020B0604020202020204" pitchFamily="34" charset="0"/>
              </a:rPr>
              <a:t>m</a:t>
            </a:r>
            <a:r>
              <a:rPr lang="fr-FR" sz="2000" b="1" baseline="30000" dirty="0" smtClean="0">
                <a:latin typeface="Arial" panose="020B0604020202020204" pitchFamily="34" charset="0"/>
              </a:rPr>
              <a:t>3</a:t>
            </a:r>
            <a:r>
              <a:rPr lang="fr-FR" sz="1100" b="1" dirty="0" smtClean="0">
                <a:latin typeface="Arial" panose="020B0604020202020204" pitchFamily="34" charset="0"/>
              </a:rPr>
              <a:t> </a:t>
            </a:r>
            <a:r>
              <a:rPr lang="fr-FR" b="1" dirty="0" smtClean="0">
                <a:latin typeface="Arial" panose="020B0604020202020204" pitchFamily="34" charset="0"/>
              </a:rPr>
              <a:t>/</a:t>
            </a:r>
            <a:r>
              <a:rPr lang="fr-FR" b="1" dirty="0">
                <a:latin typeface="Arial" panose="020B0604020202020204" pitchFamily="34" charset="0"/>
              </a:rPr>
              <a:t>s </a:t>
            </a:r>
            <a:r>
              <a:rPr lang="fr-FR" dirty="0">
                <a:latin typeface="Arial" panose="020B0604020202020204" pitchFamily="34" charset="0"/>
              </a:rPr>
              <a:t>d’eau usée sa </a:t>
            </a:r>
            <a:r>
              <a:rPr lang="fr-FR" b="1" dirty="0">
                <a:latin typeface="Arial" panose="020B0604020202020204" pitchFamily="34" charset="0"/>
              </a:rPr>
              <a:t>DBO </a:t>
            </a:r>
            <a:r>
              <a:rPr lang="fr-FR" dirty="0">
                <a:latin typeface="Arial" panose="020B0604020202020204" pitchFamily="34" charset="0"/>
              </a:rPr>
              <a:t>est </a:t>
            </a:r>
            <a:r>
              <a:rPr lang="fr-FR" b="1" dirty="0">
                <a:latin typeface="Arial" panose="020B0604020202020204" pitchFamily="34" charset="0"/>
              </a:rPr>
              <a:t>320 mg/L</a:t>
            </a:r>
            <a:r>
              <a:rPr lang="fr-FR" dirty="0">
                <a:latin typeface="Arial" panose="020B0604020202020204" pitchFamily="34" charset="0"/>
              </a:rPr>
              <a:t>. </a:t>
            </a:r>
          </a:p>
          <a:p>
            <a:r>
              <a:rPr lang="fr-FR" dirty="0">
                <a:latin typeface="Arial" panose="020B0604020202020204" pitchFamily="34" charset="0"/>
              </a:rPr>
              <a:t>•Des surpresseurs alimentent le bassin d’aération à raison de </a:t>
            </a:r>
            <a:r>
              <a:rPr lang="fr-FR" b="1" dirty="0">
                <a:latin typeface="Arial" panose="020B0604020202020204" pitchFamily="34" charset="0"/>
              </a:rPr>
              <a:t>19,47 </a:t>
            </a:r>
            <a:r>
              <a:rPr lang="fr-FR" b="1" dirty="0" smtClean="0">
                <a:latin typeface="Arial" panose="020B0604020202020204" pitchFamily="34" charset="0"/>
              </a:rPr>
              <a:t>m</a:t>
            </a:r>
            <a:r>
              <a:rPr lang="fr-FR" b="1" baseline="30000" dirty="0" smtClean="0">
                <a:latin typeface="Arial" panose="020B0604020202020204" pitchFamily="34" charset="0"/>
              </a:rPr>
              <a:t>3 </a:t>
            </a:r>
            <a:r>
              <a:rPr lang="fr-FR" b="1" dirty="0" smtClean="0">
                <a:latin typeface="Arial" panose="020B0604020202020204" pitchFamily="34" charset="0"/>
              </a:rPr>
              <a:t>/s </a:t>
            </a:r>
            <a:r>
              <a:rPr lang="fr-FR" dirty="0">
                <a:latin typeface="Arial" panose="020B0604020202020204" pitchFamily="34" charset="0"/>
              </a:rPr>
              <a:t>d’air sec à </a:t>
            </a:r>
            <a:r>
              <a:rPr lang="fr-FR" b="1" dirty="0">
                <a:latin typeface="Arial" panose="020B0604020202020204" pitchFamily="34" charset="0"/>
              </a:rPr>
              <a:t>15,0°C </a:t>
            </a:r>
            <a:r>
              <a:rPr lang="fr-FR" dirty="0">
                <a:latin typeface="Arial" panose="020B0604020202020204" pitchFamily="34" charset="0"/>
              </a:rPr>
              <a:t>et </a:t>
            </a:r>
            <a:r>
              <a:rPr lang="fr-FR" b="1" dirty="0">
                <a:latin typeface="Arial" panose="020B0604020202020204" pitchFamily="34" charset="0"/>
              </a:rPr>
              <a:t>115 kPa</a:t>
            </a:r>
            <a:r>
              <a:rPr lang="fr-FR" dirty="0">
                <a:latin typeface="Arial" panose="020B0604020202020204" pitchFamily="34" charset="0"/>
              </a:rPr>
              <a:t>. On suppose un rendement de la diffusion de </a:t>
            </a:r>
            <a:r>
              <a:rPr lang="fr-FR" b="1" dirty="0">
                <a:latin typeface="Arial" panose="020B0604020202020204" pitchFamily="34" charset="0"/>
              </a:rPr>
              <a:t>15%</a:t>
            </a:r>
            <a:r>
              <a:rPr lang="fr-FR" dirty="0">
                <a:latin typeface="Arial" panose="020B0604020202020204" pitchFamily="34" charset="0"/>
              </a:rPr>
              <a:t>. </a:t>
            </a:r>
            <a:endParaRPr lang="fr-FR" dirty="0" smtClean="0">
              <a:latin typeface="Arial" panose="020B0604020202020204" pitchFamily="34" charset="0"/>
            </a:endParaRPr>
          </a:p>
          <a:p>
            <a:r>
              <a:rPr lang="fr-FR" b="1" dirty="0" smtClean="0">
                <a:latin typeface="Arial" panose="020B0604020202020204" pitchFamily="34" charset="0"/>
              </a:rPr>
              <a:t>Quelle </a:t>
            </a:r>
            <a:r>
              <a:rPr lang="fr-FR" b="1" dirty="0">
                <a:latin typeface="Arial" panose="020B0604020202020204" pitchFamily="34" charset="0"/>
              </a:rPr>
              <a:t>sera la DBO à la sortie du bassin d’aération ? </a:t>
            </a:r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99956" y="189892"/>
            <a:ext cx="436754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#2    traitement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3523129" y="3149987"/>
                <a:ext cx="8511988" cy="553357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𝑒𝑛𝑡𝑟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600" i="1">
                          <a:latin typeface="Cambria Math" panose="02040503050406030204" pitchFamily="18" charset="0"/>
                        </a:rPr>
                        <m:t>0.21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𝐴𝑆</m:t>
                              </m:r>
                            </m:sub>
                          </m:sSub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𝐴𝑆</m:t>
                              </m:r>
                            </m:sub>
                          </m:sSub>
                        </m:num>
                        <m:den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𝐶𝑜𝑒𝑓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𝑒𝑓𝑓𝑖𝑐𝑎𝑐𝑖𝑡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𝑢𝑠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𝑠𝑜𝑟𝑡𝑖𝑒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129" y="3149987"/>
                <a:ext cx="8511988" cy="5533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118568" y="3315015"/>
                <a:ext cx="2008242" cy="5558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3.25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8" y="3315015"/>
                <a:ext cx="2008242" cy="555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118568" y="4200146"/>
                <a:ext cx="2805363" cy="3691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𝐷𝐵𝑂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𝑒𝑛𝑡𝑟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lang="fr-FR" b="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𝑚𝑔</m:t>
                        </m:r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8" y="4200146"/>
                <a:ext cx="2805363" cy="369140"/>
              </a:xfrm>
              <a:prstGeom prst="rect">
                <a:avLst/>
              </a:prstGeom>
              <a:blipFill>
                <a:blip r:embed="rId4"/>
                <a:stretch>
                  <a:fillRect l="-282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118567" y="4762434"/>
                <a:ext cx="2805363" cy="2769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𝐷𝐵𝑂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𝑒𝑠𝑜𝑟𝑡𝑖𝑒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7" y="4762434"/>
                <a:ext cx="2805363" cy="276999"/>
              </a:xfrm>
              <a:prstGeom prst="rect">
                <a:avLst/>
              </a:prstGeom>
              <a:blipFill>
                <a:blip r:embed="rId5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99956" y="5131182"/>
                <a:ext cx="2805363" cy="15920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b="0" dirty="0" smtClean="0"/>
                  <a:t>AS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    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𝐴𝑆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19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47</m:t>
                            </m:r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=15+2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73,15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𝐴𝑆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15 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𝑘𝑃𝑎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𝐶𝑜𝑒𝑓𝑓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𝑒𝑓𝑓𝑖𝑐𝑎𝑐𝑖𝑡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é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=0.15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6" y="5131182"/>
                <a:ext cx="2805363" cy="1592039"/>
              </a:xfrm>
              <a:prstGeom prst="rect">
                <a:avLst/>
              </a:prstGeom>
              <a:blipFill>
                <a:blip r:embed="rId6"/>
                <a:stretch>
                  <a:fillRect l="-4989" t="-4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3092822" y="5039433"/>
                <a:ext cx="8942295" cy="622606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fr-FR" sz="1600" i="1" smtClean="0">
                        <a:latin typeface="Cambria Math" panose="02040503050406030204" pitchFamily="18" charset="0"/>
                      </a:rPr>
                      <m:t>3.25</m:t>
                    </m:r>
                    <m:r>
                      <a:rPr lang="fr-F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ctrlPr>
                          <a:rPr lang="fr-FR" sz="1600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𝐋</m:t>
                        </m:r>
                      </m:num>
                      <m:den>
                        <m:r>
                          <a:rPr lang="fr-FR" sz="16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</m:t>
                        </m:r>
                      </m:den>
                    </m:f>
                    <m:r>
                      <a:rPr lang="fr-F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lang="fr-FR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b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𝐦𝐠</m:t>
                        </m:r>
                      </m:num>
                      <m:den>
                        <m:r>
                          <a:rPr lang="fr-FR" sz="1600" b="1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𝐋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0.21</m:t>
                    </m:r>
                    <m:r>
                      <a:rPr lang="fr-F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115  </m:t>
                        </m:r>
                        <m:r>
                          <a:rPr lang="fr-F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fr-FR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3 </m:t>
                            </m:r>
                          </m:sup>
                        </m:sSup>
                        <m:r>
                          <a:rPr lang="fr-FR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𝐏𝐚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47</m:t>
                        </m:r>
                        <m:f>
                          <m:fPr>
                            <m:ctrlPr>
                              <a:rPr lang="fr-FR" sz="1600" b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sz="16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</m:e>
                              <m:sup>
                                <m:r>
                                  <a:rPr lang="fr-FR" sz="16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num>
                          <m:den>
                            <m:r>
                              <a:rPr lang="fr-FR" sz="16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𝐬</m:t>
                            </m:r>
                          </m:den>
                        </m:f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8.314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15+273.15</m:t>
                            </m:r>
                          </m:e>
                        </m:d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0.15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32000 </m:t>
                    </m:r>
                    <m:f>
                      <m:fPr>
                        <m:ctrlPr>
                          <a:rPr lang="fr-FR" sz="1600" b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𝐦𝐠</m:t>
                        </m:r>
                      </m:num>
                      <m:den>
                        <m:r>
                          <a:rPr lang="fr-FR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𝐦𝐨𝐥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3.25</m:t>
                        </m:r>
                        <m:r>
                          <a:rPr lang="fr-F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>
                          <m:fPr>
                            <m:ctrlPr>
                              <a:rPr lang="fr-F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num>
                          <m:den>
                            <m:r>
                              <a:rPr 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𝐷𝐵𝑂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𝑠𝑜𝑟𝑡𝑖𝑒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822" y="5039433"/>
                <a:ext cx="8942295" cy="622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1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227</TotalTime>
  <Words>230</Words>
  <Application>Microsoft Office PowerPoint</Application>
  <PresentationFormat>Grand écran</PresentationFormat>
  <Paragraphs>69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Rockwell</vt:lpstr>
      <vt:lpstr>Rockwell Condensed</vt:lpstr>
      <vt:lpstr>Wingdings</vt:lpstr>
      <vt:lpstr>Type de bois</vt:lpstr>
      <vt:lpstr>Résumé du cours:  3.8  Pollution et traitement des eaux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Résumé du cours: 3.7  Solubilité des gaz dans un liquide</dc:title>
  <dc:creator>Utilisateur Windows</dc:creator>
  <cp:lastModifiedBy>Utilisateur Windows</cp:lastModifiedBy>
  <cp:revision>41</cp:revision>
  <dcterms:created xsi:type="dcterms:W3CDTF">2020-11-25T02:23:45Z</dcterms:created>
  <dcterms:modified xsi:type="dcterms:W3CDTF">2020-11-25T19:48:17Z</dcterms:modified>
</cp:coreProperties>
</file>