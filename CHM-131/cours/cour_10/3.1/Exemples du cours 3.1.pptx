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FF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842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11/11/2020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800" dirty="0" smtClean="0">
                <a:solidFill>
                  <a:srgbClr val="0070C0"/>
                </a:solidFill>
              </a:rPr>
              <a:t>Exemples du cours 3.1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51345" y="5238206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b="1" i="1" dirty="0" err="1" smtClean="0">
                <a:solidFill>
                  <a:srgbClr val="0070C0"/>
                </a:solidFill>
              </a:rPr>
              <a:t>Z.Hamoudi</a:t>
            </a:r>
            <a:r>
              <a:rPr lang="fr-FR" sz="1600" b="1" i="1" dirty="0" smtClean="0">
                <a:solidFill>
                  <a:srgbClr val="0070C0"/>
                </a:solidFill>
              </a:rPr>
              <a:t> Aut-2020</a:t>
            </a:r>
            <a:endParaRPr lang="en-US" sz="16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9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09" y="814187"/>
            <a:ext cx="865632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/>
              <a:t>Quelle est la molarité (concentration molaire) d’une solution aqueuse contenant : 135 g de glucose (</a:t>
            </a:r>
            <a:r>
              <a:rPr lang="fr-FR" sz="2000" dirty="0">
                <a:solidFill>
                  <a:srgbClr val="FF0000"/>
                </a:solidFill>
              </a:rPr>
              <a:t>C</a:t>
            </a:r>
            <a:r>
              <a:rPr lang="fr-FR" sz="2000" baseline="-25000" dirty="0">
                <a:solidFill>
                  <a:srgbClr val="FF0000"/>
                </a:solidFill>
              </a:rPr>
              <a:t>6</a:t>
            </a:r>
            <a:r>
              <a:rPr lang="fr-FR" sz="2000" dirty="0">
                <a:solidFill>
                  <a:srgbClr val="FF0000"/>
                </a:solidFill>
              </a:rPr>
              <a:t>H</a:t>
            </a:r>
            <a:r>
              <a:rPr lang="fr-FR" sz="2000" baseline="-25000" dirty="0">
                <a:solidFill>
                  <a:srgbClr val="FF0000"/>
                </a:solidFill>
              </a:rPr>
              <a:t>12</a:t>
            </a:r>
            <a:r>
              <a:rPr lang="fr-FR" sz="2000" dirty="0">
                <a:solidFill>
                  <a:srgbClr val="FF0000"/>
                </a:solidFill>
              </a:rPr>
              <a:t>O</a:t>
            </a:r>
            <a:r>
              <a:rPr lang="fr-FR" sz="2000" baseline="-25000" dirty="0">
                <a:solidFill>
                  <a:srgbClr val="FF0000"/>
                </a:solidFill>
              </a:rPr>
              <a:t>6</a:t>
            </a:r>
            <a:r>
              <a:rPr lang="fr-FR" sz="2000" dirty="0"/>
              <a:t> ) dans 125 ml de solution?</a:t>
            </a:r>
            <a:endParaRPr lang="en-US" sz="20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44379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879566" y="3739597"/>
                <a:ext cx="3365863" cy="4250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=135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66" y="3739597"/>
                <a:ext cx="3365863" cy="425053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313509" y="3063868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822957" y="4358441"/>
                <a:ext cx="2360023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𝑠𝑜𝑙𝑢𝑡𝑖𝑜𝑛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=125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7" y="4358441"/>
                <a:ext cx="2360023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3224347" y="2032537"/>
                <a:ext cx="4611189" cy="67140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𝑚𝑜𝑙𝑎𝑟𝑖𝑡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𝑠𝑜𝑙𝑢𝑡𝑖𝑜𝑛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47" y="2032537"/>
                <a:ext cx="4611189" cy="671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941" y="3639886"/>
            <a:ext cx="5355771" cy="624473"/>
          </a:xfrm>
          <a:prstGeom prst="rect">
            <a:avLst/>
          </a:prstGeom>
        </p:spPr>
      </p:pic>
      <p:sp>
        <p:nvSpPr>
          <p:cNvPr id="12" name="Flèche droite 11"/>
          <p:cNvSpPr/>
          <p:nvPr/>
        </p:nvSpPr>
        <p:spPr>
          <a:xfrm>
            <a:off x="4569822" y="3808823"/>
            <a:ext cx="418011" cy="312237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/>
              <p:cNvSpPr txBox="1"/>
              <p:nvPr/>
            </p:nvSpPr>
            <p:spPr>
              <a:xfrm>
                <a:off x="822957" y="5136085"/>
                <a:ext cx="6065521" cy="695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𝑚𝑜𝑙𝑎𝑟𝑖𝑡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𝑔𝑙𝑢𝑐𝑜𝑠𝑒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0.75 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125 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fr-F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7" y="5136085"/>
                <a:ext cx="6065521" cy="6954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/>
              <p:cNvSpPr txBox="1"/>
              <p:nvPr/>
            </p:nvSpPr>
            <p:spPr>
              <a:xfrm>
                <a:off x="7269479" y="5136085"/>
                <a:ext cx="4278087" cy="67685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0.75 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125 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fr-F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=6</m:t>
                      </m:r>
                      <m:f>
                        <m:f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79" y="5136085"/>
                <a:ext cx="4278087" cy="676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879566" y="6139750"/>
                <a:ext cx="9984380" cy="556755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𝐶𝑜𝑛𝑐𝑒𝑛𝑡𝑟𝑎𝑡𝑖𝑜𝑛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𝑚𝑎𝑠𝑠𝑖𝑞𝑢𝑒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𝑣𝑜𝑙𝑢𝑚𝑖𝑞𝑢𝑒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𝑔𝑙𝑢𝑐𝑜𝑠𝑒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𝐺𝑙𝑢𝑐𝑜𝑠𝑒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𝑠𝑜𝑙𝑢𝑡𝑖𝑜𝑛</m:t>
                            </m:r>
                          </m:sub>
                        </m:sSub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135  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125 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FR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fr-FR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=1.08 ∙</m:t>
                    </m:r>
                    <m:sSup>
                      <m:sSupPr>
                        <m:ctrlP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66" y="6139750"/>
                <a:ext cx="9984380" cy="5567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3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5143" y="1047095"/>
            <a:ext cx="8904514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/>
              <a:t>Quel est le % massique d’une solution formée en dissolvant 5.5 g de glucose (C</a:t>
            </a:r>
            <a:r>
              <a:rPr lang="fr-FR" sz="2000" baseline="-25000" dirty="0"/>
              <a:t>6</a:t>
            </a:r>
            <a:r>
              <a:rPr lang="fr-FR" sz="2000" dirty="0"/>
              <a:t>H</a:t>
            </a:r>
            <a:r>
              <a:rPr lang="fr-FR" sz="2000" baseline="-25000" dirty="0"/>
              <a:t>12</a:t>
            </a:r>
            <a:r>
              <a:rPr lang="fr-FR" sz="2000" dirty="0"/>
              <a:t>O</a:t>
            </a:r>
            <a:r>
              <a:rPr lang="fr-FR" sz="2000" baseline="-25000" dirty="0"/>
              <a:t>6</a:t>
            </a:r>
            <a:r>
              <a:rPr lang="fr-FR" sz="2000" dirty="0"/>
              <a:t> ) dans 78.2 g d’eau ? </a:t>
            </a:r>
            <a:endParaRPr lang="en-US" sz="20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2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165592" y="3574884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272271" y="4364214"/>
                <a:ext cx="3365863" cy="4250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=5.5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71" y="4364214"/>
                <a:ext cx="3365863" cy="425053"/>
              </a:xfrm>
              <a:prstGeom prst="rect">
                <a:avLst/>
              </a:prstGeom>
              <a:blipFill>
                <a:blip r:embed="rId2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165592" y="5009210"/>
                <a:ext cx="2360023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𝑠𝑜𝑙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𝑣𝑎𝑛𝑡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=78.2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2" y="5009210"/>
                <a:ext cx="2360023" cy="400110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èche droite 7"/>
          <p:cNvSpPr/>
          <p:nvPr/>
        </p:nvSpPr>
        <p:spPr>
          <a:xfrm>
            <a:off x="2635365" y="5979755"/>
            <a:ext cx="418011" cy="312237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3129642" y="2187805"/>
                <a:ext cx="5475516" cy="671787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𝑚𝑎𝑠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𝐺𝑙𝑢𝑐𝑜𝑠𝑒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𝑙𝑢𝑐𝑜𝑠𝑒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𝑆𝑜𝑙𝑣𝑎𝑛𝑡</m:t>
                              </m:r>
                            </m:sub>
                          </m:sSub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642" y="2187805"/>
                <a:ext cx="5475516" cy="671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e 11"/>
          <p:cNvGrpSpPr/>
          <p:nvPr/>
        </p:nvGrpSpPr>
        <p:grpSpPr>
          <a:xfrm>
            <a:off x="3883322" y="5634318"/>
            <a:ext cx="6726407" cy="1075764"/>
            <a:chOff x="3883322" y="5634318"/>
            <a:chExt cx="6726407" cy="1075764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3322" y="5762916"/>
              <a:ext cx="6371867" cy="745913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3883322" y="5634318"/>
              <a:ext cx="6726407" cy="1075764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535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09" y="896488"/>
            <a:ext cx="10928232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/>
              <a:t>Est ce que ces substances sont miscibles dans l’eau : </a:t>
            </a:r>
            <a:r>
              <a:rPr lang="fr-FR" sz="2400" dirty="0" smtClean="0"/>
              <a:t>NH</a:t>
            </a:r>
            <a:r>
              <a:rPr lang="fr-FR" sz="2400" baseline="-25000" dirty="0" smtClean="0"/>
              <a:t>3</a:t>
            </a:r>
            <a:r>
              <a:rPr lang="fr-FR" sz="2400" dirty="0" smtClean="0"/>
              <a:t> </a:t>
            </a:r>
            <a:r>
              <a:rPr lang="fr-FR" sz="2400" dirty="0"/>
              <a:t>; éthanol ? </a:t>
            </a:r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3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46252" y="5998759"/>
            <a:ext cx="6096000" cy="646331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r>
              <a:rPr lang="fr-FR" dirty="0"/>
              <a:t>Oui ils </a:t>
            </a:r>
            <a:r>
              <a:rPr lang="fr-FR" dirty="0" smtClean="0"/>
              <a:t>(</a:t>
            </a:r>
            <a:r>
              <a:rPr lang="fr-FR" dirty="0"/>
              <a:t>NH</a:t>
            </a:r>
            <a:r>
              <a:rPr lang="fr-FR" baseline="-25000" dirty="0"/>
              <a:t>3</a:t>
            </a:r>
            <a:r>
              <a:rPr lang="fr-FR" dirty="0"/>
              <a:t>  et </a:t>
            </a:r>
            <a:r>
              <a:rPr lang="fr-FR" dirty="0" smtClean="0"/>
              <a:t>eau) sont </a:t>
            </a:r>
            <a:r>
              <a:rPr lang="fr-FR" b="1" dirty="0">
                <a:solidFill>
                  <a:srgbClr val="C00000"/>
                </a:solidFill>
              </a:rPr>
              <a:t>miscibles</a:t>
            </a:r>
            <a:r>
              <a:rPr lang="fr-FR" dirty="0"/>
              <a:t> dans l’eau via les interactions </a:t>
            </a:r>
            <a:r>
              <a:rPr lang="fr-FR" dirty="0" err="1"/>
              <a:t>dipole</a:t>
            </a:r>
            <a:r>
              <a:rPr lang="fr-FR" dirty="0"/>
              <a:t>- </a:t>
            </a:r>
            <a:r>
              <a:rPr lang="fr-FR" dirty="0" err="1"/>
              <a:t>dipole</a:t>
            </a:r>
            <a:r>
              <a:rPr lang="fr-FR" dirty="0"/>
              <a:t> (liaison hydrogène);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837" y="1439876"/>
            <a:ext cx="5096434" cy="5346061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49304" y="1845824"/>
            <a:ext cx="224333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NH</a:t>
            </a:r>
            <a:r>
              <a:rPr lang="fr-FR" sz="2400" baseline="-25000" dirty="0" smtClean="0"/>
              <a:t>3</a:t>
            </a:r>
            <a:r>
              <a:rPr lang="fr-FR" sz="2400" dirty="0" smtClean="0"/>
              <a:t>  et eau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49304" y="4388894"/>
            <a:ext cx="2556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NH</a:t>
            </a:r>
            <a:r>
              <a:rPr lang="fr-FR" baseline="-25000" dirty="0"/>
              <a:t>3</a:t>
            </a:r>
            <a:r>
              <a:rPr lang="fr-FR" dirty="0"/>
              <a:t> </a:t>
            </a:r>
            <a:r>
              <a:rPr lang="fr-FR" dirty="0" smtClean="0"/>
              <a:t>: molécule polaire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91987" y="2795160"/>
            <a:ext cx="2556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H</a:t>
            </a:r>
            <a:r>
              <a:rPr lang="fr-FR" baseline="-25000" dirty="0" smtClean="0"/>
              <a:t>2</a:t>
            </a:r>
            <a:r>
              <a:rPr lang="fr-FR" dirty="0" smtClean="0"/>
              <a:t>O: molécule polaire</a:t>
            </a:r>
            <a:endParaRPr lang="en-US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128" y="2328522"/>
            <a:ext cx="2026567" cy="128387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965" y="4067680"/>
            <a:ext cx="2194702" cy="14529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/>
              <p:cNvSpPr txBox="1"/>
              <p:nvPr/>
            </p:nvSpPr>
            <p:spPr>
              <a:xfrm>
                <a:off x="4346098" y="3867170"/>
                <a:ext cx="509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098" y="3867170"/>
                <a:ext cx="509451" cy="461665"/>
              </a:xfrm>
              <a:prstGeom prst="rect">
                <a:avLst/>
              </a:prstGeom>
              <a:blipFill>
                <a:blip r:embed="rId5"/>
                <a:stretch>
                  <a:fillRect l="-3571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/>
              <p:cNvSpPr txBox="1"/>
              <p:nvPr/>
            </p:nvSpPr>
            <p:spPr>
              <a:xfrm>
                <a:off x="5635856" y="4432771"/>
                <a:ext cx="5094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56" y="4432771"/>
                <a:ext cx="50945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/>
              <p:cNvSpPr txBox="1"/>
              <p:nvPr/>
            </p:nvSpPr>
            <p:spPr>
              <a:xfrm>
                <a:off x="3138360" y="4465478"/>
                <a:ext cx="5094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360" y="4465478"/>
                <a:ext cx="50945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/>
              <p:cNvSpPr txBox="1"/>
              <p:nvPr/>
            </p:nvSpPr>
            <p:spPr>
              <a:xfrm>
                <a:off x="4219053" y="5567787"/>
                <a:ext cx="5094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53" y="5567787"/>
                <a:ext cx="50945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18"/>
          <p:cNvCxnSpPr/>
          <p:nvPr/>
        </p:nvCxnSpPr>
        <p:spPr>
          <a:xfrm flipV="1">
            <a:off x="4846320" y="3461657"/>
            <a:ext cx="300446" cy="820474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1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/>
      <p:bldP spid="10" grpId="0"/>
      <p:bldP spid="14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1231870"/>
            <a:ext cx="224333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éthanol  et eau</a:t>
            </a:r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3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12203" y="1364802"/>
            <a:ext cx="255602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 smtClean="0"/>
              <a:t>H</a:t>
            </a:r>
            <a:r>
              <a:rPr lang="fr-FR" baseline="-25000" dirty="0" smtClean="0"/>
              <a:t>2</a:t>
            </a:r>
            <a:r>
              <a:rPr lang="fr-FR" dirty="0" smtClean="0"/>
              <a:t>O: molécule polaire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128" y="2328522"/>
            <a:ext cx="2026567" cy="12838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5387" y="1324203"/>
            <a:ext cx="450668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 smtClean="0"/>
              <a:t>Éthanol : C</a:t>
            </a:r>
            <a:r>
              <a:rPr lang="fr-FR" baseline="-25000" dirty="0" smtClean="0"/>
              <a:t>2</a:t>
            </a:r>
            <a:r>
              <a:rPr lang="fr-FR" dirty="0" smtClean="0"/>
              <a:t> H</a:t>
            </a:r>
            <a:r>
              <a:rPr lang="fr-FR" baseline="-25000" dirty="0" smtClean="0"/>
              <a:t>5</a:t>
            </a:r>
            <a:r>
              <a:rPr lang="fr-FR" dirty="0" smtClean="0"/>
              <a:t>OH: molécule polaire</a:t>
            </a: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652" y="1880791"/>
            <a:ext cx="3263426" cy="23936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10223932" y="2816548"/>
                <a:ext cx="509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932" y="2816548"/>
                <a:ext cx="509451" cy="461665"/>
              </a:xfrm>
              <a:prstGeom prst="rect">
                <a:avLst/>
              </a:prstGeom>
              <a:blipFill>
                <a:blip r:embed="rId4"/>
                <a:stretch>
                  <a:fillRect l="-3571" r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10632414" y="1867677"/>
                <a:ext cx="509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fr-F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fr-F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414" y="1867677"/>
                <a:ext cx="509451" cy="461665"/>
              </a:xfrm>
              <a:prstGeom prst="rect">
                <a:avLst/>
              </a:prstGeom>
              <a:blipFill>
                <a:blip r:embed="rId5"/>
                <a:stretch>
                  <a:fillRect l="-3571" r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fficher l’image sour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415" y="4206786"/>
            <a:ext cx="6064647" cy="252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necteur droit 10"/>
          <p:cNvCxnSpPr/>
          <p:nvPr/>
        </p:nvCxnSpPr>
        <p:spPr>
          <a:xfrm flipV="1">
            <a:off x="6622869" y="5355772"/>
            <a:ext cx="548640" cy="222068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53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1231870"/>
            <a:ext cx="224333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éthanol  et eau</a:t>
            </a:r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3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123" y="0"/>
            <a:ext cx="6001877" cy="63441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23" y="5832999"/>
            <a:ext cx="5857790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fr-FR" dirty="0"/>
              <a:t>Oui ils </a:t>
            </a:r>
            <a:r>
              <a:rPr lang="fr-FR" dirty="0" smtClean="0"/>
              <a:t>(</a:t>
            </a:r>
            <a:r>
              <a:rPr lang="fr-FR" dirty="0"/>
              <a:t>éthanol  et </a:t>
            </a:r>
            <a:r>
              <a:rPr lang="fr-FR" dirty="0" smtClean="0"/>
              <a:t>eau) sont </a:t>
            </a:r>
            <a:r>
              <a:rPr lang="fr-FR" b="1" dirty="0">
                <a:solidFill>
                  <a:srgbClr val="C00000"/>
                </a:solidFill>
              </a:rPr>
              <a:t>miscibles</a:t>
            </a:r>
            <a:r>
              <a:rPr lang="fr-FR" dirty="0"/>
              <a:t> dans l’eau via les interactions </a:t>
            </a:r>
            <a:r>
              <a:rPr lang="fr-FR" dirty="0" err="1"/>
              <a:t>dipole</a:t>
            </a:r>
            <a:r>
              <a:rPr lang="fr-FR" dirty="0"/>
              <a:t>- </a:t>
            </a:r>
            <a:r>
              <a:rPr lang="fr-FR" dirty="0" err="1"/>
              <a:t>dipole</a:t>
            </a:r>
            <a:r>
              <a:rPr lang="fr-FR" dirty="0"/>
              <a:t> (liaison hydrogène);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9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229" y="351505"/>
            <a:ext cx="62632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dirty="0"/>
              <a:t>Solubilité d’un sel dans l’eau</a:t>
            </a:r>
            <a:endParaRPr lang="en-US" sz="3600" dirty="0"/>
          </a:p>
        </p:txBody>
      </p:sp>
      <p:pic>
        <p:nvPicPr>
          <p:cNvPr id="3074" name="Picture 2" descr="Afficher l’image sour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715" y="1295716"/>
            <a:ext cx="4006735" cy="420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hemistry.elmhurst.edu/vchembook/images2/171saltdissolv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15" y="1295716"/>
            <a:ext cx="3817909" cy="400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èche droite 2"/>
          <p:cNvSpPr/>
          <p:nvPr/>
        </p:nvSpPr>
        <p:spPr>
          <a:xfrm>
            <a:off x="5552902" y="2992582"/>
            <a:ext cx="1163782" cy="109728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9925" y="6160172"/>
            <a:ext cx="5480283" cy="461665"/>
          </a:xfrm>
          <a:prstGeom prst="rect">
            <a:avLst/>
          </a:prstGeom>
          <a:solidFill>
            <a:srgbClr val="CCECFF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Type </a:t>
            </a:r>
            <a:r>
              <a:rPr lang="en-US" sz="2400" b="1" dirty="0" err="1">
                <a:solidFill>
                  <a:srgbClr val="C00000"/>
                </a:solidFill>
              </a:rPr>
              <a:t>d’interaction</a:t>
            </a:r>
            <a:r>
              <a:rPr lang="en-US" sz="2400" b="1" dirty="0">
                <a:solidFill>
                  <a:srgbClr val="C00000"/>
                </a:solidFill>
              </a:rPr>
              <a:t> : `` ions-</a:t>
            </a:r>
            <a:r>
              <a:rPr lang="en-US" sz="2400" b="1" dirty="0" err="1">
                <a:solidFill>
                  <a:srgbClr val="C00000"/>
                </a:solidFill>
              </a:rPr>
              <a:t>dipôle</a:t>
            </a:r>
            <a:r>
              <a:rPr lang="en-US" sz="2400" b="1" dirty="0">
                <a:solidFill>
                  <a:srgbClr val="C00000"/>
                </a:solidFill>
              </a:rPr>
              <a:t> ``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59925" y="5600648"/>
            <a:ext cx="1114973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Les </a:t>
            </a:r>
            <a:r>
              <a:rPr lang="fr-FR" sz="2400" dirty="0" err="1" smtClean="0"/>
              <a:t>intérations</a:t>
            </a:r>
            <a:r>
              <a:rPr lang="fr-FR" sz="2400" dirty="0" smtClean="0"/>
              <a:t> se forment entre les ions chargés du sel et le dipôle de l’eau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312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10" y="997527"/>
            <a:ext cx="9643975" cy="31997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1054516" y="5191887"/>
                <a:ext cx="3365863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𝑎𝑠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 é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=0.125 %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516" y="5191887"/>
                <a:ext cx="3365863" cy="4001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521710" y="4366529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997907" y="5810731"/>
                <a:ext cx="4305613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 à 20  ℃   </m:t>
                      </m:r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𝑣𝑜𝑖𝑟</m:t>
                      </m:r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𝑇𝑎𝑏</m:t>
                      </m:r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1.2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07" y="5810731"/>
                <a:ext cx="4305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6010570" y="5872286"/>
                <a:ext cx="2516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570" y="5872286"/>
                <a:ext cx="251671" cy="276999"/>
              </a:xfrm>
              <a:prstGeom prst="rect">
                <a:avLst/>
              </a:prstGeom>
              <a:blipFill>
                <a:blip r:embed="rId5"/>
                <a:stretch>
                  <a:fillRect l="-12195"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6761005" y="5700197"/>
                <a:ext cx="4090094" cy="52591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=998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789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05" y="5700197"/>
                <a:ext cx="4090094" cy="5259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1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/>
              <p:cNvSpPr txBox="1"/>
              <p:nvPr/>
            </p:nvSpPr>
            <p:spPr>
              <a:xfrm>
                <a:off x="532015" y="1230283"/>
                <a:ext cx="5602778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a)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𝑉𝑜𝑙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 é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1230283"/>
                <a:ext cx="5602778" cy="369332"/>
              </a:xfrm>
              <a:prstGeom prst="rect">
                <a:avLst/>
              </a:prstGeom>
              <a:blipFill>
                <a:blip r:embed="rId2"/>
                <a:stretch>
                  <a:fillRect l="-87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532015" y="2088279"/>
            <a:ext cx="8367584" cy="24006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smtClean="0"/>
              <a:t>Pour une base arbitraire de mélange de 100 kg on a:  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    </a:t>
            </a:r>
          </a:p>
          <a:p>
            <a:pPr>
              <a:lnSpc>
                <a:spcPct val="150000"/>
              </a:lnSpc>
            </a:pPr>
            <a:endParaRPr lang="fr-FR" sz="2000" i="1" dirty="0" smtClean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fr-FR" sz="2000" i="1" dirty="0" smtClean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fr-FR" sz="2000" i="1" dirty="0" smtClean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61611" y="4895143"/>
                <a:ext cx="5409558" cy="65274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𝑉𝑜𝑙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é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0.000158 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0.000158 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0.100075 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11" y="4895143"/>
                <a:ext cx="5409558" cy="6527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97774" y="6246154"/>
                <a:ext cx="3496598" cy="461665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𝑉𝑜𝑙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 0.158 %</a:t>
                </a:r>
                <a:endParaRPr lang="en-US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6246154"/>
                <a:ext cx="3496598" cy="461665"/>
              </a:xfrm>
              <a:prstGeom prst="rect">
                <a:avLst/>
              </a:prstGeom>
              <a:blipFill>
                <a:blip r:embed="rId4"/>
                <a:stretch>
                  <a:fillRect l="-523" t="-12000" r="-1568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861611" y="2809626"/>
                <a:ext cx="6777645" cy="62138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=0.125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→    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0.125 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789 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=0.000158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   </a:t>
                </a: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11" y="2809626"/>
                <a:ext cx="6777645" cy="6213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861611" y="3649281"/>
                <a:ext cx="7581208" cy="62138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𝑒𝑎𝑢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100−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0.125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=99.875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→    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𝑒𝑎𝑢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99.875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98 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0.100075 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11" y="3649281"/>
                <a:ext cx="7581208" cy="6213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28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532015" y="1230283"/>
            <a:ext cx="5602778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b)    Quelle est la masse volumique de la solution 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2015" y="1773374"/>
            <a:ext cx="8307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 une base arbitraire de mélange de 100 kg on </a:t>
            </a:r>
            <a:r>
              <a:rPr lang="fr-FR" dirty="0" smtClean="0"/>
              <a:t>a trouvé que les volumes 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32015" y="2259614"/>
                <a:ext cx="6096000" cy="130144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=0.000158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   </a:t>
                </a:r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→    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𝑒𝑎𝑢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99.875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98 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0.100075 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2259614"/>
                <a:ext cx="6096000" cy="13014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7148945" y="2593006"/>
                <a:ext cx="4372494" cy="634661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𝑠𝑜𝑙𝑢𝑡𝑖𝑜𝑛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𝑠𝑜𝑙𝑢𝑡𝑖𝑜𝑛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𝑠𝑜𝑙𝑡𝑢𝑖𝑜𝑛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 smtClean="0"/>
                  <a:t>   </a:t>
                </a:r>
                <a:endParaRPr lang="en-US" sz="2400" dirty="0"/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45" y="2593006"/>
                <a:ext cx="4372494" cy="6346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532015" y="4075546"/>
                <a:ext cx="9609512" cy="856004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𝑠𝑜𝑙𝑢𝑡𝑖𝑜𝑛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100 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0.000158 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+0.100075  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4075546"/>
                <a:ext cx="9609512" cy="8560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532015" y="5493901"/>
                <a:ext cx="5322520" cy="62427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𝑠𝑜𝑙𝑢𝑡𝑖𝑜𝑛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=997.67 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fr-FR" sz="2400" b="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998 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2400" dirty="0" smtClean="0"/>
                  <a:t>  </a:t>
                </a:r>
                <a:endParaRPr lang="en-US" sz="2400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5493901"/>
                <a:ext cx="5322520" cy="624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97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532015" y="887781"/>
            <a:ext cx="5602778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c)    Fraction molaire d’éthanol en solution 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4895" y="1689864"/>
            <a:ext cx="171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Par définition: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435629" y="1535821"/>
                <a:ext cx="7398327" cy="7872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𝑠𝑜𝑙𝑢𝑡𝑖𝑜𝑛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629" y="1535821"/>
                <a:ext cx="7398327" cy="787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32015" y="2729306"/>
            <a:ext cx="9989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Pour une base arbitraire de </a:t>
            </a:r>
            <a:r>
              <a:rPr lang="fr-FR" b="1" dirty="0" smtClean="0"/>
              <a:t>mélange (solution)  </a:t>
            </a:r>
            <a:r>
              <a:rPr lang="fr-FR" b="1" dirty="0"/>
              <a:t>de 100 kg on </a:t>
            </a:r>
            <a:r>
              <a:rPr lang="fr-FR" b="1" dirty="0" smtClean="0"/>
              <a:t>a trouvé que les volumes :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532015" y="3351847"/>
                <a:ext cx="2321533" cy="369332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=0.125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3351847"/>
                <a:ext cx="2321533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912515" y="3330221"/>
                <a:ext cx="3679597" cy="369332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100−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0.125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=99.875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515" y="3330221"/>
                <a:ext cx="367959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532015" y="3911073"/>
                <a:ext cx="7750325" cy="1332609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𝑡h𝑎𝑛𝑜𝑙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𝑡h𝑎𝑛𝑜𝑙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𝑡h𝑎𝑛𝑜𝑙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𝑡h𝑎𝑛𝑜𝑙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𝑒𝑎𝑢</m:t>
                                  </m:r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𝑒𝑎𝑢</m:t>
                                  </m:r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3911073"/>
                <a:ext cx="7750325" cy="1332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532015" y="5376351"/>
                <a:ext cx="5799512" cy="1322926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0.125 ×</m:t>
                              </m:r>
                              <m:sSup>
                                <m:sSup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3 </m:t>
                                  </m:r>
                                </m:sup>
                              </m:s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6.07 </m:t>
                              </m:r>
                              <m:f>
                                <m:fPr>
                                  <m:type m:val="lin"/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0.125 ×</m:t>
                              </m:r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46.07 </m:t>
                              </m:r>
                              <m:f>
                                <m:fPr>
                                  <m:type m:val="lin"/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99.875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×</m:t>
                              </m:r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18.015</m:t>
                              </m:r>
                              <m:f>
                                <m:fPr>
                                  <m:type m:val="lin"/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5376351"/>
                <a:ext cx="5799512" cy="13229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6752797" y="6056117"/>
                <a:ext cx="4268492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.000489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797" y="6056117"/>
                <a:ext cx="4268492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20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9" grpId="0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989333" y="802105"/>
            <a:ext cx="8434827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d)    Quelle la concentration massique volumique de l’éthanol en solution 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2015" y="1547539"/>
            <a:ext cx="171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Par définition: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252750" y="1393496"/>
                <a:ext cx="6425738" cy="7872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𝑡h𝑎𝑛𝑜𝑙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𝑠𝑜𝑙𝑢𝑡𝑖𝑜𝑛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750" y="1393496"/>
                <a:ext cx="6425738" cy="787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74467" y="2566841"/>
            <a:ext cx="9989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Pour une base arbitraire de </a:t>
            </a:r>
            <a:r>
              <a:rPr lang="fr-FR" b="1" dirty="0" smtClean="0"/>
              <a:t>mélange (solution)  </a:t>
            </a:r>
            <a:r>
              <a:rPr lang="fr-FR" b="1" dirty="0"/>
              <a:t>de 100 kg on </a:t>
            </a:r>
            <a:r>
              <a:rPr lang="fr-FR" b="1" dirty="0" smtClean="0"/>
              <a:t>a trouvé que les volumes :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532015" y="3351847"/>
                <a:ext cx="2321533" cy="369332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𝑡h𝑎𝑛𝑜𝑙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=0.125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3351847"/>
                <a:ext cx="2321533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7198822" y="5833791"/>
                <a:ext cx="2853820" cy="61741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=1.25 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822" y="5833791"/>
                <a:ext cx="2853820" cy="617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005051" y="3351847"/>
            <a:ext cx="246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et les volumes sont : 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5617122" y="3251641"/>
                <a:ext cx="4078777" cy="130144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𝑡h𝑎𝑛𝑜𝑙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=0.000158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   </a:t>
                </a:r>
                <a:endParaRPr lang="fr-FR" dirty="0" smtClean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→    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𝑒𝑎𝑢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99.875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98 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𝑘𝑔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0.100075 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122" y="3251641"/>
                <a:ext cx="4078777" cy="1301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32015" y="4786302"/>
                <a:ext cx="7386381" cy="430887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𝑠𝑜𝑙𝑢𝑡𝑖𝑜𝑛</m:t>
                        </m:r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0.000158 </m:t>
                    </m:r>
                    <m:sSup>
                      <m:sSupPr>
                        <m:ctrlP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200" dirty="0" smtClean="0"/>
                  <a:t>+ </a:t>
                </a:r>
                <a14:m>
                  <m:oMath xmlns:m="http://schemas.openxmlformats.org/officeDocument/2006/math">
                    <m:r>
                      <a:rPr lang="fr-F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0.100075  </m:t>
                    </m:r>
                    <m:sSup>
                      <m:sSupPr>
                        <m:ctrlP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=0.100234</m:t>
                    </m:r>
                    <m:sSup>
                      <m:sSupPr>
                        <m:ctrlP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5" y="4786302"/>
                <a:ext cx="7386381" cy="430887"/>
              </a:xfrm>
              <a:prstGeom prst="rect">
                <a:avLst/>
              </a:prstGeom>
              <a:blipFill>
                <a:blip r:embed="rId6"/>
                <a:stretch>
                  <a:fillRect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74467" y="5617130"/>
                <a:ext cx="4402744" cy="83343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e>
                      </m:d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0.125 ×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0.100234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67" y="5617130"/>
                <a:ext cx="4402744" cy="833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96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9" grpId="0"/>
      <p:bldP spid="10" grpId="0" animBg="1"/>
      <p:bldP spid="15" grpId="0" animBg="1"/>
      <p:bldP spid="6" grpId="0"/>
      <p:bldP spid="13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989334" y="802105"/>
            <a:ext cx="5602778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e)    Exprimer la teneur en éthanol en  ppm?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1892417" y="1662545"/>
                <a:ext cx="3510856" cy="78380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𝑝𝑝𝑚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17" y="1662545"/>
                <a:ext cx="3510856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1989333" y="2937457"/>
                <a:ext cx="7054913" cy="863763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e>
                      </m:d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=1.25 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1.25 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333" y="2937457"/>
                <a:ext cx="7054913" cy="863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1892417" y="5193997"/>
                <a:ext cx="7054913" cy="746486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𝑡h𝑎𝑛𝑜𝑙</m:t>
                          </m:r>
                        </m:e>
                      </m:d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1250 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𝒎𝒈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𝟏𝟐𝟓𝟎</m:t>
                      </m:r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𝒑𝒑𝒎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17" y="5193997"/>
                <a:ext cx="7054913" cy="746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15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259</TotalTime>
  <Words>369</Words>
  <Application>Microsoft Office PowerPoint</Application>
  <PresentationFormat>Grand écran</PresentationFormat>
  <Paragraphs>89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Rockwell</vt:lpstr>
      <vt:lpstr>Rockwell Condensed</vt:lpstr>
      <vt:lpstr>Wingdings</vt:lpstr>
      <vt:lpstr>Type de bois</vt:lpstr>
      <vt:lpstr>Exemples du cours 3.1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du cours 3.1</dc:title>
  <dc:creator>Utilisateur Windows</dc:creator>
  <cp:lastModifiedBy>Utilisateur Windows</cp:lastModifiedBy>
  <cp:revision>45</cp:revision>
  <dcterms:created xsi:type="dcterms:W3CDTF">2020-11-11T12:15:56Z</dcterms:created>
  <dcterms:modified xsi:type="dcterms:W3CDTF">2020-11-11T16:35:13Z</dcterms:modified>
</cp:coreProperties>
</file>