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CCFFCC"/>
    <a:srgbClr val="FFFF99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4660"/>
  </p:normalViewPr>
  <p:slideViewPr>
    <p:cSldViewPr snapToGrid="0">
      <p:cViewPr>
        <p:scale>
          <a:sx n="70" d="100"/>
          <a:sy n="70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11/11/2020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microsoft.com/office/2007/relationships/hdphoto" Target="../media/hdphoto6.wdp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7.wdp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hdphoto" Target="../media/hdphoto4.wdp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07/relationships/hdphoto" Target="../media/hdphoto8.wdp"/><Relationship Id="rId7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800" dirty="0" smtClean="0">
                <a:solidFill>
                  <a:srgbClr val="0070C0"/>
                </a:solidFill>
              </a:rPr>
              <a:t>Exemples du cours 3.4</a:t>
            </a:r>
            <a:br>
              <a:rPr lang="fr-FR" sz="4800" dirty="0" smtClean="0">
                <a:solidFill>
                  <a:srgbClr val="0070C0"/>
                </a:solidFill>
              </a:rPr>
            </a:br>
            <a:r>
              <a:rPr lang="fr-FR" sz="4800" dirty="0" smtClean="0">
                <a:solidFill>
                  <a:srgbClr val="0070C0"/>
                </a:solidFill>
              </a:rPr>
              <a:t/>
            </a:r>
            <a:br>
              <a:rPr lang="fr-FR" sz="4800" dirty="0" smtClean="0">
                <a:solidFill>
                  <a:srgbClr val="0070C0"/>
                </a:solidFill>
              </a:rPr>
            </a:br>
            <a:r>
              <a:rPr lang="fr-FR" sz="4800" dirty="0" smtClean="0">
                <a:solidFill>
                  <a:schemeClr val="tx1"/>
                </a:solidFill>
              </a:rPr>
              <a:t>3.4:  séparation par précipitation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51345" y="5238206"/>
            <a:ext cx="7891272" cy="1069848"/>
          </a:xfrm>
        </p:spPr>
        <p:txBody>
          <a:bodyPr>
            <a:normAutofit/>
          </a:bodyPr>
          <a:lstStyle/>
          <a:p>
            <a:pPr algn="r"/>
            <a:r>
              <a:rPr lang="fr-FR" sz="1600" b="1" i="1" dirty="0" err="1" smtClean="0">
                <a:solidFill>
                  <a:srgbClr val="0070C0"/>
                </a:solidFill>
              </a:rPr>
              <a:t>Z.Hamoudi</a:t>
            </a:r>
            <a:r>
              <a:rPr lang="fr-FR" sz="1600" b="1" i="1" dirty="0" smtClean="0">
                <a:solidFill>
                  <a:srgbClr val="0070C0"/>
                </a:solidFill>
              </a:rPr>
              <a:t> Aut-2020</a:t>
            </a:r>
            <a:endParaRPr lang="en-US" sz="16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89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1399656"/>
            <a:ext cx="151874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#1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604789" y="643652"/>
            <a:ext cx="60299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/>
              <a:t>Comment utiliser le tableau </a:t>
            </a:r>
            <a:r>
              <a:rPr lang="fr-FR" sz="2800" b="1" dirty="0" smtClean="0"/>
              <a:t>3.1 </a:t>
            </a:r>
            <a:endParaRPr lang="en-US" sz="2800" b="1" dirty="0"/>
          </a:p>
        </p:txBody>
      </p:sp>
      <p:sp>
        <p:nvSpPr>
          <p:cNvPr id="17" name="Rectangle 16"/>
          <p:cNvSpPr/>
          <p:nvPr/>
        </p:nvSpPr>
        <p:spPr>
          <a:xfrm>
            <a:off x="313508" y="2001772"/>
            <a:ext cx="11573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 </a:t>
            </a:r>
            <a:r>
              <a:rPr lang="fr-FR" sz="2400" dirty="0"/>
              <a:t>Indiquez si les sels suivants sont plutôt SOLUBLES ou </a:t>
            </a:r>
            <a:r>
              <a:rPr lang="fr-FR" sz="2400" dirty="0" smtClean="0"/>
              <a:t>INSOLUBLES </a:t>
            </a:r>
            <a:r>
              <a:rPr lang="fr-FR" sz="2400" dirty="0" smtClean="0">
                <a:solidFill>
                  <a:srgbClr val="0070C0"/>
                </a:solidFill>
              </a:rPr>
              <a:t>dans l’eau 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2089" y="3067504"/>
            <a:ext cx="152958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/>
              <a:t>a) CaCO</a:t>
            </a:r>
            <a:r>
              <a:rPr lang="en-US" sz="2400" baseline="-25000" dirty="0"/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547" y="3902403"/>
            <a:ext cx="152958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b) PbNO</a:t>
            </a:r>
            <a:r>
              <a:rPr lang="en-US" sz="2400" baseline="-25000" dirty="0" smtClean="0"/>
              <a:t>3</a:t>
            </a:r>
            <a:endParaRPr lang="en-US" sz="2400" baseline="-25000" dirty="0"/>
          </a:p>
        </p:txBody>
      </p:sp>
      <p:sp>
        <p:nvSpPr>
          <p:cNvPr id="20" name="Rectangle 19"/>
          <p:cNvSpPr/>
          <p:nvPr/>
        </p:nvSpPr>
        <p:spPr>
          <a:xfrm>
            <a:off x="542089" y="4948634"/>
            <a:ext cx="1205779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c) MgI</a:t>
            </a:r>
            <a:r>
              <a:rPr lang="en-US" sz="2400" baseline="-25000" dirty="0" smtClean="0"/>
              <a:t>2</a:t>
            </a:r>
            <a:endParaRPr lang="en-US" sz="2400" baseline="-25000" dirty="0"/>
          </a:p>
        </p:txBody>
      </p:sp>
      <p:sp>
        <p:nvSpPr>
          <p:cNvPr id="21" name="Rectangle 20"/>
          <p:cNvSpPr/>
          <p:nvPr/>
        </p:nvSpPr>
        <p:spPr>
          <a:xfrm>
            <a:off x="542088" y="5803034"/>
            <a:ext cx="1250663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d) Ag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S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/>
              <p:cNvSpPr txBox="1"/>
              <p:nvPr/>
            </p:nvSpPr>
            <p:spPr>
              <a:xfrm>
                <a:off x="2244436" y="3113671"/>
                <a:ext cx="2094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𝑣𝑜𝑖𝑟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𝑇𝑎𝑏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3.1: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436" y="3113671"/>
                <a:ext cx="209480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/>
              <p:cNvSpPr txBox="1"/>
              <p:nvPr/>
            </p:nvSpPr>
            <p:spPr>
              <a:xfrm>
                <a:off x="2244436" y="3994736"/>
                <a:ext cx="2094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𝑣𝑜𝑖𝑟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𝑇𝑎𝑏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3.1: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436" y="3994736"/>
                <a:ext cx="20948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ZoneTexte 23"/>
              <p:cNvSpPr txBox="1"/>
              <p:nvPr/>
            </p:nvSpPr>
            <p:spPr>
              <a:xfrm>
                <a:off x="2244436" y="4988381"/>
                <a:ext cx="2094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𝑣𝑜𝑖𝑟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𝑇𝑎𝑏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3.1: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436" y="4988381"/>
                <a:ext cx="20948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ZoneTexte 24"/>
              <p:cNvSpPr txBox="1"/>
              <p:nvPr/>
            </p:nvSpPr>
            <p:spPr>
              <a:xfrm>
                <a:off x="2244436" y="5895367"/>
                <a:ext cx="2094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𝑣𝑜𝑖𝑟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𝑇𝑎𝑏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3.1: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436" y="5895367"/>
                <a:ext cx="20948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ZoneTexte 25"/>
          <p:cNvSpPr txBox="1"/>
          <p:nvPr/>
        </p:nvSpPr>
        <p:spPr>
          <a:xfrm>
            <a:off x="4472247" y="3067504"/>
            <a:ext cx="229431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Insoluble</a:t>
            </a:r>
            <a:endParaRPr lang="en-US" sz="2400" dirty="0"/>
          </a:p>
        </p:txBody>
      </p:sp>
      <p:sp>
        <p:nvSpPr>
          <p:cNvPr id="29" name="ZoneTexte 28"/>
          <p:cNvSpPr txBox="1"/>
          <p:nvPr/>
        </p:nvSpPr>
        <p:spPr>
          <a:xfrm>
            <a:off x="4487683" y="3948569"/>
            <a:ext cx="229431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Soluble</a:t>
            </a:r>
            <a:endParaRPr lang="en-US" sz="2400" dirty="0"/>
          </a:p>
        </p:txBody>
      </p:sp>
      <p:sp>
        <p:nvSpPr>
          <p:cNvPr id="30" name="ZoneTexte 29"/>
          <p:cNvSpPr txBox="1"/>
          <p:nvPr/>
        </p:nvSpPr>
        <p:spPr>
          <a:xfrm>
            <a:off x="4472246" y="4757548"/>
            <a:ext cx="229431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Soluble</a:t>
            </a:r>
            <a:endParaRPr lang="en-US" sz="2400" dirty="0"/>
          </a:p>
        </p:txBody>
      </p:sp>
      <p:sp>
        <p:nvSpPr>
          <p:cNvPr id="31" name="ZoneTexte 30"/>
          <p:cNvSpPr txBox="1"/>
          <p:nvPr/>
        </p:nvSpPr>
        <p:spPr>
          <a:xfrm>
            <a:off x="4472246" y="5772367"/>
            <a:ext cx="229431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Insoluble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137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157645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2 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136856" y="288745"/>
            <a:ext cx="10785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smtClean="0"/>
              <a:t>Comprendre le principe de séparation par précipitation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13507" y="1103572"/>
            <a:ext cx="10519458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/>
              <a:t>Une eau contient des ions Ca</a:t>
            </a:r>
            <a:r>
              <a:rPr lang="fr-FR" sz="2000" baseline="30000" dirty="0"/>
              <a:t>2+ </a:t>
            </a:r>
            <a:r>
              <a:rPr lang="fr-FR" sz="2000" dirty="0"/>
              <a:t>qu’on veut éliminer. Parmi les sels suivants, lesquels peuvent être utilisés pour précipiter un sel de calcium ? Na</a:t>
            </a:r>
            <a:r>
              <a:rPr lang="fr-FR" sz="2000" baseline="-25000" dirty="0"/>
              <a:t>2</a:t>
            </a:r>
            <a:r>
              <a:rPr lang="fr-FR" sz="2000" dirty="0"/>
              <a:t>SO</a:t>
            </a:r>
            <a:r>
              <a:rPr lang="fr-FR" sz="2000" baseline="-25000" dirty="0"/>
              <a:t>4</a:t>
            </a:r>
            <a:r>
              <a:rPr lang="fr-FR" sz="2000" dirty="0"/>
              <a:t>, </a:t>
            </a:r>
            <a:r>
              <a:rPr lang="fr-FR" sz="2000" dirty="0" smtClean="0"/>
              <a:t>   Mg(OH)</a:t>
            </a:r>
            <a:r>
              <a:rPr lang="fr-FR" sz="2000" baseline="-25000" dirty="0" smtClean="0"/>
              <a:t>2</a:t>
            </a:r>
            <a:r>
              <a:rPr lang="fr-FR" sz="2000" dirty="0" smtClean="0"/>
              <a:t>   ou    </a:t>
            </a:r>
            <a:r>
              <a:rPr lang="fr-FR" sz="2000" dirty="0"/>
              <a:t>AlCl</a:t>
            </a:r>
            <a:r>
              <a:rPr lang="fr-FR" sz="2000" baseline="-25000" dirty="0"/>
              <a:t>3</a:t>
            </a:r>
            <a:r>
              <a:rPr lang="fr-FR" sz="2000" dirty="0"/>
              <a:t> ? </a:t>
            </a:r>
            <a:endParaRPr lang="en-US" sz="2000" dirty="0"/>
          </a:p>
        </p:txBody>
      </p:sp>
      <p:sp>
        <p:nvSpPr>
          <p:cNvPr id="5" name="ZoneTexte 4"/>
          <p:cNvSpPr txBox="1"/>
          <p:nvPr/>
        </p:nvSpPr>
        <p:spPr>
          <a:xfrm>
            <a:off x="313507" y="2239857"/>
            <a:ext cx="6034968" cy="400110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Condition #1:  </a:t>
            </a:r>
            <a:r>
              <a:rPr lang="fr-FR" sz="2000" dirty="0" smtClean="0"/>
              <a:t>   Le </a:t>
            </a:r>
            <a:r>
              <a:rPr lang="fr-FR" sz="2000" b="1" dirty="0" smtClean="0"/>
              <a:t>sel ajouté </a:t>
            </a:r>
            <a:r>
              <a:rPr lang="fr-FR" sz="2000" dirty="0" smtClean="0"/>
              <a:t>doit être </a:t>
            </a:r>
            <a:r>
              <a:rPr lang="fr-FR" sz="2000" b="1" dirty="0" smtClean="0"/>
              <a:t>soluble 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6592768" y="2307597"/>
            <a:ext cx="2006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Na</a:t>
            </a:r>
            <a:r>
              <a:rPr lang="fr-FR" baseline="-25000" dirty="0" smtClean="0"/>
              <a:t>2</a:t>
            </a:r>
            <a:r>
              <a:rPr lang="fr-FR" dirty="0" smtClean="0"/>
              <a:t>SO</a:t>
            </a:r>
            <a:r>
              <a:rPr lang="fr-FR" baseline="-25000" dirty="0" smtClean="0"/>
              <a:t>4</a:t>
            </a:r>
            <a:r>
              <a:rPr lang="fr-FR" dirty="0" smtClean="0"/>
              <a:t> :   soluble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592768" y="2966020"/>
            <a:ext cx="2324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Mg(OH)</a:t>
            </a:r>
            <a:r>
              <a:rPr lang="fr-FR" baseline="-25000" dirty="0" smtClean="0"/>
              <a:t>2 </a:t>
            </a:r>
            <a:r>
              <a:rPr lang="fr-FR" dirty="0" smtClean="0"/>
              <a:t>:  Insoluble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631101" y="3507265"/>
            <a:ext cx="1758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AlCl</a:t>
            </a:r>
            <a:r>
              <a:rPr lang="fr-FR" baseline="-25000" dirty="0" smtClean="0"/>
              <a:t>3</a:t>
            </a:r>
            <a:r>
              <a:rPr lang="fr-FR" dirty="0" smtClean="0"/>
              <a:t>:  Soluble </a:t>
            </a: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8558300" y="2191222"/>
            <a:ext cx="4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8558300" y="3397805"/>
            <a:ext cx="4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8777200" y="2818065"/>
            <a:ext cx="4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rgbClr val="FF0000"/>
                </a:solidFill>
              </a:rPr>
              <a:t>X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18152" y="2935930"/>
            <a:ext cx="2357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Mg(OH)</a:t>
            </a:r>
            <a:r>
              <a:rPr lang="fr-FR" baseline="-25000" dirty="0" smtClean="0"/>
              <a:t>2 </a:t>
            </a:r>
            <a:r>
              <a:rPr lang="fr-FR" dirty="0" smtClean="0"/>
              <a:t>: à éliminer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260432" y="4527312"/>
            <a:ext cx="11415225" cy="400110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Condition #2:  </a:t>
            </a:r>
            <a:r>
              <a:rPr lang="fr-FR" sz="2000" dirty="0" smtClean="0"/>
              <a:t> Le sel ajouté une fois soluble</a:t>
            </a:r>
            <a:r>
              <a:rPr lang="fr-FR" sz="2000" b="1" dirty="0" smtClean="0"/>
              <a:t>, </a:t>
            </a:r>
            <a:r>
              <a:rPr lang="fr-FR" sz="2000" dirty="0" smtClean="0"/>
              <a:t>il doit </a:t>
            </a:r>
            <a:r>
              <a:rPr lang="fr-FR" sz="2000" b="1" dirty="0" smtClean="0"/>
              <a:t>former un précipité </a:t>
            </a:r>
            <a:r>
              <a:rPr lang="fr-FR" sz="2000" dirty="0" smtClean="0"/>
              <a:t>avec les ions  </a:t>
            </a:r>
            <a:r>
              <a:rPr lang="fr-FR" sz="2000" dirty="0"/>
              <a:t>Ca</a:t>
            </a:r>
            <a:r>
              <a:rPr lang="fr-FR" sz="2000" baseline="30000" dirty="0"/>
              <a:t>2+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260432" y="5290766"/>
            <a:ext cx="11779956" cy="646331"/>
          </a:xfrm>
          <a:prstGeom prst="rect">
            <a:avLst/>
          </a:prstGeom>
          <a:solidFill>
            <a:srgbClr val="FFFF99"/>
          </a:solidFill>
        </p:spPr>
        <p:txBody>
          <a:bodyPr wrap="none">
            <a:spAutoFit/>
          </a:bodyPr>
          <a:lstStyle/>
          <a:p>
            <a:r>
              <a:rPr lang="fr-FR" dirty="0"/>
              <a:t>AlCl</a:t>
            </a:r>
            <a:r>
              <a:rPr lang="fr-FR" baseline="-25000" dirty="0"/>
              <a:t>3</a:t>
            </a:r>
            <a:r>
              <a:rPr lang="fr-FR" dirty="0"/>
              <a:t>:  </a:t>
            </a:r>
            <a:r>
              <a:rPr lang="fr-FR" dirty="0" smtClean="0"/>
              <a:t>une fois dissout, les anions Cl</a:t>
            </a:r>
            <a:r>
              <a:rPr lang="fr-FR" baseline="30000" dirty="0" smtClean="0"/>
              <a:t>- </a:t>
            </a:r>
            <a:r>
              <a:rPr lang="fr-FR" dirty="0"/>
              <a:t> </a:t>
            </a:r>
            <a:r>
              <a:rPr lang="fr-FR" dirty="0" smtClean="0"/>
              <a:t>formeront </a:t>
            </a:r>
            <a:r>
              <a:rPr lang="fr-FR" dirty="0" smtClean="0">
                <a:solidFill>
                  <a:srgbClr val="FF0000"/>
                </a:solidFill>
              </a:rPr>
              <a:t>un sel soluble </a:t>
            </a:r>
            <a:r>
              <a:rPr lang="fr-FR" dirty="0" smtClean="0"/>
              <a:t>avec les ions </a:t>
            </a:r>
            <a:r>
              <a:rPr lang="fr-FR" dirty="0"/>
              <a:t>Ca</a:t>
            </a:r>
            <a:r>
              <a:rPr lang="fr-FR" baseline="30000" dirty="0"/>
              <a:t>2</a:t>
            </a:r>
            <a:r>
              <a:rPr lang="fr-FR" baseline="30000" dirty="0" smtClean="0"/>
              <a:t>+ </a:t>
            </a:r>
            <a:r>
              <a:rPr lang="fr-FR" dirty="0"/>
              <a:t> </a:t>
            </a:r>
            <a:r>
              <a:rPr lang="fr-FR" dirty="0" smtClean="0"/>
              <a:t>. donc  ce sel ne mènera pas</a:t>
            </a:r>
          </a:p>
          <a:p>
            <a:r>
              <a:rPr lang="fr-FR" dirty="0" smtClean="0"/>
              <a:t>à la formation d’un précipité avec </a:t>
            </a:r>
            <a:r>
              <a:rPr lang="fr-FR" dirty="0"/>
              <a:t>Ca</a:t>
            </a:r>
            <a:r>
              <a:rPr lang="fr-FR" baseline="30000" dirty="0"/>
              <a:t>2</a:t>
            </a:r>
            <a:r>
              <a:rPr lang="fr-FR" baseline="30000" dirty="0" smtClean="0"/>
              <a:t>+</a:t>
            </a:r>
            <a:r>
              <a:rPr lang="fr-FR" dirty="0" smtClean="0"/>
              <a:t>. Donc ça ne peut être le bon sel</a:t>
            </a:r>
            <a:endParaRPr lang="en-US" dirty="0"/>
          </a:p>
        </p:txBody>
      </p:sp>
      <p:sp>
        <p:nvSpPr>
          <p:cNvPr id="15" name="Ellipse 14"/>
          <p:cNvSpPr/>
          <p:nvPr/>
        </p:nvSpPr>
        <p:spPr>
          <a:xfrm>
            <a:off x="6348475" y="4527312"/>
            <a:ext cx="2712398" cy="5268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ZoneTexte 16"/>
          <p:cNvSpPr txBox="1"/>
          <p:nvPr/>
        </p:nvSpPr>
        <p:spPr>
          <a:xfrm>
            <a:off x="6932142" y="4146584"/>
            <a:ext cx="1634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Sel insoluble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60432" y="6111580"/>
            <a:ext cx="1085861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dirty="0" smtClean="0"/>
              <a:t>Na</a:t>
            </a:r>
            <a:r>
              <a:rPr lang="fr-FR" baseline="-25000" dirty="0" smtClean="0"/>
              <a:t>2</a:t>
            </a:r>
            <a:r>
              <a:rPr lang="fr-FR" dirty="0" smtClean="0"/>
              <a:t>SO</a:t>
            </a:r>
            <a:r>
              <a:rPr lang="fr-FR" baseline="-25000" dirty="0" smtClean="0"/>
              <a:t>4</a:t>
            </a:r>
            <a:r>
              <a:rPr lang="fr-FR" dirty="0" smtClean="0"/>
              <a:t> est un sel soluble et son ion sulfate (SO</a:t>
            </a:r>
            <a:r>
              <a:rPr lang="fr-FR" baseline="-25000" dirty="0" smtClean="0"/>
              <a:t>4</a:t>
            </a:r>
            <a:r>
              <a:rPr lang="fr-FR" dirty="0" smtClean="0"/>
              <a:t>) forme un sel insoluble avec l’ion </a:t>
            </a:r>
            <a:r>
              <a:rPr lang="fr-FR" dirty="0"/>
              <a:t>Ca</a:t>
            </a:r>
            <a:r>
              <a:rPr lang="fr-FR" baseline="30000" dirty="0"/>
              <a:t>2</a:t>
            </a:r>
            <a:r>
              <a:rPr lang="fr-FR" baseline="30000" dirty="0" smtClean="0"/>
              <a:t>+</a:t>
            </a:r>
            <a:r>
              <a:rPr lang="fr-FR" dirty="0" smtClean="0"/>
              <a:t>. Donc c’est lui</a:t>
            </a:r>
          </a:p>
          <a:p>
            <a:r>
              <a:rPr lang="fr-FR" dirty="0" smtClean="0"/>
              <a:t>le sel à utiliser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8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12" grpId="0"/>
      <p:bldP spid="13" grpId="0"/>
      <p:bldP spid="14" grpId="0" animBg="1"/>
      <p:bldP spid="10" grpId="0" animBg="1"/>
      <p:bldP spid="15" grpId="0" animBg="1"/>
      <p:bldP spid="17" grpId="0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157645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76731" y="1061102"/>
            <a:ext cx="9345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/>
              <a:t>Analyser un procédé de séparation par précipitation</a:t>
            </a:r>
            <a:endParaRPr lang="en-US" sz="2800" b="1" dirty="0"/>
          </a:p>
        </p:txBody>
      </p:sp>
      <p:sp>
        <p:nvSpPr>
          <p:cNvPr id="2" name="Rectangle 1"/>
          <p:cNvSpPr/>
          <p:nvPr/>
        </p:nvSpPr>
        <p:spPr>
          <a:xfrm>
            <a:off x="476730" y="2001772"/>
            <a:ext cx="11478709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/>
              <a:t>Une solution A contient 0,250 mol/L de Pb(ClO</a:t>
            </a:r>
            <a:r>
              <a:rPr lang="fr-FR" sz="2000" baseline="-25000" dirty="0"/>
              <a:t>3</a:t>
            </a:r>
            <a:r>
              <a:rPr lang="fr-FR" sz="2000" dirty="0"/>
              <a:t> )</a:t>
            </a:r>
            <a:r>
              <a:rPr lang="fr-FR" sz="2000" baseline="-25000" dirty="0"/>
              <a:t>2</a:t>
            </a:r>
            <a:r>
              <a:rPr lang="fr-FR" sz="2000" dirty="0"/>
              <a:t>. À 2,00 L de cette solution, on ajoute 1,50 L d’une solution B contenant 0,450 mol/L de </a:t>
            </a:r>
            <a:r>
              <a:rPr lang="fr-FR" sz="2000" dirty="0" err="1"/>
              <a:t>NaCl</a:t>
            </a:r>
            <a:r>
              <a:rPr lang="fr-FR" sz="2000" dirty="0" smtClean="0"/>
              <a:t>.</a:t>
            </a:r>
          </a:p>
          <a:p>
            <a:pPr marL="457200" indent="-457200">
              <a:buAutoNum type="alphaLcParenR"/>
            </a:pPr>
            <a:r>
              <a:rPr lang="fr-FR" sz="2000" dirty="0" smtClean="0"/>
              <a:t>Qui </a:t>
            </a:r>
            <a:r>
              <a:rPr lang="fr-FR" sz="2000" dirty="0"/>
              <a:t>est ce qui précipite ? En écrivant l’équation de précipitation</a:t>
            </a:r>
            <a:r>
              <a:rPr lang="fr-FR" sz="2000" dirty="0" smtClean="0"/>
              <a:t>.</a:t>
            </a:r>
          </a:p>
          <a:p>
            <a:pPr marL="457200" indent="-457200">
              <a:buAutoNum type="alphaLcParenR"/>
            </a:pPr>
            <a:r>
              <a:rPr lang="fr-FR" sz="2000" dirty="0" smtClean="0"/>
              <a:t>Calculez </a:t>
            </a:r>
            <a:r>
              <a:rPr lang="fr-FR" sz="2000" dirty="0"/>
              <a:t>la masse du précipité ? </a:t>
            </a:r>
            <a:endParaRPr lang="fr-FR" sz="2000" dirty="0" smtClean="0"/>
          </a:p>
          <a:p>
            <a:pPr marL="457200" indent="-457200">
              <a:buAutoNum type="alphaLcParenR"/>
            </a:pPr>
            <a:r>
              <a:rPr lang="fr-FR" sz="2000" dirty="0" smtClean="0"/>
              <a:t>Donnez </a:t>
            </a:r>
            <a:r>
              <a:rPr lang="fr-FR" sz="2000" dirty="0"/>
              <a:t>le bilan molaire des ions restant dans la solution 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381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157645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</a:t>
            </a:r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9" y="1263057"/>
            <a:ext cx="2438400" cy="42862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2709" y="1893208"/>
            <a:ext cx="6355697" cy="63695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65268" y="2944601"/>
            <a:ext cx="6009120" cy="870887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751909" y="3345418"/>
            <a:ext cx="15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Sel #1</a:t>
            </a:r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2751909" y="4942926"/>
            <a:ext cx="15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Sel # 2</a:t>
            </a: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  <a14:imgEffect>
                      <a14:saturation sat="3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87531" y="4723348"/>
            <a:ext cx="4870962" cy="78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3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219682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 suite 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968" y="1052300"/>
            <a:ext cx="10007908" cy="72865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160" y="2292824"/>
            <a:ext cx="4427268" cy="151553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245" y="2292824"/>
            <a:ext cx="3405101" cy="139299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91820" y="4258095"/>
            <a:ext cx="8939285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Le précipité étant le sel insoluble qui se forme à la rencontre de Pb</a:t>
            </a:r>
            <a:r>
              <a:rPr lang="fr-FR" baseline="30000" dirty="0" smtClean="0"/>
              <a:t>2+</a:t>
            </a:r>
            <a:r>
              <a:rPr lang="fr-FR" dirty="0" smtClean="0"/>
              <a:t>  et Cl</a:t>
            </a:r>
            <a:r>
              <a:rPr lang="fr-FR" baseline="30000" dirty="0" smtClean="0"/>
              <a:t>-</a:t>
            </a:r>
            <a:r>
              <a:rPr lang="fr-FR" dirty="0" smtClean="0"/>
              <a:t> .</a:t>
            </a:r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1091820" y="4892498"/>
            <a:ext cx="5827594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Il faut écrire l’équation de précipitation de ce sel</a:t>
            </a:r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9549" y="5584319"/>
            <a:ext cx="5658917" cy="10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79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219682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 suite 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409433" y="1078173"/>
            <a:ext cx="7315200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Calcul de nombre de moles de chaque ion  issus du sel #1 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1685" y="1774210"/>
            <a:ext cx="6753057" cy="97870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728327" y="2167777"/>
            <a:ext cx="15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Sel #1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2116753" y="2881616"/>
                <a:ext cx="3492477" cy="3960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𝑃𝑏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𝐶𝑙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=  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𝑃𝑏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𝐶𝑙𝑂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53" y="2881616"/>
                <a:ext cx="3492477" cy="396006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2116753" y="3622129"/>
                <a:ext cx="3492477" cy="6164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𝑃𝑏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𝐶𝑙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=  0.25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53" y="3622129"/>
                <a:ext cx="349247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 droit 9"/>
          <p:cNvCxnSpPr/>
          <p:nvPr/>
        </p:nvCxnSpPr>
        <p:spPr>
          <a:xfrm flipH="1">
            <a:off x="4380931" y="4067033"/>
            <a:ext cx="272956" cy="1715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flipH="1">
            <a:off x="5133832" y="3893499"/>
            <a:ext cx="272956" cy="1715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/>
              <p:cNvSpPr txBox="1"/>
              <p:nvPr/>
            </p:nvSpPr>
            <p:spPr>
              <a:xfrm>
                <a:off x="2116753" y="4375258"/>
                <a:ext cx="3492477" cy="3960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𝑃𝑏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𝐶𝑙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=  0.5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53" y="4375258"/>
                <a:ext cx="3492477" cy="396006"/>
              </a:xfrm>
              <a:prstGeom prst="rect">
                <a:avLst/>
              </a:prstGeom>
              <a:blipFill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6029185" y="4295330"/>
                <a:ext cx="2051652" cy="372731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p>
                            <m:s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𝑃𝑏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</m:sup>
                          </m:sSup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=  0.5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185" y="4295330"/>
                <a:ext cx="2051652" cy="372731"/>
              </a:xfrm>
              <a:prstGeom prst="rect">
                <a:avLst/>
              </a:prstGeom>
              <a:blipFill>
                <a:blip r:embed="rId7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/>
          <p:cNvCxnSpPr/>
          <p:nvPr/>
        </p:nvCxnSpPr>
        <p:spPr>
          <a:xfrm>
            <a:off x="6518213" y="2630900"/>
            <a:ext cx="0" cy="152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8704130" y="2543140"/>
            <a:ext cx="0" cy="152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8391610" y="4238580"/>
                <a:ext cx="2619692" cy="400687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𝐶𝑙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0.5 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610" y="4238580"/>
                <a:ext cx="2619692" cy="4006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41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 animBg="1"/>
      <p:bldP spid="12" grpId="0" animBg="1"/>
      <p:bldP spid="13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219682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 suite 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1728327" y="2167777"/>
            <a:ext cx="15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Sel #2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2116753" y="2881616"/>
                <a:ext cx="3492477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𝑁𝑎𝐶𝑙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=  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𝑁𝑎𝐶𝑙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53" y="2881616"/>
                <a:ext cx="3492477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2116753" y="3622129"/>
                <a:ext cx="3492477" cy="6164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𝑁𝑎𝐶𝑙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 0.45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53" y="3622129"/>
                <a:ext cx="3492477" cy="616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 droit 9"/>
          <p:cNvCxnSpPr/>
          <p:nvPr/>
        </p:nvCxnSpPr>
        <p:spPr>
          <a:xfrm flipH="1">
            <a:off x="3975613" y="3998793"/>
            <a:ext cx="272956" cy="1715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flipH="1">
            <a:off x="4862552" y="3928333"/>
            <a:ext cx="272956" cy="1715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/>
              <p:cNvSpPr txBox="1"/>
              <p:nvPr/>
            </p:nvSpPr>
            <p:spPr>
              <a:xfrm>
                <a:off x="2116753" y="4375258"/>
                <a:ext cx="3492477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𝑁𝑎𝐶𝑙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 0.675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53" y="4375258"/>
                <a:ext cx="3492477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5913860" y="4364480"/>
                <a:ext cx="2173119" cy="372731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p>
                            <m:s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𝑁𝑎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=  0.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67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860" y="4364480"/>
                <a:ext cx="2173119" cy="372731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eur droit avec flèche 15"/>
          <p:cNvCxnSpPr/>
          <p:nvPr/>
        </p:nvCxnSpPr>
        <p:spPr>
          <a:xfrm>
            <a:off x="8813312" y="2371593"/>
            <a:ext cx="16789" cy="1781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8391609" y="4358606"/>
                <a:ext cx="2240485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p>
                            <m:s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𝐶𝑙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</m:sup>
                          </m:sSup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0.675 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609" y="4358606"/>
                <a:ext cx="22404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 17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  <a14:imgEffect>
                      <a14:saturation sat="2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6387" y="1834899"/>
            <a:ext cx="6526589" cy="1046717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409433" y="1078173"/>
            <a:ext cx="7315200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Calcul de nombre de moles de chaque ion  issus du sel #2 </a:t>
            </a:r>
            <a:endParaRPr lang="en-US" dirty="0"/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6518213" y="2630900"/>
            <a:ext cx="0" cy="152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87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12" grpId="0" animBg="1"/>
      <p:bldP spid="13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219682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 suite </a:t>
            </a:r>
            <a:endParaRPr lang="en-US" dirty="0"/>
          </a:p>
        </p:txBody>
      </p:sp>
      <p:sp>
        <p:nvSpPr>
          <p:cNvPr id="19" name="ZoneTexte 18"/>
          <p:cNvSpPr txBox="1"/>
          <p:nvPr/>
        </p:nvSpPr>
        <p:spPr>
          <a:xfrm>
            <a:off x="409432" y="1078173"/>
            <a:ext cx="10372299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Calcul de nombre de moles des ions précipité (sous forme de poudre) dans le précipité </a:t>
            </a:r>
            <a:endParaRPr lang="en-US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8421" y="2049549"/>
            <a:ext cx="7050988" cy="12774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1987140" y="3559735"/>
                <a:ext cx="1046377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0.5 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140" y="3559735"/>
                <a:ext cx="10463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3805962" y="3543757"/>
                <a:ext cx="1302856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0.675 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962" y="3543757"/>
                <a:ext cx="13028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ZoneTexte 1"/>
          <p:cNvSpPr txBox="1"/>
          <p:nvPr/>
        </p:nvSpPr>
        <p:spPr>
          <a:xfrm>
            <a:off x="696035" y="4763069"/>
            <a:ext cx="5759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limitant dans cette réaction de précipitation est: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791381" y="5270060"/>
                <a:ext cx="2811628" cy="494238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𝑟𝑎𝑝𝑝𝑜𝑟𝑡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𝑐𝑜𝑒𝑓𝑓𝑖𝑐𝑖𝑒𝑛𝑡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b="0" i="1" dirty="0" smtClean="0"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81" y="5270060"/>
                <a:ext cx="2811628" cy="494238"/>
              </a:xfrm>
              <a:prstGeom prst="rect">
                <a:avLst/>
              </a:prstGeom>
              <a:blipFill>
                <a:blip r:embed="rId6"/>
                <a:stretch>
                  <a:fillRect l="-434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221656" y="5208857"/>
                <a:ext cx="2306529" cy="6166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𝑃𝑏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0.5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656" y="5208857"/>
                <a:ext cx="2306529" cy="6166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7524437" y="5132401"/>
                <a:ext cx="2792239" cy="6166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675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3375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437" y="5132401"/>
                <a:ext cx="2792239" cy="6166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ZoneTexte 24"/>
              <p:cNvSpPr txBox="1"/>
              <p:nvPr/>
            </p:nvSpPr>
            <p:spPr>
              <a:xfrm>
                <a:off x="840271" y="6044217"/>
                <a:ext cx="3226762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Le limitant est donc: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𝐶𝑙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1" y="6044217"/>
                <a:ext cx="3226762" cy="369332"/>
              </a:xfrm>
              <a:prstGeom prst="rect">
                <a:avLst/>
              </a:prstGeom>
              <a:blipFill>
                <a:blip r:embed="rId9"/>
                <a:stretch>
                  <a:fillRect l="-170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81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" grpId="0"/>
      <p:bldP spid="23" grpId="0" animBg="1"/>
      <p:bldP spid="5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219682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 suite </a:t>
            </a:r>
            <a:endParaRPr lang="en-US" dirty="0"/>
          </a:p>
        </p:txBody>
      </p:sp>
      <p:sp>
        <p:nvSpPr>
          <p:cNvPr id="19" name="ZoneTexte 18"/>
          <p:cNvSpPr txBox="1"/>
          <p:nvPr/>
        </p:nvSpPr>
        <p:spPr>
          <a:xfrm>
            <a:off x="409432" y="1078173"/>
            <a:ext cx="10372299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Calcul de nombre de moles des ions précipité (sous forme de poudre) dans le précipité </a:t>
            </a:r>
            <a:endParaRPr lang="en-US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8421" y="2049549"/>
            <a:ext cx="7050988" cy="12774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3805962" y="3543757"/>
                <a:ext cx="1302856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0.675 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962" y="3543757"/>
                <a:ext cx="13028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1909289" y="4474079"/>
                <a:ext cx="1896673" cy="616515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0.675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=0.3375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289" y="4474079"/>
                <a:ext cx="1896673" cy="6165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eur droit avec flèche 5"/>
          <p:cNvCxnSpPr/>
          <p:nvPr/>
        </p:nvCxnSpPr>
        <p:spPr>
          <a:xfrm>
            <a:off x="2510329" y="3127133"/>
            <a:ext cx="0" cy="1117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4327756" y="2892735"/>
            <a:ext cx="12232" cy="651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404450" y="3820927"/>
                <a:ext cx="3990901" cy="61093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𝑃𝑏𝐶𝑙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0.675 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=0.3375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450" y="3820927"/>
                <a:ext cx="3990901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eur droit avec flèche 17"/>
          <p:cNvCxnSpPr/>
          <p:nvPr/>
        </p:nvCxnSpPr>
        <p:spPr>
          <a:xfrm>
            <a:off x="6926244" y="3109879"/>
            <a:ext cx="12232" cy="651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22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2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3509" y="274320"/>
            <a:ext cx="219682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Exemple # 3  suite </a:t>
            </a:r>
            <a:endParaRPr lang="en-US" dirty="0"/>
          </a:p>
        </p:txBody>
      </p:sp>
      <p:sp>
        <p:nvSpPr>
          <p:cNvPr id="19" name="ZoneTexte 18"/>
          <p:cNvSpPr txBox="1"/>
          <p:nvPr/>
        </p:nvSpPr>
        <p:spPr>
          <a:xfrm>
            <a:off x="409432" y="1078173"/>
            <a:ext cx="10372299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Établir le bilan molaire des ions avant et après </a:t>
            </a:r>
            <a:r>
              <a:rPr lang="fr-FR" dirty="0" err="1" smtClean="0"/>
              <a:t>précipitatipon</a:t>
            </a:r>
            <a:endParaRPr lang="en-US" dirty="0"/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701236"/>
              </p:ext>
            </p:extLst>
          </p:nvPr>
        </p:nvGraphicFramePr>
        <p:xfrm>
          <a:off x="409431" y="2115402"/>
          <a:ext cx="11518711" cy="274320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07905">
                  <a:extLst>
                    <a:ext uri="{9D8B030D-6E8A-4147-A177-3AD203B41FA5}">
                      <a16:colId xmlns:a16="http://schemas.microsoft.com/office/drawing/2014/main" val="40172922"/>
                    </a:ext>
                  </a:extLst>
                </a:gridCol>
                <a:gridCol w="3602214">
                  <a:extLst>
                    <a:ext uri="{9D8B030D-6E8A-4147-A177-3AD203B41FA5}">
                      <a16:colId xmlns:a16="http://schemas.microsoft.com/office/drawing/2014/main" val="3984994785"/>
                    </a:ext>
                  </a:extLst>
                </a:gridCol>
                <a:gridCol w="3528914">
                  <a:extLst>
                    <a:ext uri="{9D8B030D-6E8A-4147-A177-3AD203B41FA5}">
                      <a16:colId xmlns:a16="http://schemas.microsoft.com/office/drawing/2014/main" val="3866974343"/>
                    </a:ext>
                  </a:extLst>
                </a:gridCol>
                <a:gridCol w="2879678">
                  <a:extLst>
                    <a:ext uri="{9D8B030D-6E8A-4147-A177-3AD203B41FA5}">
                      <a16:colId xmlns:a16="http://schemas.microsoft.com/office/drawing/2014/main" val="2052582405"/>
                    </a:ext>
                  </a:extLst>
                </a:gridCol>
              </a:tblGrid>
              <a:tr h="826898">
                <a:tc>
                  <a:txBody>
                    <a:bodyPr/>
                    <a:lstStyle/>
                    <a:p>
                      <a:r>
                        <a:rPr lang="fr-FR" dirty="0" smtClean="0"/>
                        <a:t>Les 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Nombre de moles au</a:t>
                      </a:r>
                      <a:r>
                        <a:rPr lang="fr-FR" baseline="0" dirty="0" smtClean="0"/>
                        <a:t> départ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-</a:t>
                      </a:r>
                      <a:r>
                        <a:rPr lang="fr-FR" baseline="0" dirty="0" smtClean="0"/>
                        <a:t> Nombre de moles précipité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= nombre de moles restant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366539"/>
                  </a:ext>
                </a:extLst>
              </a:tr>
              <a:tr h="4790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779131"/>
                  </a:ext>
                </a:extLst>
              </a:tr>
              <a:tr h="4790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895748"/>
                  </a:ext>
                </a:extLst>
              </a:tr>
              <a:tr h="4790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8744"/>
                  </a:ext>
                </a:extLst>
              </a:tr>
              <a:tr h="4790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13703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36164" y="3020090"/>
                <a:ext cx="79560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𝑃𝑏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64" y="3020090"/>
                <a:ext cx="79560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670340" y="3475505"/>
                <a:ext cx="72725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𝑁𝑎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40" y="3475505"/>
                <a:ext cx="7272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79572" y="4415995"/>
                <a:ext cx="59105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𝐶𝑙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72" y="4415995"/>
                <a:ext cx="59105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679572" y="3939347"/>
                <a:ext cx="752194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𝐶𝑙</m:t>
                      </m:r>
                      <m:sSubSup>
                        <m:sSub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72" y="3939347"/>
                <a:ext cx="752194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/>
          <p:cNvSpPr txBox="1"/>
          <p:nvPr/>
        </p:nvSpPr>
        <p:spPr>
          <a:xfrm>
            <a:off x="3166281" y="3020090"/>
            <a:ext cx="600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0.5</a:t>
            </a:r>
            <a:endParaRPr lang="en-US" dirty="0"/>
          </a:p>
        </p:txBody>
      </p:sp>
      <p:sp>
        <p:nvSpPr>
          <p:cNvPr id="16" name="ZoneTexte 15"/>
          <p:cNvSpPr txBox="1"/>
          <p:nvPr/>
        </p:nvSpPr>
        <p:spPr>
          <a:xfrm>
            <a:off x="6168786" y="3020090"/>
            <a:ext cx="169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-   0.3375</a:t>
            </a:r>
            <a:endParaRPr lang="en-US" dirty="0"/>
          </a:p>
        </p:txBody>
      </p:sp>
      <p:sp>
        <p:nvSpPr>
          <p:cNvPr id="17" name="ZoneTexte 16"/>
          <p:cNvSpPr txBox="1"/>
          <p:nvPr/>
        </p:nvSpPr>
        <p:spPr>
          <a:xfrm>
            <a:off x="9596649" y="3020090"/>
            <a:ext cx="169004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=  0.1625  mol</a:t>
            </a:r>
            <a:endParaRPr lang="en-US" dirty="0"/>
          </a:p>
        </p:txBody>
      </p:sp>
      <p:sp>
        <p:nvSpPr>
          <p:cNvPr id="18" name="ZoneTexte 17"/>
          <p:cNvSpPr txBox="1"/>
          <p:nvPr/>
        </p:nvSpPr>
        <p:spPr>
          <a:xfrm>
            <a:off x="3166280" y="3455193"/>
            <a:ext cx="1022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0.675</a:t>
            </a:r>
            <a:endParaRPr lang="en-US" dirty="0"/>
          </a:p>
        </p:txBody>
      </p:sp>
      <p:sp>
        <p:nvSpPr>
          <p:cNvPr id="21" name="ZoneTexte 20"/>
          <p:cNvSpPr txBox="1"/>
          <p:nvPr/>
        </p:nvSpPr>
        <p:spPr>
          <a:xfrm>
            <a:off x="6168786" y="3455193"/>
            <a:ext cx="169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-   0</a:t>
            </a:r>
            <a:endParaRPr lang="en-US" dirty="0"/>
          </a:p>
        </p:txBody>
      </p:sp>
      <p:sp>
        <p:nvSpPr>
          <p:cNvPr id="23" name="ZoneTexte 22"/>
          <p:cNvSpPr txBox="1"/>
          <p:nvPr/>
        </p:nvSpPr>
        <p:spPr>
          <a:xfrm>
            <a:off x="9596649" y="3455193"/>
            <a:ext cx="169004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=  0.675  mol</a:t>
            </a:r>
            <a:endParaRPr lang="en-US" dirty="0"/>
          </a:p>
        </p:txBody>
      </p:sp>
      <p:sp>
        <p:nvSpPr>
          <p:cNvPr id="24" name="ZoneTexte 23"/>
          <p:cNvSpPr txBox="1"/>
          <p:nvPr/>
        </p:nvSpPr>
        <p:spPr>
          <a:xfrm>
            <a:off x="3166281" y="3934362"/>
            <a:ext cx="600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1.0</a:t>
            </a:r>
            <a:endParaRPr lang="en-US" dirty="0"/>
          </a:p>
        </p:txBody>
      </p:sp>
      <p:sp>
        <p:nvSpPr>
          <p:cNvPr id="25" name="ZoneTexte 24"/>
          <p:cNvSpPr txBox="1"/>
          <p:nvPr/>
        </p:nvSpPr>
        <p:spPr>
          <a:xfrm>
            <a:off x="6168786" y="3934362"/>
            <a:ext cx="169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-   0</a:t>
            </a:r>
            <a:endParaRPr lang="en-US" dirty="0"/>
          </a:p>
        </p:txBody>
      </p:sp>
      <p:sp>
        <p:nvSpPr>
          <p:cNvPr id="26" name="ZoneTexte 25"/>
          <p:cNvSpPr txBox="1"/>
          <p:nvPr/>
        </p:nvSpPr>
        <p:spPr>
          <a:xfrm>
            <a:off x="9596649" y="3934362"/>
            <a:ext cx="169004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=  1.0  mol</a:t>
            </a:r>
            <a:endParaRPr lang="en-US" dirty="0"/>
          </a:p>
        </p:txBody>
      </p:sp>
      <p:sp>
        <p:nvSpPr>
          <p:cNvPr id="27" name="ZoneTexte 26"/>
          <p:cNvSpPr txBox="1"/>
          <p:nvPr/>
        </p:nvSpPr>
        <p:spPr>
          <a:xfrm>
            <a:off x="3166281" y="4478971"/>
            <a:ext cx="1132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0.675</a:t>
            </a:r>
            <a:endParaRPr lang="en-US" dirty="0"/>
          </a:p>
        </p:txBody>
      </p:sp>
      <p:sp>
        <p:nvSpPr>
          <p:cNvPr id="28" name="ZoneTexte 27"/>
          <p:cNvSpPr txBox="1"/>
          <p:nvPr/>
        </p:nvSpPr>
        <p:spPr>
          <a:xfrm>
            <a:off x="6168786" y="4478971"/>
            <a:ext cx="169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-   0.675</a:t>
            </a:r>
            <a:endParaRPr lang="en-US" dirty="0"/>
          </a:p>
        </p:txBody>
      </p:sp>
      <p:sp>
        <p:nvSpPr>
          <p:cNvPr id="29" name="ZoneTexte 28"/>
          <p:cNvSpPr txBox="1"/>
          <p:nvPr/>
        </p:nvSpPr>
        <p:spPr>
          <a:xfrm>
            <a:off x="9596649" y="4478971"/>
            <a:ext cx="169004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= 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5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0" grpId="0"/>
      <p:bldP spid="16" grpId="0"/>
      <p:bldP spid="17" grpId="0" animBg="1"/>
      <p:bldP spid="18" grpId="0"/>
      <p:bldP spid="21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347</TotalTime>
  <Words>493</Words>
  <Application>Microsoft Office PowerPoint</Application>
  <PresentationFormat>Grand écran</PresentationFormat>
  <Paragraphs>98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Rockwell</vt:lpstr>
      <vt:lpstr>Rockwell Condensed</vt:lpstr>
      <vt:lpstr>Wingdings</vt:lpstr>
      <vt:lpstr>Type de bois</vt:lpstr>
      <vt:lpstr>Exemples du cours 3.4  3.4:  séparation par précipitation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Exemples du cours 3.1</dc:title>
  <dc:creator>Utilisateur Windows</dc:creator>
  <cp:lastModifiedBy>Utilisateur Windows</cp:lastModifiedBy>
  <cp:revision>72</cp:revision>
  <dcterms:created xsi:type="dcterms:W3CDTF">2020-11-11T12:15:56Z</dcterms:created>
  <dcterms:modified xsi:type="dcterms:W3CDTF">2020-11-11T18:02:58Z</dcterms:modified>
</cp:coreProperties>
</file>