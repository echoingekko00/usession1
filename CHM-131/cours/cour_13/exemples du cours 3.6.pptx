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9" r:id="rId9"/>
    <p:sldId id="268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FF9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57" autoAdjust="0"/>
    <p:restoredTop sz="94660"/>
  </p:normalViewPr>
  <p:slideViewPr>
    <p:cSldViewPr snapToGrid="0">
      <p:cViewPr varScale="1">
        <p:scale>
          <a:sx n="73" d="100"/>
          <a:sy n="73" d="100"/>
        </p:scale>
        <p:origin x="6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0-12-03T00:07:40.03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22423 3225 0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12/2/2020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12/2/2020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12/2/2020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12/2/2020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12/2/2020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12/2/2020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6.png"/><Relationship Id="rId7" Type="http://schemas.openxmlformats.org/officeDocument/2006/relationships/customXml" Target="../ink/ink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800" dirty="0" smtClean="0">
                <a:solidFill>
                  <a:srgbClr val="0070C0"/>
                </a:solidFill>
              </a:rPr>
              <a:t>Exemples du cours: </a:t>
            </a:r>
            <a:br>
              <a:rPr lang="fr-FR" sz="4800" dirty="0" smtClean="0">
                <a:solidFill>
                  <a:srgbClr val="0070C0"/>
                </a:solidFill>
              </a:rPr>
            </a:br>
            <a:r>
              <a:rPr lang="fr-FR" sz="4800" dirty="0" smtClean="0">
                <a:solidFill>
                  <a:srgbClr val="0070C0"/>
                </a:solidFill>
              </a:rPr>
              <a:t>3.6 Propriétés </a:t>
            </a:r>
            <a:r>
              <a:rPr lang="fr-FR" sz="4800" dirty="0" err="1" smtClean="0">
                <a:solidFill>
                  <a:srgbClr val="0070C0"/>
                </a:solidFill>
              </a:rPr>
              <a:t>colligatives</a:t>
            </a:r>
            <a:endParaRPr lang="en-US" sz="4800" dirty="0">
              <a:solidFill>
                <a:srgbClr val="0070C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51345" y="5238206"/>
            <a:ext cx="7891272" cy="1069848"/>
          </a:xfrm>
        </p:spPr>
        <p:txBody>
          <a:bodyPr>
            <a:normAutofit/>
          </a:bodyPr>
          <a:lstStyle/>
          <a:p>
            <a:pPr algn="r"/>
            <a:r>
              <a:rPr lang="fr-FR" sz="1600" b="1" i="1" dirty="0" err="1" smtClean="0">
                <a:solidFill>
                  <a:srgbClr val="0070C0"/>
                </a:solidFill>
              </a:rPr>
              <a:t>Z.Hamoudi</a:t>
            </a:r>
            <a:r>
              <a:rPr lang="fr-FR" sz="1600" b="1" i="1" dirty="0" smtClean="0">
                <a:solidFill>
                  <a:srgbClr val="0070C0"/>
                </a:solidFill>
              </a:rPr>
              <a:t> Aut-2020</a:t>
            </a:r>
            <a:endParaRPr lang="en-US" sz="1600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89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/>
              <p:cNvSpPr txBox="1"/>
              <p:nvPr/>
            </p:nvSpPr>
            <p:spPr>
              <a:xfrm>
                <a:off x="3201918" y="1709700"/>
                <a:ext cx="4611189" cy="983154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𝑚𝑜𝑙𝑎𝑙𝑖𝑡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é=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𝑠𝑜𝑙𝑢𝑡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𝑠𝑜𝑙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𝑎𝑛𝑡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918" y="1709700"/>
                <a:ext cx="4611189" cy="9831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120683" y="938719"/>
            <a:ext cx="877366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>
                <a:latin typeface="Arial" panose="020B0604020202020204" pitchFamily="34" charset="0"/>
              </a:rPr>
              <a:t>Molalité</a:t>
            </a:r>
            <a:r>
              <a:rPr lang="en-US" b="1" dirty="0" smtClean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: </a:t>
            </a:r>
            <a:r>
              <a:rPr lang="en-US" b="1" dirty="0" smtClean="0">
                <a:latin typeface="Arial" panose="020B0604020202020204" pitchFamily="34" charset="0"/>
              </a:rPr>
              <a:t> pour des substances </a:t>
            </a:r>
            <a:r>
              <a:rPr lang="en-US" b="1" dirty="0" err="1">
                <a:solidFill>
                  <a:srgbClr val="FF0000"/>
                </a:solidFill>
                <a:latin typeface="Arial" panose="020B0604020202020204" pitchFamily="34" charset="0"/>
              </a:rPr>
              <a:t>moléculaires</a:t>
            </a:r>
            <a:r>
              <a:rPr lang="en-US" b="1" dirty="0">
                <a:latin typeface="Arial" panose="020B0604020202020204" pitchFamily="34" charset="0"/>
              </a:rPr>
              <a:t> (non-</a:t>
            </a:r>
            <a:r>
              <a:rPr lang="en-US" b="1" dirty="0" err="1">
                <a:latin typeface="Arial" panose="020B0604020202020204" pitchFamily="34" charset="0"/>
              </a:rPr>
              <a:t>électrolytiques</a:t>
            </a:r>
            <a:r>
              <a:rPr lang="en-US" b="1" dirty="0">
                <a:latin typeface="Arial" panose="020B0604020202020204" pitchFamily="34" charset="0"/>
              </a:rPr>
              <a:t>) : 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20683" y="4043869"/>
            <a:ext cx="877366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 smtClean="0">
                <a:latin typeface="Arial" panose="020B0604020202020204" pitchFamily="34" charset="0"/>
              </a:rPr>
              <a:t>Molalité</a:t>
            </a:r>
            <a:r>
              <a:rPr lang="en-US" b="1" dirty="0" smtClean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: </a:t>
            </a:r>
            <a:r>
              <a:rPr lang="en-US" b="1" dirty="0" smtClean="0">
                <a:latin typeface="Arial" panose="020B0604020202020204" pitchFamily="34" charset="0"/>
              </a:rPr>
              <a:t> pour des substances </a:t>
            </a:r>
            <a:r>
              <a:rPr lang="en-US" b="1" dirty="0" err="1" smtClean="0">
                <a:latin typeface="Arial" panose="020B0604020202020204" pitchFamily="34" charset="0"/>
              </a:rPr>
              <a:t>ioniques</a:t>
            </a:r>
            <a:r>
              <a:rPr lang="en-US" b="1" dirty="0" smtClean="0">
                <a:latin typeface="Arial" panose="020B0604020202020204" pitchFamily="34" charset="0"/>
              </a:rPr>
              <a:t> (</a:t>
            </a:r>
            <a:r>
              <a:rPr lang="en-US" b="1" dirty="0" err="1" smtClean="0">
                <a:solidFill>
                  <a:srgbClr val="FF0000"/>
                </a:solidFill>
                <a:latin typeface="Arial" panose="020B0604020202020204" pitchFamily="34" charset="0"/>
              </a:rPr>
              <a:t>sels</a:t>
            </a:r>
            <a:r>
              <a:rPr lang="en-US" b="1" dirty="0" smtClean="0">
                <a:latin typeface="Arial" panose="020B0604020202020204" pitchFamily="34" charset="0"/>
              </a:rPr>
              <a:t>) (</a:t>
            </a:r>
            <a:r>
              <a:rPr lang="en-US" b="1" dirty="0" err="1" smtClean="0">
                <a:latin typeface="Arial" panose="020B0604020202020204" pitchFamily="34" charset="0"/>
              </a:rPr>
              <a:t>électrolytiques</a:t>
            </a:r>
            <a:r>
              <a:rPr lang="en-US" b="1" dirty="0">
                <a:latin typeface="Arial" panose="020B0604020202020204" pitchFamily="34" charset="0"/>
              </a:rPr>
              <a:t>) : </a:t>
            </a:r>
            <a:endParaRPr lang="en-US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/>
              <p:cNvSpPr txBox="1"/>
              <p:nvPr/>
            </p:nvSpPr>
            <p:spPr>
              <a:xfrm>
                <a:off x="3201918" y="4935716"/>
                <a:ext cx="7939148" cy="985911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𝑚𝑜𝑙𝑎𝑙𝑖𝑡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é=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𝑡𝑜𝑢𝑠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𝑙𝑒𝑠𝑖𝑜𝑛𝑠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𝑒𝑛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𝑠𝑜𝑙𝑢𝑡𝑖𝑜𝑛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𝑠𝑜𝑙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𝑎𝑛𝑡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F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918" y="4935716"/>
                <a:ext cx="7939148" cy="9859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37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5405" y="1084302"/>
            <a:ext cx="9346845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 smtClean="0">
                <a:latin typeface="Arial" panose="020B0604020202020204" pitchFamily="34" charset="0"/>
              </a:rPr>
              <a:t>Une </a:t>
            </a:r>
            <a:r>
              <a:rPr lang="fr-FR" sz="2400" dirty="0">
                <a:latin typeface="Arial" panose="020B0604020202020204" pitchFamily="34" charset="0"/>
              </a:rPr>
              <a:t>solution formée par la dissolution d’une mole de glucose dans 50 kg d’eau, quelle est la molalité de la solution ? </a:t>
            </a:r>
            <a:endParaRPr lang="en-US" sz="2400" dirty="0"/>
          </a:p>
        </p:txBody>
      </p:sp>
      <p:sp>
        <p:nvSpPr>
          <p:cNvPr id="3" name="ZoneTexte 2"/>
          <p:cNvSpPr txBox="1"/>
          <p:nvPr/>
        </p:nvSpPr>
        <p:spPr>
          <a:xfrm>
            <a:off x="313509" y="274320"/>
            <a:ext cx="144379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#1</a:t>
            </a:r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313509" y="3063868"/>
            <a:ext cx="3579222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Caractéristiques de la solution: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526868" y="3689944"/>
                <a:ext cx="3365863" cy="42505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𝑠𝑜𝑙𝑢𝑡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𝑔𝑙𝑢𝑐𝑜𝑠𝑒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868" y="3689944"/>
                <a:ext cx="3365863" cy="425053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142603" y="4531967"/>
                <a:ext cx="3750128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𝑠𝑜𝑙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𝑣𝑎𝑛𝑡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50 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𝑘𝑔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03" y="4531967"/>
                <a:ext cx="3750128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4133850" y="3702471"/>
                <a:ext cx="6475171" cy="5539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𝑔𝑙𝑢𝑐𝑜𝑠𝑒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𝑒𝑠𝑡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𝑢𝑛𝑒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𝑠𝑢𝑏𝑠𝑡𝑎𝑛𝑐𝑒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𝑐𝑢𝑙𝑎𝑖𝑟𝑒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𝑎𝑙𝑜𝑟𝑠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𝑑𝑎𝑛𝑠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𝑒𝑎𝑢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</m:oMath>
                  </m:oMathPara>
                </a14:m>
                <a:endParaRPr lang="fr-FR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𝑒𝑙𝑙𝑒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𝑐𝑜𝑚𝑝𝑜𝑠𝑒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𝑝𝑎𝑠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850" y="3702471"/>
                <a:ext cx="6475171" cy="553998"/>
              </a:xfrm>
              <a:prstGeom prst="rect">
                <a:avLst/>
              </a:prstGeom>
              <a:blipFill>
                <a:blip r:embed="rId4"/>
                <a:stretch>
                  <a:fillRect b="-18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1315968" y="5497371"/>
                <a:ext cx="8628132" cy="85863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𝑚𝑜𝑙𝑎𝑙𝑖𝑡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é=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𝑠𝑜𝑙𝑢𝑡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𝑠𝑜𝑙𝑢𝑎𝑛𝑡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𝑔𝑙𝑢𝑐𝑜𝑠𝑒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𝒎𝒐𝒍</m:t>
                          </m:r>
                        </m:num>
                        <m:den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𝒌𝒈</m:t>
                          </m:r>
                        </m:den>
                      </m:f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0.02 </m:t>
                      </m:r>
                      <m:f>
                        <m:fPr>
                          <m:ctrlP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968" y="5497371"/>
                <a:ext cx="8628132" cy="8586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39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5405" y="1084302"/>
            <a:ext cx="10566045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 smtClean="0"/>
              <a:t>Une </a:t>
            </a:r>
            <a:r>
              <a:rPr lang="fr-FR" sz="2400" dirty="0"/>
              <a:t>solution formée par la dissolution d’une mole de CaCl</a:t>
            </a:r>
            <a:r>
              <a:rPr lang="fr-FR" sz="2400" baseline="-25000" dirty="0"/>
              <a:t>2</a:t>
            </a:r>
            <a:r>
              <a:rPr lang="fr-FR" sz="2400" dirty="0"/>
              <a:t> dans 50 kg </a:t>
            </a:r>
          </a:p>
          <a:p>
            <a:r>
              <a:rPr lang="fr-FR" sz="2400" dirty="0"/>
              <a:t>d’eau. Quelle est la molalité de cette solution ? </a:t>
            </a:r>
            <a:endParaRPr lang="en-US" sz="2400" dirty="0"/>
          </a:p>
        </p:txBody>
      </p:sp>
      <p:sp>
        <p:nvSpPr>
          <p:cNvPr id="3" name="ZoneTexte 2"/>
          <p:cNvSpPr txBox="1"/>
          <p:nvPr/>
        </p:nvSpPr>
        <p:spPr>
          <a:xfrm>
            <a:off x="313509" y="274320"/>
            <a:ext cx="144379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#2</a:t>
            </a:r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637788" y="2566964"/>
            <a:ext cx="3579222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Caractéristiques de la solution: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744468" y="4036160"/>
                <a:ext cx="3365863" cy="4205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𝑠𝑜𝑙𝑢𝑡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fr-FR" sz="2000" dirty="0"/>
                            <m:t>CaCl</m:t>
                          </m:r>
                          <m:r>
                            <m:rPr>
                              <m:nor/>
                            </m:rPr>
                            <a:rPr lang="fr-FR" sz="2000" baseline="-25000" dirty="0"/>
                            <m:t>2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68" y="4036160"/>
                <a:ext cx="3365863" cy="420564"/>
              </a:xfrm>
              <a:prstGeom prst="rect">
                <a:avLst/>
              </a:prstGeom>
              <a:blipFill>
                <a:blip r:embed="rId2"/>
                <a:stretch>
                  <a:fillRect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744468" y="3228219"/>
                <a:ext cx="3750128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𝑠𝑜𝑙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𝑣𝑎𝑛𝑡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50 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𝑘𝑔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68" y="3228219"/>
                <a:ext cx="3750128" cy="400110"/>
              </a:xfrm>
              <a:prstGeom prst="rect">
                <a:avLst/>
              </a:prstGeom>
              <a:blipFill>
                <a:blip r:embed="rId3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4925538" y="3151275"/>
                <a:ext cx="6040243" cy="5539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</m:t>
                      </m:r>
                      <m:r>
                        <m:rPr>
                          <m:nor/>
                        </m:rP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dirty="0"/>
                        <m:t>CaCl</m:t>
                      </m:r>
                      <m:r>
                        <m:rPr>
                          <m:nor/>
                        </m:rPr>
                        <a:rPr lang="fr-FR" baseline="-25000" dirty="0"/>
                        <m:t>2</m:t>
                      </m:r>
                      <m:r>
                        <a:rPr lang="fr-FR" b="0" i="1" baseline="-2500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𝑒𝑠𝑡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𝒖𝒏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𝒔𝒆𝒍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𝑐𝑜𝑚𝑝𝑜𝑠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𝑖𝑜𝑛𝑖𝑞𝑢𝑒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𝑑𝑎𝑛𝑠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𝑒𝑎𝑢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𝑐𝑜𝑚𝑝𝑜𝑠𝑒𝑟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𝑖𝑜𝑛𝑠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538" y="3151275"/>
                <a:ext cx="6040243" cy="553998"/>
              </a:xfrm>
              <a:prstGeom prst="rect">
                <a:avLst/>
              </a:prstGeom>
              <a:blipFill>
                <a:blip r:embed="rId4"/>
                <a:stretch>
                  <a:fillRect l="-605" t="-2198" b="-17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744468" y="5718680"/>
                <a:ext cx="9999732" cy="85863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𝑚𝑜𝑙𝑎𝑙𝑖𝑡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é=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𝑡𝑜𝑢𝑠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𝑙𝑒𝑠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𝑖𝑜𝑛𝑠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𝑒𝑛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𝑠𝑜𝑙𝑢𝑡𝑖𝑜𝑛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𝑠𝑜𝑙𝑢𝑎𝑛𝑡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+2 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𝒎𝒐𝒍</m:t>
                          </m:r>
                        </m:num>
                        <m:den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𝒌𝒈</m:t>
                          </m:r>
                        </m:den>
                      </m:f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0.06 </m:t>
                      </m:r>
                      <m:f>
                        <m:fPr>
                          <m:ctrlP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68" y="5718680"/>
                <a:ext cx="9999732" cy="8586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6048697" y="4088463"/>
                <a:ext cx="4029565" cy="430887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𝐶𝑎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𝐶𝑙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 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𝐶𝑎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697" y="4088463"/>
                <a:ext cx="402956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7331529" y="4780890"/>
                <a:ext cx="39113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529" y="4780890"/>
                <a:ext cx="39113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6197237" y="4857835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𝐦𝐨𝐥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237" y="4857835"/>
                <a:ext cx="663643" cy="276999"/>
              </a:xfrm>
              <a:prstGeom prst="rect">
                <a:avLst/>
              </a:prstGeom>
              <a:blipFill>
                <a:blip r:embed="rId8"/>
                <a:stretch>
                  <a:fillRect l="-8333" r="-925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7861489" y="4857835"/>
                <a:ext cx="663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𝐦𝐨𝐥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1489" y="4857835"/>
                <a:ext cx="663643" cy="276999"/>
              </a:xfrm>
              <a:prstGeom prst="rect">
                <a:avLst/>
              </a:prstGeom>
              <a:blipFill>
                <a:blip r:embed="rId9"/>
                <a:stretch>
                  <a:fillRect l="-8333" r="-925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8899685" y="4880730"/>
                <a:ext cx="5947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b="1" dirty="0" smtClean="0">
                    <a:solidFill>
                      <a:srgbClr val="FF0000"/>
                    </a:solidFill>
                  </a:rPr>
                  <a:t>2</a:t>
                </a:r>
                <a14:m>
                  <m:oMath xmlns:m="http://schemas.openxmlformats.org/officeDocument/2006/math">
                    <m:r>
                      <a:rPr lang="fr-FR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𝐦𝐨𝐥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685" y="4880730"/>
                <a:ext cx="594715" cy="276999"/>
              </a:xfrm>
              <a:prstGeom prst="rect">
                <a:avLst/>
              </a:prstGeom>
              <a:blipFill>
                <a:blip r:embed="rId10"/>
                <a:stretch>
                  <a:fillRect l="-24742" t="-28889" r="-14433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42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8" grpId="0" animBg="1"/>
      <p:bldP spid="9" grpId="0" animBg="1"/>
      <p:bldP spid="7" grpId="0" animBg="1"/>
      <p:bldP spid="10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3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16305" y="1008102"/>
            <a:ext cx="10566045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 smtClean="0"/>
              <a:t>Une </a:t>
            </a:r>
            <a:r>
              <a:rPr lang="fr-FR" sz="2400" dirty="0"/>
              <a:t>eau d’érable (solution formée par le saccharose +eau) contient 3,30% mas de saccharose (C</a:t>
            </a:r>
            <a:r>
              <a:rPr lang="fr-FR" sz="2400" baseline="-25000" dirty="0"/>
              <a:t>12</a:t>
            </a:r>
            <a:r>
              <a:rPr lang="fr-FR" sz="2400" dirty="0"/>
              <a:t>H</a:t>
            </a:r>
            <a:r>
              <a:rPr lang="fr-FR" sz="2400" baseline="-25000" dirty="0"/>
              <a:t>22</a:t>
            </a:r>
            <a:r>
              <a:rPr lang="fr-FR" sz="2400" dirty="0"/>
              <a:t>O</a:t>
            </a:r>
            <a:r>
              <a:rPr lang="fr-FR" sz="2400" baseline="-25000" dirty="0"/>
              <a:t>11</a:t>
            </a:r>
            <a:r>
              <a:rPr lang="fr-FR" sz="2400" dirty="0"/>
              <a:t>). Calculez la molalité de l’eau d’érable. </a:t>
            </a:r>
            <a:endParaRPr lang="en-US" sz="2400" dirty="0"/>
          </a:p>
        </p:txBody>
      </p:sp>
      <p:sp>
        <p:nvSpPr>
          <p:cNvPr id="4" name="ZoneTexte 3"/>
          <p:cNvSpPr txBox="1"/>
          <p:nvPr/>
        </p:nvSpPr>
        <p:spPr>
          <a:xfrm>
            <a:off x="616305" y="2568568"/>
            <a:ext cx="3579222" cy="36933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Caractéristiques de la solution: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6154412" y="3082880"/>
                <a:ext cx="4399288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𝑠𝑜𝑙𝑢𝑡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𝑠𝑎𝑐𝑐h𝑎𝑟𝑜𝑠𝑒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=3.3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412" y="3082880"/>
                <a:ext cx="4399288" cy="400110"/>
              </a:xfrm>
              <a:prstGeom prst="rect">
                <a:avLst/>
              </a:prstGeom>
              <a:blipFill>
                <a:blip r:embed="rId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6154412" y="3833116"/>
                <a:ext cx="5069303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𝑠𝑜𝑙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𝑣𝑎𝑛𝑡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100 −3.3=96.7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412" y="3833116"/>
                <a:ext cx="5069303" cy="400110"/>
              </a:xfrm>
              <a:prstGeom prst="rect">
                <a:avLst/>
              </a:prstGeom>
              <a:blipFill>
                <a:blip r:embed="rId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/>
          <p:cNvSpPr txBox="1"/>
          <p:nvPr/>
        </p:nvSpPr>
        <p:spPr>
          <a:xfrm>
            <a:off x="616305" y="3110741"/>
            <a:ext cx="5212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Pour une base arbitraire de solution de 100 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6986439" y="4687710"/>
                <a:ext cx="5014706" cy="5539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𝑠𝑎𝑐𝑐h𝑎𝑟𝑜𝑠𝑒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𝑒𝑠𝑡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𝑢𝑛𝑒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𝑠𝑢𝑏𝑠𝑡𝑎𝑛𝑐𝑒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𝑐𝑢𝑙𝑎𝑖𝑟𝑒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fr-FR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𝑎𝑙𝑜𝑟𝑠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𝑑𝑎𝑛𝑠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𝑒𝑎𝑢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𝑒𝑙𝑙𝑒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𝑐𝑜𝑚𝑝𝑜𝑠𝑒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𝑝𝑎𝑠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439" y="4687710"/>
                <a:ext cx="5014706" cy="553998"/>
              </a:xfrm>
              <a:prstGeom prst="rect">
                <a:avLst/>
              </a:prstGeom>
              <a:blipFill>
                <a:blip r:embed="rId4"/>
                <a:stretch>
                  <a:fillRect l="-122" b="-17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616304" y="4677386"/>
                <a:ext cx="6165495" cy="5643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𝑠𝑜𝑙𝑢𝑡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é</m:t>
                            </m:r>
                          </m:sub>
                        </m:s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𝑠𝑎𝑐𝑐h𝑎𝑟𝑜𝑠𝑒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3.3 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342.3 </m:t>
                        </m:r>
                        <m:f>
                          <m:fPr>
                            <m:type m:val="lin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𝑚𝑜𝑙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000" dirty="0" smtClean="0"/>
                  <a:t>=0.00964 </a:t>
                </a:r>
                <a:r>
                  <a:rPr lang="en-US" sz="2000" dirty="0" err="1" smtClean="0"/>
                  <a:t>mol</a:t>
                </a:r>
                <a:endParaRPr lang="en-US" sz="2000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04" y="4677386"/>
                <a:ext cx="6165495" cy="564322"/>
              </a:xfrm>
              <a:prstGeom prst="rect">
                <a:avLst/>
              </a:prstGeom>
              <a:blipFill>
                <a:blip r:embed="rId5"/>
                <a:stretch>
                  <a:fillRect t="-16129" b="-95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668268" y="5776187"/>
                <a:ext cx="10514082" cy="85863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𝑚𝑜𝑙𝑎𝑙𝑖𝑡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é=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𝑠𝑜𝑙𝑢𝑡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𝑠𝑜𝑙𝑢𝑎𝑛𝑡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𝑠𝑎𝑐𝑐h𝑎𝑟𝑜𝑠𝑒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𝑒𝑎𝑢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𝟎𝟎𝟗𝟔𝟒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𝒎𝒐𝒍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𝟗𝟔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 ×</m:t>
                          </m:r>
                          <m:sSup>
                            <m:sSup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</m:e>
                            <m:sup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fr-F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𝒌𝒈</m:t>
                          </m:r>
                        </m:den>
                      </m:f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0.0997  </m:t>
                      </m:r>
                      <m:f>
                        <m:fPr>
                          <m:ctrlP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68" y="5776187"/>
                <a:ext cx="10514082" cy="8586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1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4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94930" y="1088553"/>
            <a:ext cx="10583181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2000" dirty="0" smtClean="0">
                <a:latin typeface="Arial" panose="020B0604020202020204" pitchFamily="34" charset="0"/>
              </a:rPr>
              <a:t>La </a:t>
            </a:r>
            <a:r>
              <a:rPr lang="fr-FR" sz="2000" dirty="0">
                <a:latin typeface="Arial" panose="020B0604020202020204" pitchFamily="34" charset="0"/>
              </a:rPr>
              <a:t>pression de saturation d’une solution de morphine (C17H19NO3), (solide moléculaire) dans l’eau à 25°C est </a:t>
            </a:r>
            <a:r>
              <a:rPr lang="fr-FR" sz="2000" b="1" dirty="0">
                <a:latin typeface="Arial" panose="020B0604020202020204" pitchFamily="34" charset="0"/>
              </a:rPr>
              <a:t>3,063 kPa</a:t>
            </a:r>
            <a:r>
              <a:rPr lang="fr-FR" sz="2000" dirty="0">
                <a:latin typeface="Arial" panose="020B0604020202020204" pitchFamily="34" charset="0"/>
              </a:rPr>
              <a:t>. 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1815010" y="1715128"/>
            <a:ext cx="8953500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100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r>
              <a:rPr lang="fr-FR" b="1" dirty="0">
                <a:solidFill>
                  <a:srgbClr val="0070C0"/>
                </a:solidFill>
                <a:latin typeface="Arial" panose="020B0604020202020204" pitchFamily="34" charset="0"/>
              </a:rPr>
              <a:t>Quelle est la fraction massique de la morphine dans la solution? 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61951" y="2736533"/>
            <a:ext cx="1106805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L’idée:  En utilisant la propriété </a:t>
            </a:r>
            <a:r>
              <a:rPr lang="fr-FR" dirty="0" err="1" smtClean="0"/>
              <a:t>colligative</a:t>
            </a:r>
            <a:r>
              <a:rPr lang="fr-FR" dirty="0" smtClean="0"/>
              <a:t> : diminution de pression de vapeur de la solution, on peut remonter à la fraction molaire du </a:t>
            </a:r>
            <a:r>
              <a:rPr lang="fr-FR" dirty="0" smtClean="0"/>
              <a:t>soluté.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4610100" y="3774125"/>
                <a:ext cx="5543550" cy="49475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𝒗𝒂𝒑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𝒔𝒐𝒍𝒖𝒕𝒊𝒐𝒏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</a:rPr>
                          <m:t>𝒔𝒐𝒍𝒗𝒂𝒏𝒕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𝒔𝒐𝒍𝒗𝒂𝒏𝒕</m:t>
                        </m:r>
                      </m:sub>
                      <m:sup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100" y="3774125"/>
                <a:ext cx="5543550" cy="494751"/>
              </a:xfrm>
              <a:prstGeom prst="rect">
                <a:avLst/>
              </a:prstGeom>
              <a:blipFill>
                <a:blip r:embed="rId2"/>
                <a:stretch>
                  <a:fillRect b="-4598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/>
          <p:cNvSpPr txBox="1"/>
          <p:nvPr/>
        </p:nvSpPr>
        <p:spPr>
          <a:xfrm>
            <a:off x="313509" y="4475471"/>
            <a:ext cx="357922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Caractéristiques de la solution:</a:t>
            </a:r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420189" y="5944667"/>
            <a:ext cx="2932611" cy="398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00" b="0" dirty="0" smtClean="0"/>
              <a:t>Soluté = morphine 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420189" y="5136726"/>
                <a:ext cx="2932611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𝑠𝑜𝑙𝑣𝑎𝑛𝑡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𝑎𝑢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89" y="5136726"/>
                <a:ext cx="2932611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eur droit avec flèche 10"/>
          <p:cNvCxnSpPr/>
          <p:nvPr/>
        </p:nvCxnSpPr>
        <p:spPr>
          <a:xfrm>
            <a:off x="5895976" y="4190777"/>
            <a:ext cx="0" cy="654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>
            <a:off x="8886826" y="4113298"/>
            <a:ext cx="0" cy="654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5114926" y="4892123"/>
            <a:ext cx="1562100" cy="36933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3.063 kPa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7181853" y="4848348"/>
                <a:ext cx="4616628" cy="37555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𝒆𝒂𝒖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p>
                    </m:sSubSup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à 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℃ (</m:t>
                    </m:r>
                    <m:r>
                      <a:rPr 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𝒗𝒐𝒊𝒓</m:t>
                    </m:r>
                    <m:r>
                      <a:rPr 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𝑻𝒂𝒃</m:t>
                    </m:r>
                    <m:r>
                      <a:rPr 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fr-FR" dirty="0" smtClean="0"/>
                  <a:t> = 3.169 kPa</a:t>
                </a:r>
                <a:endParaRPr lang="en-US" dirty="0"/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53" y="4848348"/>
                <a:ext cx="4616628" cy="375552"/>
              </a:xfrm>
              <a:prstGeom prst="rect">
                <a:avLst/>
              </a:prstGeom>
              <a:blipFill>
                <a:blip r:embed="rId4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3892731" y="5688438"/>
                <a:ext cx="2971800" cy="7525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𝒗𝒂𝒑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𝒔𝒐𝒍𝒖𝒕𝒊𝒐𝒏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𝒆𝒂𝒖</m:t>
                              </m:r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sz="2000" b="1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731" y="5688438"/>
                <a:ext cx="2971800" cy="7525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7219953" y="5688438"/>
                <a:ext cx="3846739" cy="6769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𝟎𝟔𝟑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𝒌𝑷𝒂</m:t>
                          </m:r>
                        </m:num>
                        <m:den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𝟏𝟔𝟗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𝒌𝑷𝒂</m:t>
                          </m:r>
                        </m:den>
                      </m:f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=0.966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953" y="5688438"/>
                <a:ext cx="3846739" cy="6769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eur droit avec flèche 17"/>
          <p:cNvCxnSpPr/>
          <p:nvPr/>
        </p:nvCxnSpPr>
        <p:spPr>
          <a:xfrm flipH="1">
            <a:off x="7486650" y="4190777"/>
            <a:ext cx="9526" cy="2846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6645997" y="4424821"/>
            <a:ext cx="2240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Fraction molaire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Encre 9"/>
              <p14:cNvContentPartPr/>
              <p14:nvPr/>
            </p14:nvContentPartPr>
            <p14:xfrm>
              <a:off x="8072280" y="1161000"/>
              <a:ext cx="360" cy="360"/>
            </p14:xfrm>
          </p:contentPart>
        </mc:Choice>
        <mc:Fallback>
          <p:pic>
            <p:nvPicPr>
              <p:cNvPr id="10" name="Encre 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62920" y="11516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694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4" grpId="0" animBg="1"/>
      <p:bldP spid="15" grpId="0" animBg="1"/>
      <p:bldP spid="16" grpId="0" animBg="1"/>
      <p:bldP spid="17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13509" y="1431028"/>
                <a:ext cx="3846739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=0.966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09" y="1431028"/>
                <a:ext cx="3846739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4935310" y="1212218"/>
                <a:ext cx="6780440" cy="851708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𝒎𝒐𝒓𝒑𝒉𝒊𝒏𝒆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𝒎𝒂𝒔𝒔𝒊𝒒𝒖𝒆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𝒎𝒐𝒓𝒑𝒉𝒊𝒏𝒆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𝒆𝒂𝒖</m:t>
                              </m:r>
                            </m:sub>
                          </m:s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𝒎𝒐𝒓𝒑𝒉𝒊𝒏𝒆</m:t>
                              </m:r>
                            </m:sub>
                          </m:sSub>
                        </m:den>
                      </m:f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310" y="1212218"/>
                <a:ext cx="6780440" cy="8517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/>
          <p:cNvSpPr txBox="1"/>
          <p:nvPr/>
        </p:nvSpPr>
        <p:spPr>
          <a:xfrm>
            <a:off x="268070" y="2637269"/>
            <a:ext cx="6418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Pour une base arbitraire de solution de </a:t>
            </a:r>
            <a:r>
              <a:rPr lang="fr-FR" b="1" dirty="0" smtClean="0">
                <a:solidFill>
                  <a:srgbClr val="FF0000"/>
                </a:solidFill>
              </a:rPr>
              <a:t>1 mol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5792718" y="3670571"/>
                <a:ext cx="6248400" cy="4739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𝑠𝑜𝑙𝑢𝑡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morphine</m:t>
                          </m:r>
                          <m:r>
                            <m:rPr>
                              <m:nor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=1−0.966=0.034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718" y="3670571"/>
                <a:ext cx="6248400" cy="473912"/>
              </a:xfrm>
              <a:prstGeom prst="rect">
                <a:avLst/>
              </a:prstGeom>
              <a:blipFill>
                <a:blip r:embed="rId4"/>
                <a:stretch>
                  <a:fillRect b="-1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5852421" y="2849695"/>
                <a:ext cx="3750128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=0.966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421" y="2849695"/>
                <a:ext cx="375012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313509" y="4697851"/>
                <a:ext cx="7332890" cy="769891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𝒎𝒐𝒓𝒑𝒉𝒊𝒏𝒆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𝒎𝒂𝒔𝒔𝒊𝒒𝒖𝒆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𝒎𝒐𝒓𝒑𝒉𝒊𝒏𝒆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𝒎𝒐𝒓𝒑𝒉𝒊𝒏𝒆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𝒆𝒂𝒖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𝒆𝒂𝒖</m:t>
                              </m:r>
                            </m:sub>
                          </m:s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𝒎𝒐𝒓𝒑𝒉𝒊𝒏𝒆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fr-F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𝒎𝒐𝒓𝒑𝒉𝒊𝒏𝒆</m:t>
                              </m:r>
                            </m:sub>
                          </m:sSub>
                        </m:den>
                      </m:f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09" y="4697851"/>
                <a:ext cx="7332890" cy="7698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268070" y="5799385"/>
                <a:ext cx="9334479" cy="7413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𝒎𝒐𝒓𝒑𝒉𝒊𝒏𝒆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𝒎𝒂𝒔𝒔𝒊𝒒𝒖𝒆</m:t>
                          </m:r>
                          <m:r>
                            <a:rPr lang="fr-FR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>
                              <a:latin typeface="Cambria Math" panose="02040503050406030204" pitchFamily="18" charset="0"/>
                            </a:rPr>
                            <m:t>0.034 </m:t>
                          </m:r>
                          <m:r>
                            <a:rPr lang="fr-FR" sz="2000" b="0" i="1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fr-F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×285.338 </m:t>
                          </m:r>
                          <m:f>
                            <m:fPr>
                              <m:type m:val="lin"/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fr-F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𝑚𝑜𝑙</m:t>
                              </m:r>
                            </m:den>
                          </m:f>
                        </m:num>
                        <m:den>
                          <m:r>
                            <a:rPr lang="fr-FR" sz="2000" b="0" i="1">
                              <a:latin typeface="Cambria Math" panose="02040503050406030204" pitchFamily="18" charset="0"/>
                            </a:rPr>
                            <m:t>0.966 </m:t>
                          </m:r>
                          <m:r>
                            <a:rPr lang="fr-FR" sz="2000" b="0" i="1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fr-F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×18.015 </m:t>
                          </m:r>
                          <m:f>
                            <m:fPr>
                              <m:type m:val="lin"/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fr-F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𝑚𝑜𝑙</m:t>
                              </m:r>
                            </m:den>
                          </m:f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000" b="0" i="1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034 </m:t>
                          </m:r>
                          <m:r>
                            <a:rPr lang="fr-FR" sz="2000" b="0" i="1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fr-F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285.338 </m:t>
                          </m:r>
                          <m:f>
                            <m:fPr>
                              <m:type m:val="lin"/>
                              <m:ctrlP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fr-F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𝑚𝑜𝑙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70" y="5799385"/>
                <a:ext cx="9334479" cy="7413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8668313" y="5143084"/>
                <a:ext cx="3047437" cy="39074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𝑚𝑜𝑟𝑝h𝑖𝑛𝑒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𝑚𝑎𝑠𝑠𝑖𝑞𝑢𝑒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0.354 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313" y="5143084"/>
                <a:ext cx="3047437" cy="390748"/>
              </a:xfrm>
              <a:prstGeom prst="rect">
                <a:avLst/>
              </a:prstGeom>
              <a:blipFill>
                <a:blip r:embed="rId8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426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22514" y="627017"/>
            <a:ext cx="489857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Exercice du cours point d’ébullition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2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87590" y="624481"/>
            <a:ext cx="9329693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2000" dirty="0" smtClean="0"/>
              <a:t> Une solution </a:t>
            </a:r>
            <a:r>
              <a:rPr lang="fr-FR" sz="2000" b="1" dirty="0" smtClean="0">
                <a:solidFill>
                  <a:srgbClr val="FF0000"/>
                </a:solidFill>
              </a:rPr>
              <a:t>aqueuse</a:t>
            </a:r>
            <a:r>
              <a:rPr lang="fr-FR" sz="2000" dirty="0" smtClean="0"/>
              <a:t> de </a:t>
            </a:r>
            <a:r>
              <a:rPr lang="fr-FR" sz="2000" b="1" dirty="0" smtClean="0"/>
              <a:t>NH</a:t>
            </a:r>
            <a:r>
              <a:rPr lang="fr-FR" sz="2000" b="1" baseline="-25000" dirty="0" smtClean="0"/>
              <a:t>4</a:t>
            </a:r>
            <a:r>
              <a:rPr lang="fr-FR" sz="2000" b="1" dirty="0" smtClean="0"/>
              <a:t>NO</a:t>
            </a:r>
            <a:r>
              <a:rPr lang="fr-FR" sz="2000" b="1" baseline="-25000" dirty="0" smtClean="0"/>
              <a:t>3</a:t>
            </a:r>
            <a:r>
              <a:rPr lang="fr-FR" sz="2000" dirty="0" smtClean="0"/>
              <a:t> a un point de congélation de -1,568°C. Quel est la fraction massique de </a:t>
            </a:r>
            <a:r>
              <a:rPr lang="fr-FR" sz="2000" b="1" dirty="0" smtClean="0"/>
              <a:t>NH</a:t>
            </a:r>
            <a:r>
              <a:rPr lang="fr-FR" sz="2000" b="1" baseline="-25000" dirty="0" smtClean="0"/>
              <a:t>4</a:t>
            </a:r>
            <a:r>
              <a:rPr lang="fr-FR" sz="2000" b="1" dirty="0" smtClean="0"/>
              <a:t>NO</a:t>
            </a:r>
            <a:r>
              <a:rPr lang="fr-FR" sz="2000" b="1" baseline="-25000" dirty="0" smtClean="0"/>
              <a:t>3</a:t>
            </a:r>
            <a:r>
              <a:rPr lang="fr-FR" sz="2000" dirty="0" smtClean="0"/>
              <a:t> dans cette solution ? 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2493395" y="4434840"/>
                <a:ext cx="4699428" cy="584519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1.568 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=0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1.86</m:t>
                      </m:r>
                      <m:f>
                        <m:f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</m:num>
                        <m:den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𝑚𝑜𝑙𝑎𝑙𝑖𝑡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395" y="4434840"/>
                <a:ext cx="4699428" cy="5845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277431" y="2921487"/>
                <a:ext cx="2335960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𝑠𝑜𝑙𝑣𝑎𝑛𝑡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</m:t>
                    </m:r>
                    <m:r>
                      <a:rPr lang="fr-F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𝑇𝑎𝑏</m:t>
                    </m:r>
                    <m:r>
                      <a:rPr lang="fr-F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3.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2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431" y="2921487"/>
                <a:ext cx="2335960" cy="369332"/>
              </a:xfrm>
              <a:prstGeom prst="rect">
                <a:avLst/>
              </a:prstGeom>
              <a:blipFill>
                <a:blip r:embed="rId3"/>
                <a:stretch>
                  <a:fillRect t="-8197" r="-15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9277431" y="3435685"/>
                <a:ext cx="2413674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𝑠𝑜𝑙𝑣𝑎𝑛𝑡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𝑇𝑎𝑏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3.2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431" y="3435685"/>
                <a:ext cx="2413674" cy="369332"/>
              </a:xfrm>
              <a:prstGeom prst="rect">
                <a:avLst/>
              </a:prstGeom>
              <a:blipFill>
                <a:blip r:embed="rId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2675692" y="1709394"/>
                <a:ext cx="6096221" cy="369332"/>
              </a:xfrm>
              <a:prstGeom prst="rect">
                <a:avLst/>
              </a:prstGeom>
              <a:solidFill>
                <a:schemeClr val="bg1"/>
              </a:solidFill>
              <a:ln w="381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𝐬𝐨𝐥𝐮𝐭𝐢𝐨𝐧</m:t>
                          </m:r>
                        </m:sub>
                      </m:sSub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𝐬𝐨𝐥𝐯𝐚𝐧𝐭</m:t>
                          </m:r>
                        </m:sub>
                      </m:sSub>
                      <m:r>
                        <a:rPr lang="fr-FR" sz="2400" b="1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1" i="0" smtClean="0">
                              <a:latin typeface="Cambria Math" panose="02040503050406030204" pitchFamily="18" charset="0"/>
                            </a:rPr>
                            <m:t>𝐬𝐨𝐥𝐯𝐚𝐧𝐭</m:t>
                          </m:r>
                        </m:sub>
                      </m:sSub>
                      <m:r>
                        <a:rPr lang="fr-FR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𝐦𝐨𝐥𝐚𝐥𝐢𝐭</m:t>
                      </m:r>
                      <m:r>
                        <a:rPr lang="fr-FR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  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692" y="1709394"/>
                <a:ext cx="6096221" cy="369332"/>
              </a:xfrm>
              <a:prstGeom prst="rect">
                <a:avLst/>
              </a:prstGeom>
              <a:blipFill>
                <a:blip r:embed="rId5"/>
                <a:stretch>
                  <a:fillRect l="-700" b="-180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9277431" y="2429044"/>
                <a:ext cx="1495922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𝑚𝑜𝑙𝑎𝑙𝑖𝑡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é=?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431" y="2429044"/>
                <a:ext cx="149592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6292" y="2708302"/>
                <a:ext cx="3277436" cy="110818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𝑠𝑜𝑙𝑣𝑎𝑛𝑡</m:t>
                    </m:r>
                  </m:oMath>
                </a14:m>
                <a:r>
                  <a:rPr lang="en-US" dirty="0" smtClean="0"/>
                  <a:t>:  eau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𝑒𝑎𝑢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 smtClean="0"/>
                  <a:t>,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𝑒𝑎𝑢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=1.86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𝑘𝑔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dirty="0" smtClean="0"/>
                  <a:t>  </a:t>
                </a:r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92" y="2708302"/>
                <a:ext cx="3277436" cy="1108188"/>
              </a:xfrm>
              <a:prstGeom prst="rect">
                <a:avLst/>
              </a:prstGeom>
              <a:blipFill>
                <a:blip r:embed="rId7"/>
                <a:stretch>
                  <a:fillRect l="-1301" r="-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277431" y="4024031"/>
                <a:ext cx="2675797" cy="6124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fr-F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𝑛𝑜𝑚𝑏𝑟𝑒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𝑖𝑜𝑛𝑠</m:t>
                          </m:r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𝑚𝑎𝑠𝑠𝑒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7431" y="4024031"/>
                <a:ext cx="2675797" cy="6124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ZoneTexte 23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5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2493395" y="1561863"/>
            <a:ext cx="6574486" cy="63534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444733" y="5444898"/>
                <a:ext cx="4725974" cy="87248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𝑎𝑙𝑖𝑡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 =0.8431 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𝑖𝑜𝑛𝑠</m:t>
                          </m:r>
                        </m:num>
                        <m:den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733" y="5444898"/>
                <a:ext cx="4725974" cy="8724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5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  <p:bldP spid="13" grpId="0" animBg="1"/>
      <p:bldP spid="10" grpId="0" animBg="1"/>
      <p:bldP spid="2" grpId="0" animBg="1"/>
      <p:bldP spid="8" grpId="0" animBg="1"/>
      <p:bldP spid="9" grpId="0" animBg="1"/>
      <p:bldP spid="20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987590" y="624481"/>
            <a:ext cx="9329693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fr-FR" sz="2000" dirty="0" smtClean="0"/>
              <a:t> Une solution </a:t>
            </a:r>
            <a:r>
              <a:rPr lang="fr-FR" sz="2000" b="1" dirty="0" smtClean="0">
                <a:solidFill>
                  <a:srgbClr val="FF0000"/>
                </a:solidFill>
              </a:rPr>
              <a:t>aqueuse</a:t>
            </a:r>
            <a:r>
              <a:rPr lang="fr-FR" sz="2000" dirty="0" smtClean="0"/>
              <a:t> de </a:t>
            </a:r>
            <a:r>
              <a:rPr lang="fr-FR" sz="2000" b="1" dirty="0" smtClean="0"/>
              <a:t>NH</a:t>
            </a:r>
            <a:r>
              <a:rPr lang="fr-FR" sz="2000" b="1" baseline="-25000" dirty="0" smtClean="0"/>
              <a:t>4</a:t>
            </a:r>
            <a:r>
              <a:rPr lang="fr-FR" sz="2000" b="1" dirty="0" smtClean="0"/>
              <a:t>NO</a:t>
            </a:r>
            <a:r>
              <a:rPr lang="fr-FR" sz="2000" b="1" baseline="-25000" dirty="0" smtClean="0"/>
              <a:t>3</a:t>
            </a:r>
            <a:r>
              <a:rPr lang="fr-FR" sz="2000" dirty="0" smtClean="0"/>
              <a:t> a un point de congélation de -1,568°C. Quel est la fraction massique de </a:t>
            </a:r>
            <a:r>
              <a:rPr lang="fr-FR" sz="2000" b="1" dirty="0" smtClean="0"/>
              <a:t>NH</a:t>
            </a:r>
            <a:r>
              <a:rPr lang="fr-FR" sz="2000" b="1" baseline="-25000" dirty="0" smtClean="0"/>
              <a:t>4</a:t>
            </a:r>
            <a:r>
              <a:rPr lang="fr-FR" sz="2000" b="1" dirty="0" smtClean="0"/>
              <a:t>NO</a:t>
            </a:r>
            <a:r>
              <a:rPr lang="fr-FR" sz="2000" b="1" baseline="-25000" dirty="0" smtClean="0"/>
              <a:t>3</a:t>
            </a:r>
            <a:r>
              <a:rPr lang="fr-FR" sz="2000" dirty="0" smtClean="0"/>
              <a:t> dans cette solution ? 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04944" y="3530922"/>
                <a:ext cx="4903914" cy="1754326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square">
                <a:spAutoFit/>
              </a:bodyPr>
              <a:lstStyle/>
              <a:p>
                <a:r>
                  <a:rPr lang="fr-FR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NH</a:t>
                </a:r>
                <a:r>
                  <a:rPr lang="fr-FR" b="1" baseline="-25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r>
                  <a:rPr lang="fr-FR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NO</a:t>
                </a:r>
                <a:r>
                  <a:rPr lang="fr-FR" b="1" baseline="-25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fr-FR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</m:t>
                    </m:r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𝑁𝐻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+</m:t>
                    </m:r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𝑁𝑂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endParaRPr lang="fr-FR" b="0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fr-FR" b="0" i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fr-FR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fr-F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44" y="3530922"/>
                <a:ext cx="4903914" cy="1754326"/>
              </a:xfrm>
              <a:prstGeom prst="rect">
                <a:avLst/>
              </a:prstGeom>
              <a:blipFill>
                <a:blip r:embed="rId2"/>
                <a:stretch>
                  <a:fillRect t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565144" y="3656104"/>
                <a:ext cx="4871526" cy="1447448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𝒌𝒈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𝑒𝑎𝑢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𝑐𝑜𝑛𝑡𝑖𝑒𝑛𝑡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𝟖𝟒𝟑𝟏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𝒎𝒐𝒍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e>
                        <m:sup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𝒊𝒐𝒏𝒔</m:t>
                      </m:r>
                      <m:r>
                        <a:rPr lang="fr-F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fr-FR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fr-FR" b="1" dirty="0" smtClean="0"/>
                            <m:t>NH</m:t>
                          </m:r>
                          <m:r>
                            <m:rPr>
                              <m:nor/>
                            </m:rPr>
                            <a:rPr lang="fr-FR" b="1" baseline="-25000" dirty="0" smtClean="0"/>
                            <m:t>4</m:t>
                          </m:r>
                          <m:r>
                            <m:rPr>
                              <m:nor/>
                            </m:rPr>
                            <a:rPr lang="fr-FR" b="1" dirty="0" smtClean="0"/>
                            <m:t>NO</m:t>
                          </m:r>
                          <m:r>
                            <m:rPr>
                              <m:nor/>
                            </m:rPr>
                            <a:rPr lang="fr-FR" b="1" baseline="-25000" dirty="0" smtClean="0"/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0.8431 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num>
                        <m:den>
                          <m: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=0.4216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144" y="3656104"/>
                <a:ext cx="4871526" cy="14474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24660" y="3942885"/>
                <a:ext cx="1106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60" y="3942885"/>
                <a:ext cx="11060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1592525" y="3930412"/>
                <a:ext cx="1106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525" y="3930412"/>
                <a:ext cx="11060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2818282" y="3955505"/>
                <a:ext cx="1106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𝑚𝑜𝑙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282" y="3955505"/>
                <a:ext cx="110604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2301341" y="4594240"/>
                <a:ext cx="162298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𝟖𝟒𝟑𝟏</m:t>
                      </m:r>
                      <m:r>
                        <a:rPr lang="fr-FR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𝐦𝐨𝐥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341" y="4594240"/>
                <a:ext cx="16229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eur droit 18"/>
          <p:cNvCxnSpPr/>
          <p:nvPr/>
        </p:nvCxnSpPr>
        <p:spPr>
          <a:xfrm>
            <a:off x="1913897" y="4408085"/>
            <a:ext cx="18087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H="1">
            <a:off x="1450418" y="4885639"/>
            <a:ext cx="695127" cy="3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565144" y="5768374"/>
                <a:ext cx="3569695" cy="49840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fr-FR" sz="24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NH</m:t>
                          </m:r>
                          <m:r>
                            <m:rPr>
                              <m:nor/>
                            </m:rPr>
                            <a:rPr lang="fr-FR" sz="2400" b="1" baseline="-25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4</m:t>
                          </m:r>
                          <m:r>
                            <m:rPr>
                              <m:nor/>
                            </m:rPr>
                            <a:rPr lang="fr-FR" sz="24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NO</m:t>
                          </m:r>
                          <m:r>
                            <m:rPr>
                              <m:nor/>
                            </m:rPr>
                            <a:rPr lang="fr-FR" sz="2400" b="1" baseline="-25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=0.4216 </m:t>
                      </m:r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</m:t>
                      </m:r>
                      <m:r>
                        <a:rPr lang="fr-F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144" y="5768374"/>
                <a:ext cx="3569695" cy="498406"/>
              </a:xfrm>
              <a:prstGeom prst="rect">
                <a:avLst/>
              </a:prstGeom>
              <a:blipFill>
                <a:blip r:embed="rId8"/>
                <a:stretch>
                  <a:fillRect b="-18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60104" y="4636009"/>
                <a:ext cx="1240981" cy="3969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fr-FR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NH</m:t>
                          </m:r>
                          <m:r>
                            <m:rPr>
                              <m:nor/>
                            </m:rPr>
                            <a:rPr lang="fr-FR" b="1" baseline="-25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4</m:t>
                          </m:r>
                          <m:r>
                            <m:rPr>
                              <m:nor/>
                            </m:rPr>
                            <a:rPr lang="fr-FR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NO</m:t>
                          </m:r>
                          <m:r>
                            <m:rPr>
                              <m:nor/>
                            </m:rPr>
                            <a:rPr lang="fr-FR" b="1" baseline="-25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04" y="4636009"/>
                <a:ext cx="1240981" cy="396904"/>
              </a:xfrm>
              <a:prstGeom prst="rect">
                <a:avLst/>
              </a:prstGeom>
              <a:blipFill>
                <a:blip r:embed="rId9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ZoneTexte 23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5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987590" y="1869596"/>
                <a:ext cx="4725974" cy="87248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F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𝑚𝑜𝑙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𝑎𝑙𝑖𝑡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 =0.8431 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𝑖𝑜𝑛𝑠</m:t>
                          </m:r>
                        </m:num>
                        <m:den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𝑒𝑎𝑢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590" y="1869596"/>
                <a:ext cx="4725974" cy="8724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6869270" y="2075004"/>
                <a:ext cx="4448013" cy="461665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𝑖𝑜𝑛𝑠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𝑒𝑛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𝑠𝑜𝑙𝑢𝑡𝑖𝑜𝑛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=0.8431</m:t>
                    </m:r>
                  </m:oMath>
                </a14:m>
                <a:r>
                  <a:rPr lang="en-US" sz="2400" dirty="0" smtClean="0"/>
                  <a:t>mol</a:t>
                </a:r>
                <a:endParaRPr lang="en-US" sz="24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270" y="2075004"/>
                <a:ext cx="4448013" cy="461665"/>
              </a:xfrm>
              <a:prstGeom prst="rect">
                <a:avLst/>
              </a:prstGeom>
              <a:blipFill>
                <a:blip r:embed="rId11"/>
                <a:stretch>
                  <a:fillRect t="-11842" r="-109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045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2" grpId="0"/>
      <p:bldP spid="15" grpId="0"/>
      <p:bldP spid="16" grpId="0"/>
      <p:bldP spid="17" grpId="0" animBg="1"/>
      <p:bldP spid="23" grpId="0" animBg="1"/>
      <p:bldP spid="14" grpId="0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067641" y="1285626"/>
                <a:ext cx="9808974" cy="41992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𝑘𝑔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𝑒𝑎𝑢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→ 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000" b="1" dirty="0" smtClean="0"/>
                          <m:t>NH</m:t>
                        </m:r>
                        <m:r>
                          <m:rPr>
                            <m:nor/>
                          </m:rPr>
                          <a:rPr lang="fr-FR" sz="2000" b="1" baseline="-25000" dirty="0" smtClean="0"/>
                          <m:t>4</m:t>
                        </m:r>
                        <m:r>
                          <m:rPr>
                            <m:nor/>
                          </m:rPr>
                          <a:rPr lang="fr-FR" sz="2000" b="1" dirty="0" smtClean="0"/>
                          <m:t>NO</m:t>
                        </m:r>
                        <m:r>
                          <m:rPr>
                            <m:nor/>
                          </m:rPr>
                          <a:rPr lang="fr-FR" sz="2000" b="1" baseline="-25000" dirty="0" smtClean="0"/>
                          <m:t>3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=0.4216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m:rPr>
                            <m:nor/>
                          </m:rPr>
                          <a:rPr lang="fr-FR" sz="2000" b="1" dirty="0" smtClean="0"/>
                          <m:t>NH</m:t>
                        </m:r>
                        <m:r>
                          <m:rPr>
                            <m:nor/>
                          </m:rPr>
                          <a:rPr lang="fr-FR" sz="2000" b="1" baseline="-25000" dirty="0" smtClean="0"/>
                          <m:t>4</m:t>
                        </m:r>
                        <m:r>
                          <m:rPr>
                            <m:nor/>
                          </m:rPr>
                          <a:rPr lang="fr-FR" sz="2000" b="1" dirty="0" smtClean="0"/>
                          <m:t>NO</m:t>
                        </m:r>
                        <m:r>
                          <m:rPr>
                            <m:nor/>
                          </m:rPr>
                          <a:rPr lang="fr-FR" sz="2000" b="1" baseline="-25000" dirty="0" smtClean="0"/>
                          <m:t>3</m:t>
                        </m:r>
                      </m:sub>
                    </m:sSub>
                  </m:oMath>
                </a14:m>
                <a:r>
                  <a:rPr lang="en-US" sz="2000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nor/>
                          </m:rPr>
                          <a:rPr lang="fr-FR" sz="2000" b="1" dirty="0" smtClean="0"/>
                          <m:t>NH</m:t>
                        </m:r>
                        <m:r>
                          <m:rPr>
                            <m:nor/>
                          </m:rPr>
                          <a:rPr lang="fr-FR" sz="2000" b="1" baseline="-25000" dirty="0" smtClean="0"/>
                          <m:t>4</m:t>
                        </m:r>
                        <m:r>
                          <m:rPr>
                            <m:nor/>
                          </m:rPr>
                          <a:rPr lang="fr-FR" sz="2000" b="1" dirty="0" smtClean="0"/>
                          <m:t>NO</m:t>
                        </m:r>
                        <m:r>
                          <m:rPr>
                            <m:nor/>
                          </m:rPr>
                          <a:rPr lang="fr-FR" sz="2000" b="1" baseline="-25000" dirty="0" smtClean="0"/>
                          <m:t>3</m:t>
                        </m:r>
                      </m:sub>
                    </m:sSub>
                    <m:r>
                      <a:rPr lang="fr-FR" sz="20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nor/>
                          </m:rPr>
                          <a:rPr lang="fr-FR" sz="2000" b="1" dirty="0" smtClean="0"/>
                          <m:t>NH</m:t>
                        </m:r>
                        <m:r>
                          <m:rPr>
                            <m:nor/>
                          </m:rPr>
                          <a:rPr lang="fr-FR" sz="2000" b="1" baseline="-25000" dirty="0" smtClean="0"/>
                          <m:t>4</m:t>
                        </m:r>
                        <m:r>
                          <m:rPr>
                            <m:nor/>
                          </m:rPr>
                          <a:rPr lang="fr-FR" sz="2000" b="1" dirty="0" smtClean="0"/>
                          <m:t>NO</m:t>
                        </m:r>
                        <m:r>
                          <m:rPr>
                            <m:nor/>
                          </m:rPr>
                          <a:rPr lang="fr-FR" sz="2000" b="1" baseline="-25000" dirty="0" smtClean="0"/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641" y="1285626"/>
                <a:ext cx="9808974" cy="419923"/>
              </a:xfrm>
              <a:prstGeom prst="rect">
                <a:avLst/>
              </a:prstGeom>
              <a:blipFill>
                <a:blip r:embed="rId2"/>
                <a:stretch>
                  <a:fillRect t="-8696" b="-20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ZoneTexte 1"/>
          <p:cNvSpPr txBox="1"/>
          <p:nvPr/>
        </p:nvSpPr>
        <p:spPr>
          <a:xfrm>
            <a:off x="2067641" y="561856"/>
            <a:ext cx="244004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Pour un 1 kg d’eau: </a:t>
            </a:r>
            <a:endParaRPr lang="en-US" sz="2000" dirty="0"/>
          </a:p>
        </p:txBody>
      </p:sp>
      <p:sp>
        <p:nvSpPr>
          <p:cNvPr id="8" name="ZoneTexte 7"/>
          <p:cNvSpPr txBox="1"/>
          <p:nvPr/>
        </p:nvSpPr>
        <p:spPr>
          <a:xfrm>
            <a:off x="114543" y="3758676"/>
            <a:ext cx="6346238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200" dirty="0" smtClean="0"/>
              <a:t>Pour une solution de </a:t>
            </a:r>
            <a:r>
              <a:rPr lang="fr-FR" sz="2200" b="1" dirty="0" smtClean="0"/>
              <a:t>NH</a:t>
            </a:r>
            <a:r>
              <a:rPr lang="fr-FR" sz="2200" b="1" baseline="-25000" dirty="0" smtClean="0"/>
              <a:t>4</a:t>
            </a:r>
            <a:r>
              <a:rPr lang="fr-FR" sz="2200" b="1" dirty="0" smtClean="0"/>
              <a:t>NO</a:t>
            </a:r>
            <a:r>
              <a:rPr lang="fr-FR" sz="2200" b="1" baseline="-25000" dirty="0" smtClean="0"/>
              <a:t>3 </a:t>
            </a:r>
            <a:r>
              <a:rPr lang="fr-FR" sz="2200" dirty="0" smtClean="0"/>
              <a:t>  et de l’eau 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2811647" y="5534804"/>
                <a:ext cx="6568721" cy="76617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𝑚𝑎𝑠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sz="2400" b="1" dirty="0" smtClean="0"/>
                            <m:t>NH</m:t>
                          </m:r>
                          <m:r>
                            <m:rPr>
                              <m:nor/>
                            </m:rPr>
                            <a:rPr lang="fr-FR" sz="2400" b="1" baseline="-25000" dirty="0" smtClean="0"/>
                            <m:t>4</m:t>
                          </m:r>
                          <m:r>
                            <m:rPr>
                              <m:nor/>
                            </m:rPr>
                            <a:rPr lang="fr-FR" sz="2400" b="1" dirty="0" smtClean="0"/>
                            <m:t>NO</m:t>
                          </m:r>
                          <m:r>
                            <m:rPr>
                              <m:nor/>
                            </m:rPr>
                            <a:rPr lang="fr-FR" sz="2400" b="1" baseline="-25000" dirty="0" smtClean="0"/>
                            <m:t>3</m:t>
                          </m:r>
                        </m:sub>
                      </m:sSub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33.75  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</m:num>
                        <m:den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33.75  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m:rPr>
                              <m:nor/>
                            </m:rPr>
                            <a:rPr lang="en-US" sz="2400" dirty="0"/>
                            <m:t> </m:t>
                          </m:r>
                          <m:r>
                            <a:rPr lang="fr-FR" sz="2400" b="0" i="1" baseline="-25000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1000 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%=3.26 %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647" y="5534804"/>
                <a:ext cx="6568721" cy="766172"/>
              </a:xfrm>
              <a:prstGeom prst="rect">
                <a:avLst/>
              </a:prstGeom>
              <a:blipFill>
                <a:blip r:embed="rId3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6656203" y="3658359"/>
                <a:ext cx="5220412" cy="9752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200" b="0" i="1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fr-F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b="0" i="1" smtClean="0">
                            <a:latin typeface="Cambria Math" panose="02040503050406030204" pitchFamily="18" charset="0"/>
                          </a:rPr>
                          <m:t>%</m:t>
                        </m:r>
                      </m:e>
                      <m:sub>
                        <m:r>
                          <a:rPr lang="fr-FR" sz="2200" b="0" i="1" smtClean="0">
                            <a:latin typeface="Cambria Math" panose="02040503050406030204" pitchFamily="18" charset="0"/>
                          </a:rPr>
                          <m:t>𝑚𝑎𝑠</m:t>
                        </m:r>
                        <m:r>
                          <m:rPr>
                            <m:nor/>
                          </m:rPr>
                          <a:rPr lang="fr-FR" sz="220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200" dirty="0" smtClean="0"/>
                          <m:t>NH</m:t>
                        </m:r>
                        <m:r>
                          <m:rPr>
                            <m:nor/>
                          </m:rPr>
                          <a:rPr lang="fr-FR" sz="2200" baseline="-25000" dirty="0" smtClean="0"/>
                          <m:t>4</m:t>
                        </m:r>
                        <m:r>
                          <m:rPr>
                            <m:nor/>
                          </m:rPr>
                          <a:rPr lang="fr-FR" sz="2200" dirty="0" smtClean="0"/>
                          <m:t>NO</m:t>
                        </m:r>
                        <m:r>
                          <m:rPr>
                            <m:nor/>
                          </m:rPr>
                          <a:rPr lang="fr-FR" sz="2200" baseline="-25000" dirty="0" smtClean="0"/>
                          <m:t>3</m:t>
                        </m:r>
                      </m:sub>
                    </m:sSub>
                    <m:r>
                      <a:rPr lang="fr-FR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fr-FR" sz="2200" dirty="0" smtClean="0"/>
                              <m:t>NH</m:t>
                            </m:r>
                            <m:r>
                              <m:rPr>
                                <m:nor/>
                              </m:rPr>
                              <a:rPr lang="fr-FR" sz="2200" baseline="-25000" dirty="0" smtClean="0"/>
                              <m:t>4</m:t>
                            </m:r>
                            <m:r>
                              <m:rPr>
                                <m:nor/>
                              </m:rPr>
                              <a:rPr lang="fr-FR" sz="2200" dirty="0" smtClean="0"/>
                              <m:t>NO</m:t>
                            </m:r>
                            <m:r>
                              <m:rPr>
                                <m:nor/>
                              </m:rPr>
                              <a:rPr lang="fr-FR" sz="2200" baseline="-25000" dirty="0" smtClean="0"/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fr-FR" sz="2200" dirty="0" smtClean="0"/>
                              <m:t>NH</m:t>
                            </m:r>
                            <m:r>
                              <m:rPr>
                                <m:nor/>
                              </m:rPr>
                              <a:rPr lang="fr-FR" sz="2200" baseline="-25000" dirty="0" smtClean="0"/>
                              <m:t>4</m:t>
                            </m:r>
                            <m:r>
                              <m:rPr>
                                <m:nor/>
                              </m:rPr>
                              <a:rPr lang="fr-FR" sz="2200" dirty="0" smtClean="0"/>
                              <m:t>NO</m:t>
                            </m:r>
                            <m:r>
                              <m:rPr>
                                <m:nor/>
                              </m:rPr>
                              <a:rPr lang="fr-FR" sz="2200" baseline="-25000" dirty="0" smtClean="0"/>
                              <m:t>3</m:t>
                            </m:r>
                          </m:sub>
                        </m:sSub>
                        <m:r>
                          <a:rPr lang="fr-FR" sz="2200" b="0" i="1" baseline="-2500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200" i="1"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fr-FR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fr-FR" sz="2200" dirty="0"/>
                              <m:t>eau</m:t>
                            </m:r>
                          </m:sub>
                        </m:sSub>
                      </m:den>
                    </m:f>
                    <m:r>
                      <a:rPr lang="fr-FR" sz="2200" b="0" i="1" smtClean="0"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r>
                  <a:rPr lang="en-US" sz="2200" dirty="0" smtClean="0"/>
                  <a:t>  </a:t>
                </a:r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203" y="3658359"/>
                <a:ext cx="5220412" cy="9752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428301" y="2086357"/>
                <a:ext cx="5127109" cy="41992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m:rPr>
                            <m:nor/>
                          </m:rPr>
                          <a:rPr lang="fr-FR" sz="2000" b="1" dirty="0" smtClean="0"/>
                          <m:t>NH</m:t>
                        </m:r>
                        <m:r>
                          <m:rPr>
                            <m:nor/>
                          </m:rPr>
                          <a:rPr lang="fr-FR" sz="2000" b="1" baseline="-25000" dirty="0" smtClean="0"/>
                          <m:t>4</m:t>
                        </m:r>
                        <m:r>
                          <m:rPr>
                            <m:nor/>
                          </m:rPr>
                          <a:rPr lang="fr-FR" sz="2000" b="1" dirty="0" smtClean="0"/>
                          <m:t>NO</m:t>
                        </m:r>
                        <m:r>
                          <m:rPr>
                            <m:nor/>
                          </m:rPr>
                          <a:rPr lang="fr-FR" sz="2000" b="1" baseline="-25000" dirty="0" smtClean="0"/>
                          <m:t>3</m:t>
                        </m:r>
                      </m:sub>
                    </m:sSub>
                  </m:oMath>
                </a14:m>
                <a:r>
                  <a:rPr lang="en-US" sz="2000" dirty="0" smtClean="0"/>
                  <a:t>=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0.4216</m:t>
                    </m:r>
                    <m:r>
                      <a:rPr lang="fr-FR" sz="20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0.0434=33.75  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301" y="2086357"/>
                <a:ext cx="5127109" cy="419923"/>
              </a:xfrm>
              <a:prstGeom prst="rect">
                <a:avLst/>
              </a:prstGeom>
              <a:blipFill>
                <a:blip r:embed="rId5"/>
                <a:stretch>
                  <a:fillRect t="-7246" b="-20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972128" y="2931279"/>
                <a:ext cx="2575320" cy="41992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m:rPr>
                            <m:nor/>
                          </m:rPr>
                          <a:rPr lang="fr-FR" sz="2000" b="1" dirty="0"/>
                          <m:t>NH</m:t>
                        </m:r>
                        <m:r>
                          <m:rPr>
                            <m:nor/>
                          </m:rPr>
                          <a:rPr lang="fr-FR" sz="2000" b="1" baseline="-25000" dirty="0"/>
                          <m:t>4</m:t>
                        </m:r>
                        <m:r>
                          <m:rPr>
                            <m:nor/>
                          </m:rPr>
                          <a:rPr lang="fr-FR" sz="2000" b="1" dirty="0"/>
                          <m:t>NO</m:t>
                        </m:r>
                        <m:r>
                          <m:rPr>
                            <m:nor/>
                          </m:rPr>
                          <a:rPr lang="fr-FR" sz="2000" b="1" baseline="-25000" dirty="0"/>
                          <m:t>3</m:t>
                        </m:r>
                      </m:sub>
                    </m:sSub>
                  </m:oMath>
                </a14:m>
                <a:r>
                  <a:rPr lang="en-US" sz="2000" dirty="0" smtClean="0"/>
                  <a:t>= 33.75 g</a:t>
                </a:r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128" y="2931279"/>
                <a:ext cx="2575320" cy="419923"/>
              </a:xfrm>
              <a:prstGeom prst="rect">
                <a:avLst/>
              </a:prstGeom>
              <a:blipFill>
                <a:blip r:embed="rId6"/>
                <a:stretch>
                  <a:fillRect t="-8696" r="-1659" b="-20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313509" y="274320"/>
            <a:ext cx="15015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Exercice #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14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8" grpId="0" animBg="1"/>
      <p:bldP spid="9" grpId="0" animBg="1"/>
      <p:bldP spid="14" grpId="0" animBg="1"/>
      <p:bldP spid="10" grpId="0" animBg="1"/>
      <p:bldP spid="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1361</TotalTime>
  <Words>427</Words>
  <Application>Microsoft Office PowerPoint</Application>
  <PresentationFormat>Grand écran</PresentationFormat>
  <Paragraphs>99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Rockwell</vt:lpstr>
      <vt:lpstr>Rockwell Condensed</vt:lpstr>
      <vt:lpstr>Wingdings</vt:lpstr>
      <vt:lpstr>Type de bois</vt:lpstr>
      <vt:lpstr>Exemples du cours:  3.6 Propriétés colligatives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Exemples du cours 3.1</dc:title>
  <dc:creator>Utilisateur Windows</dc:creator>
  <cp:lastModifiedBy>Utilisateur Windows</cp:lastModifiedBy>
  <cp:revision>82</cp:revision>
  <dcterms:created xsi:type="dcterms:W3CDTF">2020-11-11T12:15:56Z</dcterms:created>
  <dcterms:modified xsi:type="dcterms:W3CDTF">2020-12-03T16:23:15Z</dcterms:modified>
</cp:coreProperties>
</file>