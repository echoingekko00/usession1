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5" r:id="rId10"/>
    <p:sldId id="267" r:id="rId11"/>
    <p:sldId id="266" r:id="rId12"/>
    <p:sldId id="269" r:id="rId13"/>
    <p:sldId id="271" r:id="rId14"/>
    <p:sldId id="272" r:id="rId15"/>
    <p:sldId id="270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5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8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Exemples du cours 2.8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90188" y="4195789"/>
            <a:ext cx="6801612" cy="1239894"/>
          </a:xfrm>
        </p:spPr>
        <p:txBody>
          <a:bodyPr/>
          <a:lstStyle/>
          <a:p>
            <a:pPr algn="r"/>
            <a:r>
              <a:rPr lang="fr-FR" dirty="0" err="1" smtClean="0"/>
              <a:t>Z.Hamoudi</a:t>
            </a:r>
            <a:r>
              <a:rPr lang="fr-FR" dirty="0" smtClean="0"/>
              <a:t> Aut-2020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8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1501588" y="1908781"/>
                <a:ext cx="7835543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1" dirty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fr-FR" sz="3600" b="1" i="1" dirty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fr-FR" sz="3600" b="1" dirty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m:rPr>
                          <m:nor/>
                        </m:rPr>
                        <a:rPr lang="fr-FR" sz="3600" b="1" i="0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fr-FR" sz="3600" b="1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3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fr-FR" sz="36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36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3600" b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fr-FR" sz="3600" b="1" i="0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nor/>
                        </m:rPr>
                        <a:rPr lang="fr-FR" sz="3600" b="1" dirty="0"/>
                        <m:t>→</m:t>
                      </m:r>
                      <m:r>
                        <a:rPr lang="fr-FR" sz="36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3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1" i="0" dirty="0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fr-FR" sz="3600" b="1" i="0" dirty="0" smtClean="0">
                              <a:latin typeface="Cambria Math" panose="02040503050406030204" pitchFamily="18" charset="0"/>
                            </a:rPr>
                            <m:t>𝐂𝐎</m:t>
                          </m:r>
                        </m:e>
                        <m:sub>
                          <m:r>
                            <a:rPr lang="fr-FR" sz="36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3600" b="1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3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36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36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3600" b="1" i="0" dirty="0" smtClean="0">
                          <a:latin typeface="Cambria Math" panose="02040503050406030204" pitchFamily="18" charset="0"/>
                        </a:rPr>
                        <m:t>𝐎</m:t>
                      </m:r>
                    </m:oMath>
                  </m:oMathPara>
                </a14:m>
                <a:endParaRPr lang="en-US" sz="3600" b="1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588" y="1908781"/>
                <a:ext cx="783554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cteur droit 4"/>
          <p:cNvCxnSpPr/>
          <p:nvPr/>
        </p:nvCxnSpPr>
        <p:spPr>
          <a:xfrm>
            <a:off x="5130150" y="2717074"/>
            <a:ext cx="0" cy="24166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/>
          <p:cNvSpPr txBox="1"/>
          <p:nvPr/>
        </p:nvSpPr>
        <p:spPr>
          <a:xfrm>
            <a:off x="496389" y="1045029"/>
            <a:ext cx="4673587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Analyse d’un procédé chimique</a:t>
            </a:r>
            <a:endParaRPr lang="en-US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501589" y="2951333"/>
            <a:ext cx="15936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Entrée</a:t>
            </a: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5480375" y="2951333"/>
            <a:ext cx="15936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Sortie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1501589" y="3466317"/>
            <a:ext cx="2922595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/>
              <a:t>Déterminez le réactif limitant</a:t>
            </a:r>
            <a:endParaRPr lang="en-US" sz="1600" dirty="0"/>
          </a:p>
        </p:txBody>
      </p:sp>
      <p:sp>
        <p:nvSpPr>
          <p:cNvPr id="11" name="ZoneTexte 10"/>
          <p:cNvSpPr txBox="1"/>
          <p:nvPr/>
        </p:nvSpPr>
        <p:spPr>
          <a:xfrm>
            <a:off x="1501589" y="3950523"/>
            <a:ext cx="2854371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/>
              <a:t>% d’excès des autres réactifs</a:t>
            </a:r>
            <a:endParaRPr lang="en-US" sz="1600" dirty="0"/>
          </a:p>
        </p:txBody>
      </p:sp>
      <p:sp>
        <p:nvSpPr>
          <p:cNvPr id="12" name="ZoneTexte 11"/>
          <p:cNvSpPr txBox="1"/>
          <p:nvPr/>
        </p:nvSpPr>
        <p:spPr>
          <a:xfrm>
            <a:off x="5480375" y="3470437"/>
            <a:ext cx="5513432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/>
              <a:t>Déterminez le rendement en l’un des produit de la réaction</a:t>
            </a:r>
            <a:endParaRPr lang="en-US" sz="1600" dirty="0"/>
          </a:p>
        </p:txBody>
      </p:sp>
      <p:sp>
        <p:nvSpPr>
          <p:cNvPr id="13" name="ZoneTexte 12"/>
          <p:cNvSpPr txBox="1"/>
          <p:nvPr/>
        </p:nvSpPr>
        <p:spPr>
          <a:xfrm>
            <a:off x="1501588" y="4434729"/>
            <a:ext cx="2572371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/>
              <a:t>La conversion du limitant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809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2947879" y="2428327"/>
                <a:ext cx="64250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:r>
                  <a:rPr lang="fr-FR" sz="3600" b="1" dirty="0" smtClean="0">
                    <a:solidFill>
                      <a:srgbClr val="FF0000"/>
                    </a:solidFill>
                  </a:rPr>
                  <a:t>2</a:t>
                </a:r>
                <a:r>
                  <a:rPr lang="fr-FR" sz="3600" b="1" dirty="0" smtClean="0"/>
                  <a:t>Al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3600" b="1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sz="3600" b="1" dirty="0" smtClean="0">
                        <a:latin typeface="Cambria Math" panose="02040503050406030204" pitchFamily="18" charset="0"/>
                      </a:rPr>
                      <m:t>   +      </m:t>
                    </m:r>
                    <m:r>
                      <a:rPr lang="fr-FR" sz="36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fr-FR" sz="3600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nor/>
                      </m:rPr>
                      <a:rPr lang="fr-FR" sz="3600" b="1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fr-FR" sz="3600" b="1" dirty="0"/>
                      <m:t>→</m:t>
                    </m:r>
                    <m:r>
                      <a:rPr lang="fr-FR" sz="36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3600" b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𝐀𝐥</m:t>
                        </m:r>
                      </m:e>
                      <m:sub>
                        <m:r>
                          <a:rPr lang="fr-FR" sz="3600" b="1" i="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fr-FR" sz="3600" b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sz="3600" b="1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879" y="2428327"/>
                <a:ext cx="6425029" cy="646331"/>
              </a:xfrm>
              <a:prstGeom prst="rect">
                <a:avLst/>
              </a:prstGeom>
              <a:blipFill>
                <a:blip r:embed="rId2"/>
                <a:stretch>
                  <a:fillRect l="-2941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cteur droit 4"/>
          <p:cNvCxnSpPr/>
          <p:nvPr/>
        </p:nvCxnSpPr>
        <p:spPr>
          <a:xfrm>
            <a:off x="6576441" y="3236620"/>
            <a:ext cx="0" cy="24166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/>
          <p:cNvSpPr txBox="1"/>
          <p:nvPr/>
        </p:nvSpPr>
        <p:spPr>
          <a:xfrm>
            <a:off x="267789" y="993456"/>
            <a:ext cx="183652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#1</a:t>
            </a:r>
            <a:endParaRPr lang="en-US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2185539" y="3606050"/>
            <a:ext cx="15936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Entrée</a:t>
            </a: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6928336" y="3550129"/>
            <a:ext cx="15936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Sortie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2104317" y="4083589"/>
            <a:ext cx="4327275" cy="144655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u="sng" dirty="0" smtClean="0"/>
              <a:t>Quantités fournies à l’entrée: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accent3">
                    <a:lumMod val="50000"/>
                  </a:schemeClr>
                </a:solidFill>
              </a:rPr>
              <a:t>0.08 mol de 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accent3">
                    <a:lumMod val="50000"/>
                  </a:schemeClr>
                </a:solidFill>
              </a:rPr>
              <a:t>0.09 mol de S</a:t>
            </a:r>
            <a:endParaRPr lang="en-US" sz="2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926666" y="3989983"/>
            <a:ext cx="599844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/>
              <a:t>?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417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2802406" y="1867218"/>
                <a:ext cx="64250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:r>
                  <a:rPr lang="fr-FR" sz="3600" b="1" dirty="0" smtClean="0">
                    <a:solidFill>
                      <a:srgbClr val="FF0000"/>
                    </a:solidFill>
                  </a:rPr>
                  <a:t>2</a:t>
                </a:r>
                <a:r>
                  <a:rPr lang="fr-FR" sz="3600" b="1" dirty="0" smtClean="0"/>
                  <a:t>Al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3600" b="1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sz="3600" b="1" dirty="0" smtClean="0">
                        <a:latin typeface="Cambria Math" panose="02040503050406030204" pitchFamily="18" charset="0"/>
                      </a:rPr>
                      <m:t>   +      </m:t>
                    </m:r>
                    <m:r>
                      <a:rPr lang="fr-FR" sz="36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fr-FR" sz="3600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nor/>
                      </m:rPr>
                      <a:rPr lang="fr-FR" sz="3600" b="1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fr-FR" sz="3600" b="1" dirty="0"/>
                      <m:t>→</m:t>
                    </m:r>
                    <m:r>
                      <a:rPr lang="fr-FR" sz="36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3600" b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𝐀𝐥</m:t>
                        </m:r>
                      </m:e>
                      <m:sub>
                        <m:r>
                          <a:rPr lang="fr-FR" sz="3600" b="1" i="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fr-FR" sz="3600" b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fr-FR" sz="3600" b="1" i="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sz="3600" b="1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406" y="1867218"/>
                <a:ext cx="6425029" cy="646331"/>
              </a:xfrm>
              <a:prstGeom prst="rect">
                <a:avLst/>
              </a:prstGeom>
              <a:blipFill>
                <a:blip r:embed="rId2"/>
                <a:stretch>
                  <a:fillRect l="-2941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267789" y="993456"/>
            <a:ext cx="183652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#1</a:t>
            </a:r>
            <a:endParaRPr lang="en-US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67789" y="3221182"/>
            <a:ext cx="401089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+mj-lt"/>
              </a:rPr>
              <a:t>a) Quel est le réactif limitant?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67789" y="4048777"/>
            <a:ext cx="6590211" cy="4308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200" dirty="0" smtClean="0">
                <a:latin typeface="+mj-lt"/>
              </a:rPr>
              <a:t>i .  Transformer les quantités fournies en moles</a:t>
            </a:r>
            <a:endParaRPr lang="en-US" sz="2200" dirty="0">
              <a:latin typeface="+mj-lt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894813" y="3779444"/>
            <a:ext cx="2819041" cy="7694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accent3">
                    <a:lumMod val="50000"/>
                  </a:schemeClr>
                </a:solidFill>
              </a:rPr>
              <a:t>0.08 mol de 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accent3">
                    <a:lumMod val="50000"/>
                  </a:schemeClr>
                </a:solidFill>
              </a:rPr>
              <a:t>0.09 mol de S</a:t>
            </a:r>
            <a:endParaRPr lang="en-US" sz="2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7232073" y="4093104"/>
                <a:ext cx="831273" cy="37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73" y="4093104"/>
                <a:ext cx="831273" cy="3730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/>
              <p:cNvSpPr txBox="1"/>
              <p:nvPr/>
            </p:nvSpPr>
            <p:spPr>
              <a:xfrm>
                <a:off x="267789" y="4987243"/>
                <a:ext cx="6964284" cy="58548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2200" dirty="0" smtClean="0">
                    <a:latin typeface="+mj-lt"/>
                  </a:rPr>
                  <a:t>ii .  Calculer les rapports: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200" b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b="1" i="0" smtClean="0">
                                <a:latin typeface="Cambria Math" panose="020405030504060302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fr-FR" sz="2200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  <m:r>
                              <a:rPr lang="fr-FR" sz="2200" b="1" i="0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2200" b="1" i="0" smtClean="0">
                                <a:latin typeface="Cambria Math" panose="02040503050406030204" pitchFamily="18" charset="0"/>
                              </a:rPr>
                              <m:t>𝐚𝐜𝐭𝐢𝐟</m:t>
                            </m:r>
                          </m:sub>
                        </m:sSub>
                      </m:num>
                      <m:den>
                        <m:r>
                          <a:rPr lang="fr-FR" sz="2200" b="1" i="0" smtClean="0">
                            <a:latin typeface="Cambria Math" panose="02040503050406030204" pitchFamily="18" charset="0"/>
                          </a:rPr>
                          <m:t>𝐜𝐨𝐞𝐟𝐟𝐢𝐜𝐢𝐞𝐧𝐭</m:t>
                        </m:r>
                        <m:r>
                          <a:rPr lang="fr-FR" sz="2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200" b="1" i="0" smtClean="0">
                            <a:latin typeface="Cambria Math" panose="02040503050406030204" pitchFamily="18" charset="0"/>
                          </a:rPr>
                          <m:t>𝐬𝐭𝐨𝐞𝐜𝐡𝐢𝐨𝐦</m:t>
                        </m:r>
                        <m:r>
                          <a:rPr lang="fr-FR" sz="2200" b="1" i="0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200" b="1" i="0" smtClean="0">
                            <a:latin typeface="Cambria Math" panose="02040503050406030204" pitchFamily="18" charset="0"/>
                          </a:rPr>
                          <m:t>𝐭𝐫𝐢𝐪𝐮𝐞</m:t>
                        </m:r>
                      </m:den>
                    </m:f>
                  </m:oMath>
                </a14:m>
                <a:endParaRPr lang="en-US" sz="2200" b="1" dirty="0">
                  <a:latin typeface="+mj-lt"/>
                </a:endParaRPr>
              </a:p>
            </p:txBody>
          </p:sp>
        </mc:Choice>
        <mc:Fallback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9" y="4987243"/>
                <a:ext cx="6964284" cy="585481"/>
              </a:xfrm>
              <a:prstGeom prst="rect">
                <a:avLst/>
              </a:prstGeom>
              <a:blipFill>
                <a:blip r:embed="rId4"/>
                <a:stretch>
                  <a:fillRect l="-1138" t="-1042"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/>
              <p:cNvSpPr txBox="1"/>
              <p:nvPr/>
            </p:nvSpPr>
            <p:spPr>
              <a:xfrm>
                <a:off x="7894813" y="4881845"/>
                <a:ext cx="3910879" cy="9894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sz="2000" b="1" dirty="0" smtClean="0">
                    <a:solidFill>
                      <a:schemeClr val="accent3">
                        <a:lumMod val="50000"/>
                      </a:schemeClr>
                    </a:solidFill>
                  </a:rPr>
                  <a:t>Pour Al: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𝟎𝟖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𝒎𝒐𝒍</m:t>
                        </m:r>
                      </m:num>
                      <m:den>
                        <m:r>
                          <a:rPr lang="fr-FR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𝟎𝟒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fr-FR" sz="2000" b="1" dirty="0" smtClean="0">
                  <a:solidFill>
                    <a:schemeClr val="accent3">
                      <a:lumMod val="50000"/>
                    </a:schemeClr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sz="2000" b="1" dirty="0">
                    <a:solidFill>
                      <a:schemeClr val="accent3">
                        <a:lumMod val="50000"/>
                      </a:schemeClr>
                    </a:solidFill>
                  </a:rPr>
                  <a:t>Pour </a:t>
                </a:r>
                <a:r>
                  <a:rPr lang="fr-FR" sz="2000" b="1" dirty="0" smtClean="0">
                    <a:solidFill>
                      <a:schemeClr val="accent3">
                        <a:lumMod val="50000"/>
                      </a:schemeClr>
                    </a:solidFill>
                  </a:rPr>
                  <a:t>S: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𝟎𝟗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𝒎𝒐𝒍</m:t>
                        </m:r>
                      </m:num>
                      <m:den>
                        <m:r>
                          <a:rPr lang="fr-FR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𝟎𝟑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fr-FR" sz="20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813" y="4881845"/>
                <a:ext cx="3910879" cy="989438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/>
              <p:cNvSpPr txBox="1"/>
              <p:nvPr/>
            </p:nvSpPr>
            <p:spPr>
              <a:xfrm>
                <a:off x="7232073" y="5185459"/>
                <a:ext cx="831273" cy="37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73" y="5185459"/>
                <a:ext cx="831273" cy="3730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ZoneTexte 16"/>
          <p:cNvSpPr txBox="1"/>
          <p:nvPr/>
        </p:nvSpPr>
        <p:spPr>
          <a:xfrm>
            <a:off x="267789" y="6135029"/>
            <a:ext cx="6964284" cy="4308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200" dirty="0" smtClean="0">
                <a:latin typeface="+mj-lt"/>
              </a:rPr>
              <a:t>iii .  Le rapport le plus petit correspondra au réactif limitant</a:t>
            </a:r>
            <a:endParaRPr lang="en-US" sz="2200" b="1" dirty="0">
              <a:latin typeface="+mj-lt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7894813" y="6164194"/>
            <a:ext cx="2523448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lvl="1"/>
            <a:r>
              <a:rPr lang="fr-FR" sz="2000" b="1" dirty="0" smtClean="0">
                <a:solidFill>
                  <a:schemeClr val="accent3">
                    <a:lumMod val="50000"/>
                  </a:schemeClr>
                </a:solidFill>
              </a:rPr>
              <a:t>S est le limitant</a:t>
            </a:r>
            <a:endParaRPr lang="fr-FR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/>
              <p:cNvSpPr txBox="1"/>
              <p:nvPr/>
            </p:nvSpPr>
            <p:spPr>
              <a:xfrm>
                <a:off x="7232072" y="6207125"/>
                <a:ext cx="831273" cy="37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72" y="6207125"/>
                <a:ext cx="831273" cy="3730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81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1" grpId="0" animBg="1"/>
      <p:bldP spid="13" grpId="0" animBg="1"/>
      <p:bldP spid="7" grpId="0"/>
      <p:bldP spid="14" grpId="0" animBg="1"/>
      <p:bldP spid="15" grpId="0" animBg="1"/>
      <p:bldP spid="16" grpId="0"/>
      <p:bldP spid="17" grpId="0" animBg="1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2643518" y="3054485"/>
                <a:ext cx="5004190" cy="5232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:r>
                  <a:rPr lang="fr-FR" sz="2800" b="1" dirty="0" smtClean="0">
                    <a:solidFill>
                      <a:srgbClr val="FF0000"/>
                    </a:solidFill>
                  </a:rPr>
                  <a:t>2</a:t>
                </a:r>
                <a:r>
                  <a:rPr lang="fr-FR" sz="2800" b="1" dirty="0" smtClean="0"/>
                  <a:t>Al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800" b="1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sz="2800" b="1" dirty="0" smtClean="0">
                        <a:latin typeface="Cambria Math" panose="02040503050406030204" pitchFamily="18" charset="0"/>
                      </a:rPr>
                      <m:t>   +      </m:t>
                    </m:r>
                    <m:r>
                      <a:rPr lang="fr-FR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fr-FR" sz="2800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nor/>
                      </m:rPr>
                      <a:rPr lang="fr-FR" sz="2800" b="1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fr-FR" sz="2800" b="1" dirty="0"/>
                      <m:t>→</m:t>
                    </m:r>
                    <m:r>
                      <a:rPr lang="fr-FR" sz="28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800" b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0" dirty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fr-FR" sz="2800" b="1" i="0" dirty="0" smtClean="0">
                            <a:latin typeface="Cambria Math" panose="02040503050406030204" pitchFamily="18" charset="0"/>
                          </a:rPr>
                          <m:t>𝐀𝐥</m:t>
                        </m:r>
                      </m:e>
                      <m:sub>
                        <m:r>
                          <a:rPr lang="fr-FR" sz="2800" b="1" i="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fr-FR" sz="2800" b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0" dirty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fr-FR" sz="2800" b="1" i="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518" y="3054485"/>
                <a:ext cx="5004190" cy="523220"/>
              </a:xfrm>
              <a:prstGeom prst="rect">
                <a:avLst/>
              </a:prstGeom>
              <a:blipFill>
                <a:blip r:embed="rId2"/>
                <a:stretch>
                  <a:fillRect l="-255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267789" y="928141"/>
            <a:ext cx="183652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#1</a:t>
            </a:r>
            <a:endParaRPr lang="en-US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67789" y="1785829"/>
            <a:ext cx="401089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+mj-lt"/>
              </a:rPr>
              <a:t>b) Le nombre de Al requis?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67788" y="2407999"/>
            <a:ext cx="1097933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Du moment ou on a déterminer le limitant, tous les calculs qui suivront doivent impliquer le limitant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2547257" y="3054485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239492" y="3054485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eur en arc 8"/>
          <p:cNvCxnSpPr/>
          <p:nvPr/>
        </p:nvCxnSpPr>
        <p:spPr>
          <a:xfrm rot="16200000" flipH="1">
            <a:off x="3596031" y="2773791"/>
            <a:ext cx="12700" cy="169223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2337856" y="4464537"/>
                <a:ext cx="3625736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𝐦𝐨𝐥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latin typeface="Cambria Math" panose="02040503050406030204" pitchFamily="18" charset="0"/>
                            </a:rPr>
                            <m:t>𝐀𝐥</m:t>
                          </m:r>
                        </m:e>
                        <m:sub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𝐒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856" y="4464537"/>
                <a:ext cx="362573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/>
              <p:cNvSpPr/>
              <p:nvPr/>
            </p:nvSpPr>
            <p:spPr>
              <a:xfrm>
                <a:off x="2337856" y="5187927"/>
                <a:ext cx="4164858" cy="4678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2000" b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 smtClean="0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fr-FR" sz="2000" b="1" i="0" dirty="0" smtClean="0">
                                  <a:latin typeface="Cambria Math" panose="02040503050406030204" pitchFamily="18" charset="0"/>
                                </a:rPr>
                                <m:t>𝐀𝐥</m:t>
                              </m:r>
                              <m:r>
                                <a:rPr lang="fr-FR" sz="2000" b="1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1" i="0" dirty="0" smtClean="0">
                                  <a:latin typeface="Cambria Math" panose="02040503050406030204" pitchFamily="18" charset="0"/>
                                </a:rPr>
                                <m:t>𝐑𝐞𝐪𝐮𝐢𝐬</m:t>
                              </m:r>
                            </m:sub>
                          </m:sSub>
                        </m:e>
                        <m:sub>
                          <m:r>
                            <a:rPr lang="fr-FR" sz="20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fr-FR" sz="20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20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0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𝟎𝟗</m:t>
                      </m:r>
                      <m:r>
                        <a:rPr lang="fr-FR" sz="20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sz="2000" b="1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856" y="5187927"/>
                <a:ext cx="4164858" cy="467885"/>
              </a:xfrm>
              <a:prstGeom prst="rect">
                <a:avLst/>
              </a:prstGeom>
              <a:blipFill>
                <a:blip r:embed="rId4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avec flèche 28"/>
          <p:cNvCxnSpPr/>
          <p:nvPr/>
        </p:nvCxnSpPr>
        <p:spPr>
          <a:xfrm>
            <a:off x="3602381" y="4864647"/>
            <a:ext cx="1309253" cy="418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3383280" y="4864647"/>
            <a:ext cx="1894114" cy="418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272" y="6086859"/>
            <a:ext cx="9500958" cy="504355"/>
          </a:xfrm>
          <a:prstGeom prst="rect">
            <a:avLst/>
          </a:prstGeom>
        </p:spPr>
      </p:pic>
      <p:sp>
        <p:nvSpPr>
          <p:cNvPr id="35" name="ZoneTexte 34"/>
          <p:cNvSpPr txBox="1"/>
          <p:nvPr/>
        </p:nvSpPr>
        <p:spPr>
          <a:xfrm>
            <a:off x="8528413" y="3646569"/>
            <a:ext cx="3064042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Le restant en Al: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7565886" y="4153658"/>
            <a:ext cx="4409864" cy="15936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7966093" y="4255734"/>
                <a:ext cx="3281026" cy="4966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𝑨𝒍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𝒇𝒐𝒖𝒓𝒏𝒊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</a:rPr>
                      <m:t>  −</m:t>
                    </m:r>
                  </m:oMath>
                </a14:m>
                <a:r>
                  <a:rPr lang="en-US" sz="2400" b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𝑨𝒍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𝑹𝒆𝒒𝒖𝒊𝒔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093" y="4255734"/>
                <a:ext cx="3281026" cy="496674"/>
              </a:xfrm>
              <a:prstGeom prst="rect">
                <a:avLst/>
              </a:prstGeom>
              <a:blipFill>
                <a:blip r:embed="rId6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7749521" y="5060382"/>
                <a:ext cx="42594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𝟎𝟖𝟎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𝐦𝐨𝐥</m:t>
                    </m:r>
                    <m:r>
                      <a:rPr lang="fr-FR" b="1" i="0">
                        <a:latin typeface="Cambria Math" panose="02040503050406030204" pitchFamily="18" charset="0"/>
                      </a:rPr>
                      <m:t>  −</m:t>
                    </m:r>
                  </m:oMath>
                </a14:m>
                <a:r>
                  <a:rPr lang="en-US" b="1" dirty="0"/>
                  <a:t>  </a:t>
                </a:r>
                <a14:m>
                  <m:oMath xmlns:m="http://schemas.openxmlformats.org/officeDocument/2006/math"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𝟎𝟓𝟑</m:t>
                    </m:r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𝐦𝐨𝐥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𝟎𝟐𝟕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𝐦𝐨𝐥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521" y="5060382"/>
                <a:ext cx="42594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40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20" grpId="0" animBg="1"/>
      <p:bldP spid="21" grpId="0" animBg="1"/>
      <p:bldP spid="27" grpId="0" animBg="1"/>
      <p:bldP spid="35" grpId="0" animBg="1"/>
      <p:bldP spid="36" grpId="0" animBg="1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1670919" y="1556084"/>
            <a:ext cx="9228098" cy="742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737937" y="779150"/>
                <a:ext cx="10443410" cy="14234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05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r>
                  <a:rPr lang="fr-FR" sz="2400" dirty="0">
                    <a:latin typeface="Times New Roman" panose="02020603050405020304" pitchFamily="18" charset="0"/>
                  </a:rPr>
                  <a:t>On fait réagir 4.10 g de Zn (s) avec 6.503 g de HNO3 (</a:t>
                </a:r>
                <a:r>
                  <a:rPr lang="fr-FR" sz="2400" dirty="0" err="1">
                    <a:latin typeface="Times New Roman" panose="02020603050405020304" pitchFamily="18" charset="0"/>
                  </a:rPr>
                  <a:t>aq</a:t>
                </a:r>
                <a:r>
                  <a:rPr lang="fr-FR" sz="2400" dirty="0">
                    <a:latin typeface="Times New Roman" panose="02020603050405020304" pitchFamily="18" charset="0"/>
                  </a:rPr>
                  <a:t>), cette réaction conduit à : </a:t>
                </a:r>
                <a:endParaRPr lang="fr-FR" sz="2400" dirty="0" smtClean="0">
                  <a:latin typeface="Times New Roman" panose="02020603050405020304" pitchFamily="18" charset="0"/>
                </a:endParaRPr>
              </a:p>
              <a:p>
                <a:r>
                  <a:rPr lang="fr-FR" sz="2400" b="1" dirty="0">
                    <a:latin typeface="Times New Roman" panose="02020603050405020304" pitchFamily="18" charset="0"/>
                  </a:rPr>
                  <a:t> </a:t>
                </a:r>
                <a:endParaRPr lang="fr-FR" sz="2400" b="1" dirty="0" smtClean="0">
                  <a:latin typeface="Times New Roman" panose="02020603050405020304" pitchFamily="18" charset="0"/>
                </a:endParaRPr>
              </a:p>
              <a:p>
                <a:pPr algn="ctr"/>
                <a:r>
                  <a:rPr lang="fr-FR" b="1" dirty="0">
                    <a:latin typeface="Times New Roman" panose="02020603050405020304" pitchFamily="18" charset="0"/>
                  </a:rPr>
                  <a:t> </a:t>
                </a:r>
                <a:r>
                  <a:rPr lang="fr-FR" b="1" dirty="0" smtClean="0">
                    <a:latin typeface="Times New Roman" panose="02020603050405020304" pitchFamily="18" charset="0"/>
                  </a:rPr>
                  <a:t>             </a:t>
                </a:r>
                <a:r>
                  <a:rPr lang="fr-FR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fr-FR" b="1" dirty="0" smtClean="0">
                    <a:latin typeface="Times New Roman" panose="02020603050405020304" pitchFamily="18" charset="0"/>
                  </a:rPr>
                  <a:t> 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Zn </a:t>
                </a:r>
                <a14:m>
                  <m:oMath xmlns:m="http://schemas.openxmlformats.org/officeDocument/2006/math">
                    <m:r>
                      <a:rPr lang="fr-FR" sz="2800" b="1" i="1" baseline="-2500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800" b="1" i="1" baseline="-25000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fr-FR" sz="2800" b="1" i="1" baseline="-2500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800" b="1" dirty="0">
                    <a:latin typeface="Times New Roman" panose="02020603050405020304" pitchFamily="18" charset="0"/>
                  </a:rPr>
                  <a:t>+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 </a:t>
                </a:r>
                <a:r>
                  <a:rPr lang="fr-FR" sz="28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fr-FR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HNO</a:t>
                </a:r>
                <a:r>
                  <a:rPr lang="fr-FR" sz="2800" b="1" baseline="-25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               </a:t>
                </a:r>
                <a:r>
                  <a:rPr lang="fr-FR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 Zn </a:t>
                </a:r>
                <a:r>
                  <a:rPr lang="fr-FR" sz="2800" b="1" dirty="0">
                    <a:latin typeface="Times New Roman" panose="02020603050405020304" pitchFamily="18" charset="0"/>
                  </a:rPr>
                  <a:t>(NO</a:t>
                </a:r>
                <a:r>
                  <a:rPr lang="fr-FR" sz="2800" b="1" baseline="-25000" dirty="0">
                    <a:latin typeface="Times New Roman" panose="02020603050405020304" pitchFamily="18" charset="0"/>
                  </a:rPr>
                  <a:t>3</a:t>
                </a:r>
                <a:r>
                  <a:rPr lang="fr-FR" sz="2800" b="1" dirty="0">
                    <a:latin typeface="Times New Roman" panose="02020603050405020304" pitchFamily="18" charset="0"/>
                  </a:rPr>
                  <a:t>)</a:t>
                </a:r>
                <a:r>
                  <a:rPr lang="fr-FR" sz="28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fr-FR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+ </a:t>
                </a:r>
                <a:r>
                  <a:rPr lang="fr-FR" sz="28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b 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H</a:t>
                </a:r>
                <a:r>
                  <a:rPr lang="fr-FR" sz="2800" b="1" baseline="-25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O </a:t>
                </a:r>
                <a:r>
                  <a:rPr lang="fr-FR" sz="2800" b="1" dirty="0">
                    <a:latin typeface="Times New Roman" panose="02020603050405020304" pitchFamily="18" charset="0"/>
                  </a:rPr>
                  <a:t>+ </a:t>
                </a:r>
                <a:r>
                  <a:rPr lang="fr-FR" sz="28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c </a:t>
                </a:r>
                <a:r>
                  <a:rPr lang="fr-FR" sz="2800" b="1" dirty="0" smtClean="0">
                    <a:latin typeface="Times New Roman" panose="02020603050405020304" pitchFamily="18" charset="0"/>
                  </a:rPr>
                  <a:t>NO</a:t>
                </a:r>
                <a:r>
                  <a:rPr lang="fr-FR" sz="2800" b="1" baseline="-25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fr-FR" sz="1200" b="1" dirty="0" smtClean="0">
                    <a:latin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7" y="779150"/>
                <a:ext cx="10443410" cy="1423467"/>
              </a:xfrm>
              <a:prstGeom prst="rect">
                <a:avLst/>
              </a:prstGeom>
              <a:blipFill>
                <a:blip r:embed="rId2"/>
                <a:stretch>
                  <a:fillRect l="-876" r="-1459" b="-11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203619" y="317485"/>
            <a:ext cx="192148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2</a:t>
            </a:r>
            <a:endParaRPr lang="en-US" sz="2400" b="1" dirty="0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5149562" y="1989221"/>
            <a:ext cx="5935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400870" y="2631786"/>
            <a:ext cx="401089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+mj-lt"/>
              </a:rPr>
              <a:t> Quel est le réactif limitant?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68071" y="2631786"/>
            <a:ext cx="6898288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On ne peut pas chercher le réactif limitant si on a pas équilibré l’équation chimique</a:t>
            </a:r>
            <a:endParaRPr lang="en-US" sz="2000" dirty="0"/>
          </a:p>
        </p:txBody>
      </p:sp>
      <p:graphicFrame>
        <p:nvGraphicFramePr>
          <p:cNvPr id="21" name="Tableau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970718"/>
              </p:ext>
            </p:extLst>
          </p:nvPr>
        </p:nvGraphicFramePr>
        <p:xfrm>
          <a:off x="458018" y="3589727"/>
          <a:ext cx="11243880" cy="27127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52481">
                  <a:extLst>
                    <a:ext uri="{9D8B030D-6E8A-4147-A177-3AD203B41FA5}">
                      <a16:colId xmlns:a16="http://schemas.microsoft.com/office/drawing/2014/main" val="724640854"/>
                    </a:ext>
                  </a:extLst>
                </a:gridCol>
                <a:gridCol w="2991488">
                  <a:extLst>
                    <a:ext uri="{9D8B030D-6E8A-4147-A177-3AD203B41FA5}">
                      <a16:colId xmlns:a16="http://schemas.microsoft.com/office/drawing/2014/main" val="1446764094"/>
                    </a:ext>
                  </a:extLst>
                </a:gridCol>
                <a:gridCol w="3034146">
                  <a:extLst>
                    <a:ext uri="{9D8B030D-6E8A-4147-A177-3AD203B41FA5}">
                      <a16:colId xmlns:a16="http://schemas.microsoft.com/office/drawing/2014/main" val="3701630959"/>
                    </a:ext>
                  </a:extLst>
                </a:gridCol>
                <a:gridCol w="3965765">
                  <a:extLst>
                    <a:ext uri="{9D8B030D-6E8A-4147-A177-3AD203B41FA5}">
                      <a16:colId xmlns:a16="http://schemas.microsoft.com/office/drawing/2014/main" val="1886028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Type d’atome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À gauche de l’équation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À droite de l’équation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équation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36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 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64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83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 smtClean="0"/>
                    </a:p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524609"/>
                  </a:ext>
                </a:extLst>
              </a:tr>
              <a:tr h="356755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 smtClean="0"/>
                    </a:p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7177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2846713" y="4267506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/>
              <a:t>1</a:t>
            </a:r>
            <a:endParaRPr lang="en-US" b="1" dirty="0"/>
          </a:p>
        </p:txBody>
      </p:sp>
      <p:sp>
        <p:nvSpPr>
          <p:cNvPr id="23" name="Rectangle 22"/>
          <p:cNvSpPr/>
          <p:nvPr/>
        </p:nvSpPr>
        <p:spPr>
          <a:xfrm>
            <a:off x="6130118" y="4243605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/>
              <a:t>1</a:t>
            </a:r>
            <a:endParaRPr lang="en-US" b="1" dirty="0"/>
          </a:p>
        </p:txBody>
      </p:sp>
      <p:sp>
        <p:nvSpPr>
          <p:cNvPr id="24" name="Rectangle 23"/>
          <p:cNvSpPr/>
          <p:nvPr/>
        </p:nvSpPr>
        <p:spPr>
          <a:xfrm>
            <a:off x="2837095" y="4679770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/>
              <a:t>a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5904004" y="4642008"/>
                <a:ext cx="7938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004" y="4642008"/>
                <a:ext cx="7938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2827420" y="5167921"/>
                <a:ext cx="3690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420" y="5167921"/>
                <a:ext cx="3690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5893585" y="5176327"/>
            <a:ext cx="816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/>
              <a:t>2 </a:t>
            </a:r>
            <a:r>
              <a:rPr lang="fr-FR" b="1" dirty="0" smtClean="0"/>
              <a:t>+ C 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2646555" y="5805229"/>
                <a:ext cx="7745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555" y="5805229"/>
                <a:ext cx="7745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5537134" y="5805229"/>
                <a:ext cx="16001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134" y="5805229"/>
                <a:ext cx="16001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862800" y="4710850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H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5605" y="4274435"/>
            <a:ext cx="505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Zn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57363" y="5228037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N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72178" y="5840160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O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413523" y="424672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1 =1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9130593" y="4637776"/>
                <a:ext cx="1212190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fr-FR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593" y="4637776"/>
                <a:ext cx="12121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9130593" y="5146338"/>
                <a:ext cx="1290738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𝐂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593" y="5146338"/>
                <a:ext cx="129073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8598276" y="5848772"/>
                <a:ext cx="2536272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276" y="5848772"/>
                <a:ext cx="25362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96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1085613" y="3289355"/>
                <a:ext cx="1215397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𝐚</m:t>
                      </m:r>
                      <m:r>
                        <a:rPr kumimoji="0" lang="fr-FR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fr-F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</m:t>
                      </m:r>
                      <m:r>
                        <a:rPr kumimoji="0" lang="fr-FR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𝐛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613" y="3289355"/>
                <a:ext cx="121539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087217" y="3801402"/>
                <a:ext cx="1290738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</m:t>
                      </m:r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𝑪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217" y="3801402"/>
                <a:ext cx="12907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884437" y="4467607"/>
                <a:ext cx="2529860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fr-F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</m:t>
                      </m:r>
                      <m:r>
                        <a:rPr kumimoji="0" lang="fr-F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𝐚</m:t>
                      </m:r>
                      <m:r>
                        <a:rPr kumimoji="0" lang="fr-F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0" lang="fr-F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fr-F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fr-F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fr-F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fr-FR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0" lang="fr-F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𝒄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ckwell" panose="02060603020205020403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37" y="4467607"/>
                <a:ext cx="252986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ccolade ouvrante 4"/>
          <p:cNvSpPr/>
          <p:nvPr/>
        </p:nvSpPr>
        <p:spPr>
          <a:xfrm>
            <a:off x="760886" y="3289355"/>
            <a:ext cx="192850" cy="15840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e 10"/>
          <p:cNvGrpSpPr/>
          <p:nvPr/>
        </p:nvGrpSpPr>
        <p:grpSpPr>
          <a:xfrm>
            <a:off x="1693312" y="1191397"/>
            <a:ext cx="10755362" cy="742600"/>
            <a:chOff x="1693312" y="1191397"/>
            <a:chExt cx="10755362" cy="742600"/>
          </a:xfrm>
        </p:grpSpPr>
        <p:sp>
          <p:nvSpPr>
            <p:cNvPr id="6" name="Rectangle 5"/>
            <p:cNvSpPr/>
            <p:nvPr/>
          </p:nvSpPr>
          <p:spPr>
            <a:xfrm>
              <a:off x="1693312" y="1191397"/>
              <a:ext cx="9228098" cy="742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05264" y="1220295"/>
              <a:ext cx="10443410" cy="6848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105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b="1" dirty="0" smtClean="0"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Zn   +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a</a:t>
              </a:r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HNO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3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              </a:t>
              </a:r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Zn </a:t>
              </a:r>
              <a:r>
                <a:rPr lang="fr-FR" sz="2800" b="1" dirty="0">
                  <a:latin typeface="Times New Roman" panose="02020603050405020304" pitchFamily="18" charset="0"/>
                </a:rPr>
                <a:t>(NO</a:t>
              </a:r>
              <a:r>
                <a:rPr lang="fr-FR" sz="2800" b="1" baseline="-25000" dirty="0">
                  <a:latin typeface="Times New Roman" panose="02020603050405020304" pitchFamily="18" charset="0"/>
                </a:rPr>
                <a:t>3</a:t>
              </a:r>
              <a:r>
                <a:rPr lang="fr-FR" sz="2800" b="1" dirty="0">
                  <a:latin typeface="Times New Roman" panose="02020603050405020304" pitchFamily="18" charset="0"/>
                </a:rPr>
                <a:t>)</a:t>
              </a:r>
              <a:r>
                <a:rPr lang="fr-FR" sz="2800" b="1" baseline="-25000" dirty="0">
                  <a:latin typeface="Times New Roman" panose="02020603050405020304" pitchFamily="18" charset="0"/>
                </a:rPr>
                <a:t>2</a:t>
              </a:r>
              <a:r>
                <a:rPr lang="fr-FR" sz="2800" b="1" dirty="0"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 +  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b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H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O  </a:t>
              </a:r>
              <a:r>
                <a:rPr lang="fr-FR" sz="2800" b="1" dirty="0">
                  <a:latin typeface="Times New Roman" panose="02020603050405020304" pitchFamily="18" charset="0"/>
                </a:rPr>
                <a:t>+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c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</a:t>
              </a:r>
              <a:r>
                <a:rPr lang="fr-FR" sz="1200" b="1" dirty="0" smtClean="0">
                  <a:latin typeface="Times New Roman" panose="02020603050405020304" pitchFamily="18" charset="0"/>
                </a:rPr>
                <a:t> </a:t>
              </a:r>
              <a:endParaRPr lang="en-US" dirty="0"/>
            </a:p>
          </p:txBody>
        </p:sp>
        <p:cxnSp>
          <p:nvCxnSpPr>
            <p:cNvPr id="8" name="Connecteur droit avec flèche 7"/>
            <p:cNvCxnSpPr/>
            <p:nvPr/>
          </p:nvCxnSpPr>
          <p:spPr>
            <a:xfrm>
              <a:off x="5101435" y="1704948"/>
              <a:ext cx="5935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ZoneTexte 8"/>
          <p:cNvSpPr txBox="1"/>
          <p:nvPr/>
        </p:nvSpPr>
        <p:spPr>
          <a:xfrm>
            <a:off x="203619" y="317485"/>
            <a:ext cx="286565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2   suite</a:t>
            </a:r>
            <a:endParaRPr lang="en-US" sz="2400" b="1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316" y="3320768"/>
            <a:ext cx="8275221" cy="1151335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2500245" y="5281023"/>
            <a:ext cx="10755362" cy="742600"/>
            <a:chOff x="1693312" y="1191397"/>
            <a:chExt cx="10755362" cy="742600"/>
          </a:xfrm>
        </p:grpSpPr>
        <p:sp>
          <p:nvSpPr>
            <p:cNvPr id="13" name="Rectangle 12"/>
            <p:cNvSpPr/>
            <p:nvPr/>
          </p:nvSpPr>
          <p:spPr>
            <a:xfrm>
              <a:off x="1693312" y="1191397"/>
              <a:ext cx="9515292" cy="742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005264" y="1220295"/>
              <a:ext cx="10443410" cy="6848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105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b="1" dirty="0" smtClean="0"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Zn   +  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4</a:t>
              </a:r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HNO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3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              </a:t>
              </a:r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Zn </a:t>
              </a:r>
              <a:r>
                <a:rPr lang="fr-FR" sz="2800" b="1" dirty="0">
                  <a:latin typeface="Times New Roman" panose="02020603050405020304" pitchFamily="18" charset="0"/>
                </a:rPr>
                <a:t>(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3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)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  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+   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2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H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O   </a:t>
              </a:r>
              <a:r>
                <a:rPr lang="fr-FR" sz="2800" b="1" dirty="0">
                  <a:latin typeface="Times New Roman" panose="02020603050405020304" pitchFamily="18" charset="0"/>
                </a:rPr>
                <a:t>+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2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</a:t>
              </a:r>
              <a:r>
                <a:rPr lang="fr-FR" sz="1200" b="1" dirty="0" smtClean="0">
                  <a:latin typeface="Times New Roman" panose="02020603050405020304" pitchFamily="18" charset="0"/>
                </a:rPr>
                <a:t> </a:t>
              </a:r>
              <a:endParaRPr lang="en-US" dirty="0"/>
            </a:p>
          </p:txBody>
        </p:sp>
        <p:cxnSp>
          <p:nvCxnSpPr>
            <p:cNvPr id="15" name="Connecteur droit avec flèche 14"/>
            <p:cNvCxnSpPr/>
            <p:nvPr/>
          </p:nvCxnSpPr>
          <p:spPr>
            <a:xfrm>
              <a:off x="5101435" y="1704948"/>
              <a:ext cx="5935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46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2  suite</a:t>
            </a:r>
            <a:endParaRPr lang="en-US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400870" y="2631786"/>
            <a:ext cx="401089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+mj-lt"/>
              </a:rPr>
              <a:t> Quel est le réactif limitant?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/>
              <p:cNvSpPr txBox="1"/>
              <p:nvPr/>
            </p:nvSpPr>
            <p:spPr>
              <a:xfrm>
                <a:off x="5316689" y="4550793"/>
                <a:ext cx="831273" cy="37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689" y="4550793"/>
                <a:ext cx="831273" cy="3730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e 16"/>
          <p:cNvGrpSpPr/>
          <p:nvPr/>
        </p:nvGrpSpPr>
        <p:grpSpPr>
          <a:xfrm>
            <a:off x="1164363" y="1334168"/>
            <a:ext cx="10755362" cy="742600"/>
            <a:chOff x="1693312" y="1191397"/>
            <a:chExt cx="10755362" cy="742600"/>
          </a:xfrm>
        </p:grpSpPr>
        <p:sp>
          <p:nvSpPr>
            <p:cNvPr id="19" name="Rectangle 18"/>
            <p:cNvSpPr/>
            <p:nvPr/>
          </p:nvSpPr>
          <p:spPr>
            <a:xfrm>
              <a:off x="1693312" y="1191397"/>
              <a:ext cx="9515292" cy="742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005264" y="1220295"/>
              <a:ext cx="10443410" cy="6848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105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b="1" dirty="0" smtClean="0"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Zn   +  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4</a:t>
              </a:r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HNO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3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              </a:t>
              </a:r>
              <a:r>
                <a:rPr lang="fr-FR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Zn </a:t>
              </a:r>
              <a:r>
                <a:rPr lang="fr-FR" sz="2800" b="1" dirty="0">
                  <a:latin typeface="Times New Roman" panose="02020603050405020304" pitchFamily="18" charset="0"/>
                </a:rPr>
                <a:t>(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3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)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  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 +   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2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H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O   </a:t>
              </a:r>
              <a:r>
                <a:rPr lang="fr-FR" sz="2800" b="1" dirty="0">
                  <a:latin typeface="Times New Roman" panose="02020603050405020304" pitchFamily="18" charset="0"/>
                </a:rPr>
                <a:t>+ </a:t>
              </a:r>
              <a:r>
                <a:rPr lang="fr-FR" sz="2800" b="1" dirty="0" smtClean="0">
                  <a:solidFill>
                    <a:srgbClr val="0070C0"/>
                  </a:solidFill>
                  <a:latin typeface="Times New Roman" panose="02020603050405020304" pitchFamily="18" charset="0"/>
                </a:rPr>
                <a:t>2 </a:t>
              </a:r>
              <a:r>
                <a:rPr lang="fr-FR" sz="2800" b="1" dirty="0" smtClean="0">
                  <a:latin typeface="Times New Roman" panose="02020603050405020304" pitchFamily="18" charset="0"/>
                </a:rPr>
                <a:t>NO</a:t>
              </a:r>
              <a:r>
                <a:rPr lang="fr-FR" sz="2800" b="1" baseline="-25000" dirty="0" smtClean="0">
                  <a:latin typeface="Times New Roman" panose="02020603050405020304" pitchFamily="18" charset="0"/>
                </a:rPr>
                <a:t>2</a:t>
              </a:r>
              <a:r>
                <a:rPr lang="fr-FR" sz="1200" b="1" dirty="0" smtClean="0">
                  <a:latin typeface="Times New Roman" panose="02020603050405020304" pitchFamily="18" charset="0"/>
                </a:rPr>
                <a:t> </a:t>
              </a:r>
              <a:endParaRPr lang="en-US" dirty="0"/>
            </a:p>
          </p:txBody>
        </p:sp>
        <p:cxnSp>
          <p:nvCxnSpPr>
            <p:cNvPr id="21" name="Connecteur droit avec flèche 20"/>
            <p:cNvCxnSpPr/>
            <p:nvPr/>
          </p:nvCxnSpPr>
          <p:spPr>
            <a:xfrm>
              <a:off x="5101435" y="1704948"/>
              <a:ext cx="5935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41060"/>
                  </p:ext>
                </p:extLst>
              </p:nvPr>
            </p:nvGraphicFramePr>
            <p:xfrm>
              <a:off x="203619" y="3515977"/>
              <a:ext cx="11988381" cy="276030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596187">
                      <a:extLst>
                        <a:ext uri="{9D8B030D-6E8A-4147-A177-3AD203B41FA5}">
                          <a16:colId xmlns:a16="http://schemas.microsoft.com/office/drawing/2014/main" val="3524281044"/>
                        </a:ext>
                      </a:extLst>
                    </a:gridCol>
                    <a:gridCol w="4050174">
                      <a:extLst>
                        <a:ext uri="{9D8B030D-6E8A-4147-A177-3AD203B41FA5}">
                          <a16:colId xmlns:a16="http://schemas.microsoft.com/office/drawing/2014/main" val="3737413497"/>
                        </a:ext>
                      </a:extLst>
                    </a:gridCol>
                    <a:gridCol w="2819253">
                      <a:extLst>
                        <a:ext uri="{9D8B030D-6E8A-4147-A177-3AD203B41FA5}">
                          <a16:colId xmlns:a16="http://schemas.microsoft.com/office/drawing/2014/main" val="4067226376"/>
                        </a:ext>
                      </a:extLst>
                    </a:gridCol>
                    <a:gridCol w="2522767">
                      <a:extLst>
                        <a:ext uri="{9D8B030D-6E8A-4147-A177-3AD203B41FA5}">
                          <a16:colId xmlns:a16="http://schemas.microsoft.com/office/drawing/2014/main" val="2174595654"/>
                        </a:ext>
                      </a:extLst>
                    </a:gridCol>
                  </a:tblGrid>
                  <a:tr h="92010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Quantités fournies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Nombres de moles des réactifs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Rapports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dirty="0" smtClean="0"/>
                                  </m:ctrlPr>
                                </m:fPr>
                                <m:num>
                                  <m:r>
                                    <a:rPr lang="fr-FR" dirty="0" smtClean="0"/>
                                    <m:t>𝐧𝐨𝐦𝐛𝐫𝐞</m:t>
                                  </m:r>
                                  <m:r>
                                    <a:rPr lang="fr-FR" dirty="0" smtClean="0"/>
                                    <m:t> </m:t>
                                  </m:r>
                                  <m:r>
                                    <a:rPr lang="fr-FR" dirty="0" smtClean="0"/>
                                    <m:t>𝐝𝐞</m:t>
                                  </m:r>
                                  <m:r>
                                    <a:rPr lang="fr-FR" dirty="0" smtClean="0"/>
                                    <m:t> </m:t>
                                  </m:r>
                                  <m:r>
                                    <a:rPr lang="fr-FR" dirty="0" smtClean="0"/>
                                    <m:t>𝐦𝐨𝐥𝐞𝐬</m:t>
                                  </m:r>
                                  <m:r>
                                    <a:rPr lang="fr-FR" dirty="0" smtClean="0"/>
                                    <m:t>   </m:t>
                                  </m:r>
                                </m:num>
                                <m:den>
                                  <m:r>
                                    <a:rPr lang="fr-FR" dirty="0" smtClean="0"/>
                                    <m:t>𝒄𝒐𝒆𝒇𝒇𝒊𝒄𝒊𝒆𝒏𝒕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Qu’est ce qui est limitant ?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409167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817471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60266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41060"/>
                  </p:ext>
                </p:extLst>
              </p:nvPr>
            </p:nvGraphicFramePr>
            <p:xfrm>
              <a:off x="203619" y="3515977"/>
              <a:ext cx="11988381" cy="276030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596187">
                      <a:extLst>
                        <a:ext uri="{9D8B030D-6E8A-4147-A177-3AD203B41FA5}">
                          <a16:colId xmlns:a16="http://schemas.microsoft.com/office/drawing/2014/main" val="3524281044"/>
                        </a:ext>
                      </a:extLst>
                    </a:gridCol>
                    <a:gridCol w="4050174">
                      <a:extLst>
                        <a:ext uri="{9D8B030D-6E8A-4147-A177-3AD203B41FA5}">
                          <a16:colId xmlns:a16="http://schemas.microsoft.com/office/drawing/2014/main" val="3737413497"/>
                        </a:ext>
                      </a:extLst>
                    </a:gridCol>
                    <a:gridCol w="2819253">
                      <a:extLst>
                        <a:ext uri="{9D8B030D-6E8A-4147-A177-3AD203B41FA5}">
                          <a16:colId xmlns:a16="http://schemas.microsoft.com/office/drawing/2014/main" val="4067226376"/>
                        </a:ext>
                      </a:extLst>
                    </a:gridCol>
                    <a:gridCol w="2522767">
                      <a:extLst>
                        <a:ext uri="{9D8B030D-6E8A-4147-A177-3AD203B41FA5}">
                          <a16:colId xmlns:a16="http://schemas.microsoft.com/office/drawing/2014/main" val="2174595654"/>
                        </a:ext>
                      </a:extLst>
                    </a:gridCol>
                  </a:tblGrid>
                  <a:tr h="92010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Quantités fournies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Nombres de moles des réactifs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6364" t="-3311" r="-90693" b="-201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Qu’est ce qui est limitant ?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409167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817471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60266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/>
              <p:cNvSpPr txBox="1"/>
              <p:nvPr/>
            </p:nvSpPr>
            <p:spPr>
              <a:xfrm>
                <a:off x="371627" y="4656176"/>
                <a:ext cx="16523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𝑍𝑛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=4.1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27" y="4656176"/>
                <a:ext cx="1652337" cy="400110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/>
              <p:cNvSpPr txBox="1"/>
              <p:nvPr/>
            </p:nvSpPr>
            <p:spPr>
              <a:xfrm>
                <a:off x="315008" y="5621054"/>
                <a:ext cx="2264557" cy="418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sz="2000" dirty="0">
                              <a:latin typeface="Times New Roman" panose="02020603050405020304" pitchFamily="18" charset="0"/>
                            </a:rPr>
                            <m:t>HNO</m:t>
                          </m:r>
                          <m:r>
                            <m:rPr>
                              <m:nor/>
                            </m:rPr>
                            <a:rPr lang="fr-FR" sz="2000" baseline="-25000" dirty="0">
                              <a:latin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=6.503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08" y="5621054"/>
                <a:ext cx="2264557" cy="418448"/>
              </a:xfrm>
              <a:prstGeom prst="rect">
                <a:avLst/>
              </a:prstGeom>
              <a:blipFill>
                <a:blip r:embed="rId5"/>
                <a:stretch>
                  <a:fillRect b="-14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2814720" y="4557890"/>
                <a:ext cx="3817712" cy="598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𝐙𝐧</m:t>
                          </m:r>
                        </m:sub>
                      </m:sSub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  =  </m:t>
                      </m:r>
                      <m:f>
                        <m:fPr>
                          <m:ctrlPr>
                            <a:rPr lang="fr-FR" sz="16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   </m:t>
                          </m:r>
                        </m:num>
                        <m:den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𝟔𝟓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𝟑𝟗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lin"/>
                              <m:ctrlPr>
                                <a:rPr lang="fr-FR" sz="1600" b="1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num>
                            <m:den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𝐦𝐨𝐥</m:t>
                              </m:r>
                            </m:den>
                          </m:f>
                        </m:den>
                      </m:f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=   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𝟎𝟔𝟑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20" y="4557890"/>
                <a:ext cx="3817712" cy="5982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7070909" y="4618335"/>
                <a:ext cx="2345514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𝟎𝟔𝟑</m:t>
                          </m:r>
                        </m:num>
                        <m:den>
                          <m:r>
                            <a:rPr lang="fr-FR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FR" b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𝟎𝟔𝟑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09" y="4618335"/>
                <a:ext cx="2345514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2379524" y="5435514"/>
                <a:ext cx="4582152" cy="6031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𝐇𝐍</m:t>
                          </m:r>
                          <m:sSub>
                            <m:sSubPr>
                              <m:ctrlP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0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1600" b="1" i="0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sub>
                      </m:sSub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  =  </m:t>
                      </m:r>
                      <m:f>
                        <m:fPr>
                          <m:ctrlPr>
                            <a:rPr lang="fr-FR" sz="1600" b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𝟓𝟎𝟑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   </m:t>
                          </m:r>
                        </m:num>
                        <m:den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𝟎𝟏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lin"/>
                              <m:ctrlP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1" i="0" dirty="0"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num>
                            <m:den>
                              <m:r>
                                <a:rPr lang="fr-FR" sz="1600" b="1" i="0" dirty="0">
                                  <a:latin typeface="Cambria Math" panose="02040503050406030204" pitchFamily="18" charset="0"/>
                                </a:rPr>
                                <m:t>𝐦𝐨𝐥</m:t>
                              </m:r>
                            </m:den>
                          </m:f>
                        </m:den>
                      </m:f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=    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524" y="5435514"/>
                <a:ext cx="4582152" cy="6031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7088750" y="5524810"/>
                <a:ext cx="2345514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𝟎𝟑</m:t>
                          </m:r>
                        </m:num>
                        <m:den>
                          <m:r>
                            <a:rPr lang="fr-FR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fr-FR" b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𝟎𝟐𝟔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750" y="5524810"/>
                <a:ext cx="2345514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/>
              <p:cNvSpPr txBox="1"/>
              <p:nvPr/>
            </p:nvSpPr>
            <p:spPr>
              <a:xfrm>
                <a:off x="9854900" y="5622495"/>
                <a:ext cx="2088308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b="1" dirty="0">
                        <a:latin typeface="Times New Roman" panose="02020603050405020304" pitchFamily="18" charset="0"/>
                      </a:rPr>
                      <m:t>HNO</m:t>
                    </m:r>
                    <m:r>
                      <m:rPr>
                        <m:nor/>
                      </m:rPr>
                      <a:rPr lang="fr-FR" b="1" baseline="-25000" dirty="0">
                        <a:latin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est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limitant</a:t>
                </a:r>
                <a:endParaRPr lang="en-US" b="1" dirty="0"/>
              </a:p>
            </p:txBody>
          </p:sp>
        </mc:Choice>
        <mc:Fallback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900" y="5622495"/>
                <a:ext cx="2088308" cy="369332"/>
              </a:xfrm>
              <a:prstGeom prst="rect">
                <a:avLst/>
              </a:prstGeom>
              <a:blipFill>
                <a:blip r:embed="rId10"/>
                <a:stretch>
                  <a:fillRect t="-8197" r="-117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/>
              <p:cNvSpPr txBox="1"/>
              <p:nvPr/>
            </p:nvSpPr>
            <p:spPr>
              <a:xfrm>
                <a:off x="9854900" y="4656176"/>
                <a:ext cx="2088308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b="1" i="0" dirty="0" smtClean="0">
                        <a:latin typeface="Times New Roman" panose="02020603050405020304" pitchFamily="18" charset="0"/>
                      </a:rPr>
                      <m:t>Zn</m:t>
                    </m:r>
                    <m:r>
                      <m:rPr>
                        <m:nor/>
                      </m:rPr>
                      <a:rPr lang="fr-FR" b="1" i="0" dirty="0" smtClean="0">
                        <a:latin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1" dirty="0" err="1" smtClean="0"/>
                  <a:t>est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excès</a:t>
                </a:r>
                <a:endParaRPr lang="en-US" b="1" dirty="0"/>
              </a:p>
            </p:txBody>
          </p:sp>
        </mc:Choice>
        <mc:Fallback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900" y="4656176"/>
                <a:ext cx="2088308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92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/>
      <p:bldP spid="23" grpId="0"/>
      <p:bldP spid="12" grpId="0"/>
      <p:bldP spid="13" grpId="0"/>
      <p:bldP spid="24" grpId="0"/>
      <p:bldP spid="25" grpId="0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5874" y="1260413"/>
            <a:ext cx="898357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</a:rPr>
              <a:t>Voici l'équation d'une réaction exothermique entre l'hydrazine, N</a:t>
            </a:r>
            <a:r>
              <a:rPr lang="fr-FR" sz="2000" baseline="-25000" dirty="0">
                <a:latin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</a:rPr>
              <a:t>H</a:t>
            </a:r>
            <a:r>
              <a:rPr lang="fr-FR" sz="2000" baseline="-25000" dirty="0">
                <a:latin typeface="Times New Roman" panose="02020603050405020304" pitchFamily="18" charset="0"/>
              </a:rPr>
              <a:t>4</a:t>
            </a:r>
            <a:r>
              <a:rPr lang="fr-FR" sz="2000" dirty="0">
                <a:latin typeface="Times New Roman" panose="02020603050405020304" pitchFamily="18" charset="0"/>
              </a:rPr>
              <a:t>, et le peroxyde d'hydrogène, H</a:t>
            </a:r>
            <a:r>
              <a:rPr lang="fr-FR" sz="2000" baseline="-25000" dirty="0">
                <a:latin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</a:rPr>
              <a:t>O</a:t>
            </a:r>
            <a:r>
              <a:rPr lang="fr-FR" sz="2000" baseline="-25000" dirty="0">
                <a:latin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</a:rPr>
              <a:t> </a:t>
            </a:r>
            <a:r>
              <a:rPr lang="fr-FR" sz="2000" dirty="0" smtClean="0">
                <a:latin typeface="Times New Roman" panose="02020603050405020304" pitchFamily="18" charset="0"/>
              </a:rPr>
              <a:t>:</a:t>
            </a: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endParaRPr lang="fr-FR" sz="2000" dirty="0" smtClean="0">
              <a:latin typeface="Times New Roman" panose="02020603050405020304" pitchFamily="18" charset="0"/>
            </a:endParaRPr>
          </a:p>
          <a:p>
            <a:endParaRPr lang="fr-FR" sz="2000" dirty="0" smtClean="0">
              <a:latin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r>
              <a:rPr lang="fr-FR" sz="2000" dirty="0" smtClean="0">
                <a:latin typeface="Times New Roman" panose="02020603050405020304" pitchFamily="18" charset="0"/>
              </a:rPr>
              <a:t>On </a:t>
            </a:r>
            <a:r>
              <a:rPr lang="fr-FR" sz="2000" dirty="0">
                <a:latin typeface="Times New Roman" panose="02020603050405020304" pitchFamily="18" charset="0"/>
              </a:rPr>
              <a:t>fait réagir 120 g de N</a:t>
            </a:r>
            <a:r>
              <a:rPr lang="fr-FR" sz="2000" baseline="-25000" dirty="0">
                <a:latin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</a:rPr>
              <a:t>H</a:t>
            </a:r>
            <a:r>
              <a:rPr lang="fr-FR" sz="2000" baseline="-25000" dirty="0">
                <a:latin typeface="Times New Roman" panose="02020603050405020304" pitchFamily="18" charset="0"/>
              </a:rPr>
              <a:t>4</a:t>
            </a:r>
            <a:r>
              <a:rPr lang="fr-FR" sz="2000" dirty="0">
                <a:latin typeface="Times New Roman" panose="02020603050405020304" pitchFamily="18" charset="0"/>
              </a:rPr>
              <a:t> avec une masse égale de H</a:t>
            </a:r>
            <a:r>
              <a:rPr lang="fr-FR" sz="2000" baseline="-25000" dirty="0">
                <a:latin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</a:rPr>
              <a:t>O</a:t>
            </a:r>
            <a:r>
              <a:rPr lang="fr-FR" sz="2000" baseline="-25000" dirty="0">
                <a:latin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</a:rPr>
              <a:t>. À la fin de la réaction on retrouve 2.5 (g) de peroxyde d’hydrogène et 55 (g) d’acide nitrique. </a:t>
            </a:r>
            <a:endParaRPr lang="fr-FR" sz="2000" dirty="0" smtClean="0">
              <a:latin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</a:endParaRPr>
          </a:p>
          <a:p>
            <a:pPr marL="457200" indent="-457200">
              <a:buAutoNum type="alphaLcParenR"/>
            </a:pPr>
            <a:r>
              <a:rPr lang="fr-FR" sz="2000" dirty="0" smtClean="0">
                <a:latin typeface="Times New Roman" panose="02020603050405020304" pitchFamily="18" charset="0"/>
              </a:rPr>
              <a:t>Équilibrez </a:t>
            </a:r>
            <a:r>
              <a:rPr lang="fr-FR" sz="2000" dirty="0">
                <a:latin typeface="Times New Roman" panose="02020603050405020304" pitchFamily="18" charset="0"/>
              </a:rPr>
              <a:t>l'équation chimique ? </a:t>
            </a:r>
            <a:endParaRPr lang="fr-FR" sz="2000" dirty="0" smtClean="0">
              <a:latin typeface="Times New Roman" panose="02020603050405020304" pitchFamily="18" charset="0"/>
            </a:endParaRPr>
          </a:p>
          <a:p>
            <a:pPr marL="457200" indent="-457200">
              <a:buAutoNum type="alphaLcParenR"/>
            </a:pPr>
            <a:r>
              <a:rPr lang="fr-FR" sz="2000" dirty="0" smtClean="0">
                <a:latin typeface="Times New Roman" panose="02020603050405020304" pitchFamily="18" charset="0"/>
              </a:rPr>
              <a:t>Déterminez </a:t>
            </a:r>
            <a:r>
              <a:rPr lang="fr-FR" sz="2000" dirty="0">
                <a:latin typeface="Times New Roman" panose="02020603050405020304" pitchFamily="18" charset="0"/>
              </a:rPr>
              <a:t>le réactif limitant? </a:t>
            </a:r>
            <a:endParaRPr lang="fr-FR" sz="2000" dirty="0" smtClean="0">
              <a:latin typeface="Times New Roman" panose="02020603050405020304" pitchFamily="18" charset="0"/>
            </a:endParaRPr>
          </a:p>
          <a:p>
            <a:pPr marL="457200" indent="-457200">
              <a:buAutoNum type="alphaLcParenR"/>
            </a:pPr>
            <a:r>
              <a:rPr lang="fr-FR" sz="2000" dirty="0" smtClean="0">
                <a:latin typeface="Times New Roman" panose="02020603050405020304" pitchFamily="18" charset="0"/>
              </a:rPr>
              <a:t>Quelle </a:t>
            </a:r>
            <a:r>
              <a:rPr lang="fr-FR" sz="2000" dirty="0">
                <a:latin typeface="Times New Roman" panose="02020603050405020304" pitchFamily="18" charset="0"/>
              </a:rPr>
              <a:t>est la masse de HNO3 obtiendra-t-on? </a:t>
            </a:r>
          </a:p>
          <a:p>
            <a:pPr marL="457200" indent="-457200">
              <a:buAutoNum type="alphaLcParenR" startAt="4"/>
            </a:pPr>
            <a:r>
              <a:rPr lang="fr-FR" sz="2000" dirty="0" smtClean="0">
                <a:latin typeface="Times New Roman" panose="02020603050405020304" pitchFamily="18" charset="0"/>
              </a:rPr>
              <a:t>Quelle </a:t>
            </a:r>
            <a:r>
              <a:rPr lang="fr-FR" sz="2000" dirty="0">
                <a:latin typeface="Times New Roman" panose="02020603050405020304" pitchFamily="18" charset="0"/>
              </a:rPr>
              <a:t>masse (en grammes) du réactif en excès reste-t-il à la fin de la réaction</a:t>
            </a:r>
            <a:r>
              <a:rPr lang="fr-FR" sz="2000" dirty="0" smtClean="0">
                <a:latin typeface="Times New Roman" panose="02020603050405020304" pitchFamily="18" charset="0"/>
              </a:rPr>
              <a:t>?</a:t>
            </a:r>
          </a:p>
          <a:p>
            <a:r>
              <a:rPr lang="fr-FR" sz="2000" dirty="0">
                <a:latin typeface="Times New Roman" panose="02020603050405020304" pitchFamily="18" charset="0"/>
              </a:rPr>
              <a:t> </a:t>
            </a:r>
            <a:r>
              <a:rPr lang="fr-FR" sz="2000" dirty="0" smtClean="0">
                <a:latin typeface="Times New Roman" panose="02020603050405020304" pitchFamily="18" charset="0"/>
              </a:rPr>
              <a:t>        En </a:t>
            </a:r>
            <a:r>
              <a:rPr lang="fr-FR" sz="2000" dirty="0">
                <a:latin typeface="Times New Roman" panose="02020603050405020304" pitchFamily="18" charset="0"/>
              </a:rPr>
              <a:t>déduire son % d'excès; </a:t>
            </a:r>
          </a:p>
          <a:p>
            <a:r>
              <a:rPr lang="fr-FR" sz="2000" dirty="0">
                <a:latin typeface="Times New Roman" panose="02020603050405020304" pitchFamily="18" charset="0"/>
              </a:rPr>
              <a:t>e</a:t>
            </a:r>
            <a:r>
              <a:rPr lang="fr-FR" sz="2000" dirty="0" smtClean="0">
                <a:latin typeface="Times New Roman" panose="02020603050405020304" pitchFamily="18" charset="0"/>
              </a:rPr>
              <a:t>)    Quelle </a:t>
            </a:r>
            <a:r>
              <a:rPr lang="fr-FR" sz="2000" dirty="0">
                <a:latin typeface="Times New Roman" panose="02020603050405020304" pitchFamily="18" charset="0"/>
              </a:rPr>
              <a:t>est la conversion du réactif limitant ? </a:t>
            </a:r>
          </a:p>
          <a:p>
            <a:r>
              <a:rPr lang="fr-FR" sz="2000" dirty="0">
                <a:latin typeface="Times New Roman" panose="02020603050405020304" pitchFamily="18" charset="0"/>
              </a:rPr>
              <a:t>f</a:t>
            </a:r>
            <a:r>
              <a:rPr lang="fr-FR" sz="2000" dirty="0" smtClean="0">
                <a:latin typeface="Times New Roman" panose="02020603050405020304" pitchFamily="18" charset="0"/>
              </a:rPr>
              <a:t>)     Calculez </a:t>
            </a:r>
            <a:r>
              <a:rPr lang="fr-FR" sz="2000" dirty="0">
                <a:latin typeface="Times New Roman" panose="02020603050405020304" pitchFamily="18" charset="0"/>
              </a:rPr>
              <a:t>le rendement de la réaction en HNO3? 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03619" y="317485"/>
            <a:ext cx="2006447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 4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696719" y="2396241"/>
                <a:ext cx="8139536" cy="564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𝐚𝐪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fr-FR" sz="2800" b="1" dirty="0"/>
                        <m:t>→</m:t>
                      </m:r>
                      <m:r>
                        <m:rPr>
                          <m:nor/>
                        </m:rPr>
                        <a:rPr lang="fr-FR" sz="2800" b="1" i="0" dirty="0" smtClean="0"/>
                        <m:t>    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19" y="2396241"/>
                <a:ext cx="8139536" cy="564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33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p:graphicFrame>
        <p:nvGraphicFramePr>
          <p:cNvPr id="21" name="Tableau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994862"/>
              </p:ext>
            </p:extLst>
          </p:nvPr>
        </p:nvGraphicFramePr>
        <p:xfrm>
          <a:off x="400870" y="3268885"/>
          <a:ext cx="11243880" cy="20726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52481">
                  <a:extLst>
                    <a:ext uri="{9D8B030D-6E8A-4147-A177-3AD203B41FA5}">
                      <a16:colId xmlns:a16="http://schemas.microsoft.com/office/drawing/2014/main" val="724640854"/>
                    </a:ext>
                  </a:extLst>
                </a:gridCol>
                <a:gridCol w="2991488">
                  <a:extLst>
                    <a:ext uri="{9D8B030D-6E8A-4147-A177-3AD203B41FA5}">
                      <a16:colId xmlns:a16="http://schemas.microsoft.com/office/drawing/2014/main" val="1446764094"/>
                    </a:ext>
                  </a:extLst>
                </a:gridCol>
                <a:gridCol w="3034146">
                  <a:extLst>
                    <a:ext uri="{9D8B030D-6E8A-4147-A177-3AD203B41FA5}">
                      <a16:colId xmlns:a16="http://schemas.microsoft.com/office/drawing/2014/main" val="3701630959"/>
                    </a:ext>
                  </a:extLst>
                </a:gridCol>
                <a:gridCol w="3965765">
                  <a:extLst>
                    <a:ext uri="{9D8B030D-6E8A-4147-A177-3AD203B41FA5}">
                      <a16:colId xmlns:a16="http://schemas.microsoft.com/office/drawing/2014/main" val="1886028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Type d’atome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À gauche de l’équation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À droite de l’équation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équation</a:t>
                      </a:r>
                      <a:endParaRPr lang="en-US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36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 </a:t>
                      </a:r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64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838529"/>
                  </a:ext>
                </a:extLst>
              </a:tr>
              <a:tr h="356755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 smtClean="0"/>
                    </a:p>
                    <a:p>
                      <a:pPr algn="ctr"/>
                      <a:endParaRPr 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7177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2789565" y="3946664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 smtClean="0"/>
              <a:t>2</a:t>
            </a:r>
            <a:endParaRPr lang="en-US" b="1" dirty="0"/>
          </a:p>
        </p:txBody>
      </p:sp>
      <p:sp>
        <p:nvSpPr>
          <p:cNvPr id="23" name="Rectangle 22"/>
          <p:cNvSpPr/>
          <p:nvPr/>
        </p:nvSpPr>
        <p:spPr>
          <a:xfrm>
            <a:off x="6072970" y="3922763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 smtClean="0"/>
              <a:t>2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2477781" y="4358928"/>
                <a:ext cx="9236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FR" b="1" dirty="0" smtClean="0"/>
                  <a:t>4+ 2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fr-FR" b="1" dirty="0" smtClean="0"/>
                  <a:t>a</a:t>
                </a:r>
                <a:endParaRPr lang="en-US" b="1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781" y="4358928"/>
                <a:ext cx="923650" cy="369332"/>
              </a:xfrm>
              <a:prstGeom prst="rect">
                <a:avLst/>
              </a:prstGeom>
              <a:blipFill>
                <a:blip r:embed="rId2"/>
                <a:stretch>
                  <a:fillRect l="-5263" t="-8197" r="-52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5640069" y="4321166"/>
                <a:ext cx="1207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069" y="4321166"/>
                <a:ext cx="12073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2573365" y="4859787"/>
                <a:ext cx="7745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365" y="4859787"/>
                <a:ext cx="77457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5863092" y="4859787"/>
                <a:ext cx="8018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092" y="4859787"/>
                <a:ext cx="80182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805652" y="4390008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H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2578" y="3953593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N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98988" y="4894718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 smtClean="0">
                <a:latin typeface="Arial Black" panose="020B0A04020102020204" pitchFamily="34" charset="0"/>
              </a:rPr>
              <a:t>O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356375" y="3925883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2 =2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8452282" y="4316934"/>
                <a:ext cx="2454518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fr-FR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282" y="4316934"/>
                <a:ext cx="24545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8924233" y="4903330"/>
                <a:ext cx="1737976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lvl="0" algn="ctr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fr-F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dirty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233" y="4903330"/>
                <a:ext cx="173797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ZoneTexte 38"/>
          <p:cNvSpPr txBox="1"/>
          <p:nvPr/>
        </p:nvSpPr>
        <p:spPr>
          <a:xfrm>
            <a:off x="400870" y="2491743"/>
            <a:ext cx="5534709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+mj-lt"/>
              </a:rPr>
              <a:t> a)  </a:t>
            </a:r>
            <a:r>
              <a:rPr lang="fr-FR" sz="24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Équilibrez </a:t>
            </a:r>
            <a:r>
              <a:rPr lang="fr-FR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l'équation chimique </a:t>
            </a:r>
            <a:r>
              <a:rPr lang="fr-FR" sz="24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?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𝐚𝐪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fr-FR" sz="2800" b="1" dirty="0"/>
                        <m:t>→</m:t>
                      </m:r>
                      <m:r>
                        <m:rPr>
                          <m:nor/>
                        </m:rPr>
                        <a:rPr lang="fr-FR" sz="2800" b="1" i="0" dirty="0" smtClean="0"/>
                        <m:t>    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870" y="5539684"/>
            <a:ext cx="9784209" cy="93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8" grpId="0"/>
      <p:bldP spid="29" grpId="0"/>
      <p:bldP spid="30" grpId="0"/>
      <p:bldP spid="31" grpId="0"/>
      <p:bldP spid="33" grpId="0"/>
      <p:bldP spid="34" grpId="0"/>
      <p:bldP spid="35" grpId="0" animBg="1"/>
      <p:bldP spid="37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400870" y="2631786"/>
            <a:ext cx="5534709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+mj-lt"/>
              </a:rPr>
              <a:t> b)  Le réactif limitant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/>
              <p:cNvSpPr txBox="1"/>
              <p:nvPr/>
            </p:nvSpPr>
            <p:spPr>
              <a:xfrm>
                <a:off x="5316689" y="4550793"/>
                <a:ext cx="831273" cy="37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689" y="4550793"/>
                <a:ext cx="831273" cy="3730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/>
              <p:cNvGraphicFramePr>
                <a:graphicFrameLocks noGrp="1"/>
              </p:cNvGraphicFramePr>
              <p:nvPr/>
            </p:nvGraphicFramePr>
            <p:xfrm>
              <a:off x="203619" y="3515977"/>
              <a:ext cx="11988381" cy="276030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596187">
                      <a:extLst>
                        <a:ext uri="{9D8B030D-6E8A-4147-A177-3AD203B41FA5}">
                          <a16:colId xmlns:a16="http://schemas.microsoft.com/office/drawing/2014/main" val="3524281044"/>
                        </a:ext>
                      </a:extLst>
                    </a:gridCol>
                    <a:gridCol w="4050174">
                      <a:extLst>
                        <a:ext uri="{9D8B030D-6E8A-4147-A177-3AD203B41FA5}">
                          <a16:colId xmlns:a16="http://schemas.microsoft.com/office/drawing/2014/main" val="3737413497"/>
                        </a:ext>
                      </a:extLst>
                    </a:gridCol>
                    <a:gridCol w="2819253">
                      <a:extLst>
                        <a:ext uri="{9D8B030D-6E8A-4147-A177-3AD203B41FA5}">
                          <a16:colId xmlns:a16="http://schemas.microsoft.com/office/drawing/2014/main" val="4067226376"/>
                        </a:ext>
                      </a:extLst>
                    </a:gridCol>
                    <a:gridCol w="2522767">
                      <a:extLst>
                        <a:ext uri="{9D8B030D-6E8A-4147-A177-3AD203B41FA5}">
                          <a16:colId xmlns:a16="http://schemas.microsoft.com/office/drawing/2014/main" val="2174595654"/>
                        </a:ext>
                      </a:extLst>
                    </a:gridCol>
                  </a:tblGrid>
                  <a:tr h="92010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Quantités fournies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Nombres de moles des réactifs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Rapports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fr-FR" dirty="0" smtClean="0"/>
                                  </m:ctrlPr>
                                </m:fPr>
                                <m:num>
                                  <m:r>
                                    <a:rPr lang="fr-FR" dirty="0" smtClean="0"/>
                                    <m:t>𝐧𝐨𝐦𝐛𝐫𝐞</m:t>
                                  </m:r>
                                  <m:r>
                                    <a:rPr lang="fr-FR" dirty="0" smtClean="0"/>
                                    <m:t> </m:t>
                                  </m:r>
                                  <m:r>
                                    <a:rPr lang="fr-FR" dirty="0" smtClean="0"/>
                                    <m:t>𝐝𝐞</m:t>
                                  </m:r>
                                  <m:r>
                                    <a:rPr lang="fr-FR" dirty="0" smtClean="0"/>
                                    <m:t> </m:t>
                                  </m:r>
                                  <m:r>
                                    <a:rPr lang="fr-FR" dirty="0" smtClean="0"/>
                                    <m:t>𝐦𝐨𝐥𝐞𝐬</m:t>
                                  </m:r>
                                  <m:r>
                                    <a:rPr lang="fr-FR" dirty="0" smtClean="0"/>
                                    <m:t>   </m:t>
                                  </m:r>
                                </m:num>
                                <m:den>
                                  <m:r>
                                    <a:rPr lang="fr-FR" dirty="0" smtClean="0"/>
                                    <m:t>𝒄𝒐𝒆𝒇𝒇𝒊𝒄𝒊𝒆𝒏𝒕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Qu’est ce qui est limitant ?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409167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817471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60266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/>
              <p:cNvGraphicFramePr>
                <a:graphicFrameLocks noGrp="1"/>
              </p:cNvGraphicFramePr>
              <p:nvPr/>
            </p:nvGraphicFramePr>
            <p:xfrm>
              <a:off x="203619" y="3515977"/>
              <a:ext cx="11988381" cy="2760306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596187">
                      <a:extLst>
                        <a:ext uri="{9D8B030D-6E8A-4147-A177-3AD203B41FA5}">
                          <a16:colId xmlns:a16="http://schemas.microsoft.com/office/drawing/2014/main" val="3524281044"/>
                        </a:ext>
                      </a:extLst>
                    </a:gridCol>
                    <a:gridCol w="4050174">
                      <a:extLst>
                        <a:ext uri="{9D8B030D-6E8A-4147-A177-3AD203B41FA5}">
                          <a16:colId xmlns:a16="http://schemas.microsoft.com/office/drawing/2014/main" val="3737413497"/>
                        </a:ext>
                      </a:extLst>
                    </a:gridCol>
                    <a:gridCol w="2819253">
                      <a:extLst>
                        <a:ext uri="{9D8B030D-6E8A-4147-A177-3AD203B41FA5}">
                          <a16:colId xmlns:a16="http://schemas.microsoft.com/office/drawing/2014/main" val="4067226376"/>
                        </a:ext>
                      </a:extLst>
                    </a:gridCol>
                    <a:gridCol w="2522767">
                      <a:extLst>
                        <a:ext uri="{9D8B030D-6E8A-4147-A177-3AD203B41FA5}">
                          <a16:colId xmlns:a16="http://schemas.microsoft.com/office/drawing/2014/main" val="2174595654"/>
                        </a:ext>
                      </a:extLst>
                    </a:gridCol>
                  </a:tblGrid>
                  <a:tr h="92010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Quantités fournies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Nombres de moles des réactifs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6364" t="-3311" r="-90693" b="-201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Qu’est ce qui est limitant ?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409167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817471"/>
                      </a:ext>
                    </a:extLst>
                  </a:tr>
                  <a:tr h="92010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60266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/>
              <p:cNvSpPr txBox="1"/>
              <p:nvPr/>
            </p:nvSpPr>
            <p:spPr>
              <a:xfrm>
                <a:off x="371627" y="4656176"/>
                <a:ext cx="2007897" cy="426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𝐍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𝟏𝟐𝟎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27" y="4656176"/>
                <a:ext cx="2007897" cy="426592"/>
              </a:xfrm>
              <a:prstGeom prst="rect">
                <a:avLst/>
              </a:prstGeom>
              <a:blipFill>
                <a:blip r:embed="rId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/>
              <p:cNvSpPr txBox="1"/>
              <p:nvPr/>
            </p:nvSpPr>
            <p:spPr>
              <a:xfrm>
                <a:off x="315008" y="5621054"/>
                <a:ext cx="2264557" cy="42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𝟏𝟐𝟎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08" y="5621054"/>
                <a:ext cx="2264557" cy="426527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2814720" y="4557890"/>
                <a:ext cx="3883050" cy="598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𝐍</m:t>
                              </m:r>
                            </m:e>
                            <m:sub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fr-FR" sz="16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𝟏𝟐𝟎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   </m:t>
                          </m:r>
                        </m:num>
                        <m:den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𝟎𝟒𝟐</m:t>
                          </m:r>
                          <m:r>
                            <a:rPr lang="fr-FR" sz="16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lin"/>
                              <m:ctrlPr>
                                <a:rPr lang="fr-FR" sz="1600" b="1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num>
                            <m:den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𝐦𝐨𝐥</m:t>
                              </m:r>
                            </m:den>
                          </m:f>
                        </m:den>
                      </m:f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𝟕𝟒𝟓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sz="1600" b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20" y="4557890"/>
                <a:ext cx="3883050" cy="5982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7066709" y="4568767"/>
                <a:ext cx="2419252" cy="6166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𝟕𝟒𝟓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𝐦𝐨𝐥</m:t>
                          </m:r>
                        </m:num>
                        <m:den>
                          <m:r>
                            <a:rPr lang="fr-FR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FR" b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𝟕𝟒𝟓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709" y="4568767"/>
                <a:ext cx="2419252" cy="6166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2379524" y="5435514"/>
                <a:ext cx="4631653" cy="598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𝐇</m:t>
                          </m:r>
                          <m:sSub>
                            <m:sSubPr>
                              <m:ctrlPr>
                                <a:rPr lang="fr-FR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=  </m:t>
                      </m:r>
                      <m:f>
                        <m:fPr>
                          <m:ctrlPr>
                            <a:rPr lang="fr-FR" sz="1600" b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𝟏𝟐𝟎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   </m:t>
                          </m:r>
                        </m:num>
                        <m:den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i="0" dirty="0" smtClean="0">
                              <a:latin typeface="Cambria Math" panose="02040503050406030204" pitchFamily="18" charset="0"/>
                            </a:rPr>
                            <m:t>𝟎𝟏𝟓</m:t>
                          </m:r>
                          <m:r>
                            <a:rPr lang="fr-FR" sz="16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lin"/>
                              <m:ctrlPr>
                                <a:rPr lang="fr-FR" sz="1600" b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1" i="0" dirty="0"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num>
                            <m:den>
                              <m:r>
                                <a:rPr lang="fr-FR" sz="1600" b="1" i="0" dirty="0">
                                  <a:latin typeface="Cambria Math" panose="02040503050406030204" pitchFamily="18" charset="0"/>
                                </a:rPr>
                                <m:t>𝐦𝐨𝐥</m:t>
                              </m:r>
                            </m:den>
                          </m:f>
                        </m:den>
                      </m:f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𝟓𝟐𝟖</m:t>
                      </m:r>
                      <m:r>
                        <a:rPr lang="fr-FR" sz="16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𝐦𝐨𝐥</m:t>
                      </m:r>
                      <m:r>
                        <a:rPr lang="fr-FR" sz="1600" b="1" i="0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524" y="5435514"/>
                <a:ext cx="4631653" cy="5982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7088750" y="5524810"/>
                <a:ext cx="2294218" cy="6170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𝟓𝟐𝟖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dirty="0">
                              <a:latin typeface="Cambria Math" panose="02040503050406030204" pitchFamily="18" charset="0"/>
                            </a:rPr>
                            <m:t>𝐦𝐨𝐥</m:t>
                          </m:r>
                        </m:num>
                        <m:den>
                          <m:r>
                            <a:rPr lang="fr-FR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fr-FR" b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𝟓𝟎𝟒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750" y="5524810"/>
                <a:ext cx="2294218" cy="6170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/>
              <p:cNvSpPr txBox="1"/>
              <p:nvPr/>
            </p:nvSpPr>
            <p:spPr>
              <a:xfrm>
                <a:off x="9854899" y="5621054"/>
                <a:ext cx="226193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𝐎</m:t>
                        </m:r>
                      </m:e>
                      <m:sub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 err="1" smtClean="0"/>
                  <a:t>est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limitant</a:t>
                </a:r>
                <a:endParaRPr lang="en-US" b="1" dirty="0"/>
              </a:p>
            </p:txBody>
          </p:sp>
        </mc:Choice>
        <mc:Fallback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899" y="5621054"/>
                <a:ext cx="2261937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/>
              <p:cNvSpPr txBox="1"/>
              <p:nvPr/>
            </p:nvSpPr>
            <p:spPr>
              <a:xfrm>
                <a:off x="9854900" y="4656176"/>
                <a:ext cx="226193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b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b="1" dirty="0" err="1" smtClean="0"/>
                  <a:t>est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excès</a:t>
                </a:r>
                <a:endParaRPr lang="en-US" b="1" dirty="0"/>
              </a:p>
            </p:txBody>
          </p:sp>
        </mc:Choice>
        <mc:Fallback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900" y="4656176"/>
                <a:ext cx="2261937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𝐚𝐪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fr-FR" sz="2800" b="1" dirty="0"/>
                        <m:t>→</m:t>
                      </m:r>
                      <m:r>
                        <m:rPr>
                          <m:nor/>
                        </m:rPr>
                        <a:rPr lang="fr-FR" sz="2800" b="1" i="0" dirty="0" smtClean="0"/>
                        <m:t>    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47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/>
      <p:bldP spid="23" grpId="0"/>
      <p:bldP spid="12" grpId="0"/>
      <p:bldP spid="13" grpId="0"/>
      <p:bldP spid="24" grpId="0"/>
      <p:bldP spid="25" grpId="0"/>
      <p:bldP spid="27" grpId="0" animBg="1"/>
      <p:bldP spid="28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619" y="1087664"/>
            <a:ext cx="1073217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buAutoNum type="alphaLcParenR" startAt="4"/>
            </a:pP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</a:rPr>
              <a:t>Quelle masse (en grammes) du réactif en excès reste-t-il à la fin de la réaction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?   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</a:rPr>
              <a:t>En déduire son % d'excès;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09418" y="1789498"/>
                <a:ext cx="9200724" cy="564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𝐚𝐪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fr-FR" sz="2800" b="1" dirty="0"/>
                        <m:t>→</m:t>
                      </m:r>
                      <m:r>
                        <m:rPr>
                          <m:nor/>
                        </m:rPr>
                        <a:rPr lang="fr-FR" sz="2800" b="1" i="0" dirty="0" smtClean="0"/>
                        <m:t>    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18" y="1789498"/>
                <a:ext cx="9200724" cy="564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782001" y="3086344"/>
                <a:ext cx="4532330" cy="4284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𝐦𝐨𝐥</m:t>
                          </m:r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  <m:sSub>
                        <m:sSubPr>
                          <m:ctrlPr>
                            <a:rPr lang="fr-FR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01" y="3086344"/>
                <a:ext cx="4532330" cy="428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 rot="5818165">
            <a:off x="1229918" y="-393652"/>
            <a:ext cx="1569940" cy="4408632"/>
          </a:xfrm>
          <a:prstGeom prst="arc">
            <a:avLst>
              <a:gd name="adj1" fmla="val 17103273"/>
              <a:gd name="adj2" fmla="val 2348509"/>
            </a:avLst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045470" y="1862572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82001" y="1824731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eur droit avec flèche 20"/>
          <p:cNvCxnSpPr/>
          <p:nvPr/>
        </p:nvCxnSpPr>
        <p:spPr>
          <a:xfrm flipH="1">
            <a:off x="1187345" y="3033204"/>
            <a:ext cx="427041" cy="48159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H="1">
            <a:off x="3994623" y="3104617"/>
            <a:ext cx="427041" cy="48159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669707" y="3606103"/>
                <a:ext cx="1231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𝟑𝟒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𝟎𝟏𝟓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07" y="3606103"/>
                <a:ext cx="1231426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3254476" y="3598879"/>
                <a:ext cx="1231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𝟎𝟒𝟐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476" y="3598879"/>
                <a:ext cx="1231426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4996948" y="4522173"/>
                <a:ext cx="6898105" cy="432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𝟎𝟏𝟓</m:t>
                          </m:r>
                          <m:r>
                            <a:rPr lang="fr-FR" sz="20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b="1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2000" b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fr-FR" sz="2000" b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000" b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𝟎𝟒𝟐</m:t>
                      </m:r>
                      <m:r>
                        <a:rPr lang="fr-FR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fr-F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fr-FR" sz="20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0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948" y="4522173"/>
                <a:ext cx="6898105" cy="432234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4996948" y="5347615"/>
                <a:ext cx="6898105" cy="432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𝟏𝟐𝟎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b="1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𝑹𝒆𝒒𝒖𝒊𝒔𝒆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1" dirty="0" smtClean="0">
                          <a:latin typeface="Cambria Math" panose="02040503050406030204" pitchFamily="18" charset="0"/>
                        </a:rPr>
                        <m:t>𝒅𝒆</m:t>
                      </m:r>
                      <m:r>
                        <a:rPr lang="fr-FR" sz="2000" b="1" i="1" dirty="0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fr-FR" sz="20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0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948" y="5347615"/>
                <a:ext cx="6898105" cy="432234"/>
              </a:xfrm>
              <a:prstGeom prst="rect">
                <a:avLst/>
              </a:prstGeom>
              <a:blipFill>
                <a:blip r:embed="rId7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17" y="6173057"/>
            <a:ext cx="9184843" cy="504370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87576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5" grpId="0" animBg="1"/>
      <p:bldP spid="16" grpId="0" animBg="1"/>
      <p:bldP spid="17" grpId="0" animBg="1"/>
      <p:bldP spid="23" grpId="0"/>
      <p:bldP spid="24" grpId="0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619" y="1529213"/>
            <a:ext cx="1073217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buAutoNum type="alphaLcParenR" startAt="4"/>
            </a:pP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</a:rPr>
              <a:t>En déduire son % d'excès;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68" y="4587040"/>
            <a:ext cx="7078931" cy="10918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1593968" y="3387272"/>
                <a:ext cx="8422105" cy="66627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è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𝑓𝑜𝑢𝑟𝑛𝑖𝑒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𝑟𝑒𝑞𝑢𝑖𝑠𝑒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𝑟𝑒𝑞𝑢𝑖𝑠𝑒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968" y="3387272"/>
                <a:ext cx="8422105" cy="666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41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p:sp>
        <p:nvSpPr>
          <p:cNvPr id="19" name="Rectangle 18"/>
          <p:cNvSpPr/>
          <p:nvPr/>
        </p:nvSpPr>
        <p:spPr>
          <a:xfrm>
            <a:off x="203619" y="2122408"/>
            <a:ext cx="1073217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e)  Conversion du limitant?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/>
              <p:cNvSpPr txBox="1"/>
              <p:nvPr/>
            </p:nvSpPr>
            <p:spPr>
              <a:xfrm>
                <a:off x="1358651" y="3168725"/>
                <a:ext cx="8422105" cy="66627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𝑓𝑜𝑢𝑟𝑛𝑖𝑒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𝑟𝑒𝑠𝑡𝑎𝑛𝑡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𝐹𝑜𝑢𝑟𝑛𝑖𝑒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651" y="3168725"/>
                <a:ext cx="8422105" cy="6662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651" y="4768657"/>
            <a:ext cx="8578766" cy="129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2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968" y="2822955"/>
            <a:ext cx="1073217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f)  Le rendement en HNO</a:t>
            </a:r>
            <a:r>
              <a:rPr lang="fr-FR" baseline="-250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3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?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𝐚𝐪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fr-FR" sz="2800" b="1" dirty="0"/>
                        <m:t>→</m:t>
                      </m:r>
                      <m:r>
                        <m:rPr>
                          <m:nor/>
                        </m:rPr>
                        <a:rPr lang="fr-FR" sz="2800" b="1" i="0" dirty="0" smtClean="0"/>
                        <m:t>    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011144" y="5380083"/>
                <a:ext cx="4648324" cy="4284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𝐦𝐨𝐥</m:t>
                          </m:r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  <m:sSub>
                        <m:sSubPr>
                          <m:ctrlPr>
                            <a:rPr lang="fr-FR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144" y="5380083"/>
                <a:ext cx="4648324" cy="428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 rot="5614330">
            <a:off x="4634213" y="-659854"/>
            <a:ext cx="1569940" cy="4408632"/>
          </a:xfrm>
          <a:prstGeom prst="arc">
            <a:avLst>
              <a:gd name="adj1" fmla="val 17103273"/>
              <a:gd name="adj2" fmla="val 3426930"/>
            </a:avLst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007091" y="1450277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986180" y="1429616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eur droit avec flèche 20"/>
          <p:cNvCxnSpPr/>
          <p:nvPr/>
        </p:nvCxnSpPr>
        <p:spPr>
          <a:xfrm flipH="1">
            <a:off x="6416488" y="5326943"/>
            <a:ext cx="427041" cy="48159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H="1">
            <a:off x="9223766" y="5398356"/>
            <a:ext cx="427041" cy="48159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/>
              <p:cNvSpPr txBox="1"/>
              <p:nvPr/>
            </p:nvSpPr>
            <p:spPr>
              <a:xfrm>
                <a:off x="368968" y="3731290"/>
                <a:ext cx="8422105" cy="66627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𝑅𝑒𝑛𝑑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𝐻𝑁𝑂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𝑙𝑙𝑒𝑚𝑒𝑛𝑡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𝑝𝑟𝑜𝑑𝑢𝑖𝑡𝑒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𝑣𝑢𝑒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𝑜𝑟𝑖𝑞𝑢𝑒𝑚𝑒𝑛𝑡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68" y="3731290"/>
                <a:ext cx="8422105" cy="666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459125" y="4816886"/>
                <a:ext cx="4196983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𝐐𝐮𝐚𝐧𝐭𝐢𝐭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𝐫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éé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𝐥𝐥𝐞𝐦𝐞𝐧𝐭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𝐩𝐫𝐨𝐝𝐮𝐢𝐭𝐞</m:t>
                      </m:r>
                      <m: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25" y="4816886"/>
                <a:ext cx="419698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472922" y="5570050"/>
                <a:ext cx="4198650" cy="64633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𝐐𝐮𝐚𝐧𝐭𝐢𝐭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𝐩𝐫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𝐯𝐮𝐞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𝐭𝐡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𝐨𝐫𝐢𝐪𝐮𝐞𝐦𝐞𝐧𝐭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fr-FR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dirty="0" smtClean="0">
                    <a:ea typeface="Cambria Math" panose="02040503050406030204" pitchFamily="18" charset="0"/>
                  </a:rPr>
                  <a:t>Utiliser l’équation chimique avec le limitant</a:t>
                </a:r>
                <a:endParaRPr lang="en-US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22" y="5570050"/>
                <a:ext cx="4198650" cy="646331"/>
              </a:xfrm>
              <a:prstGeom prst="rect">
                <a:avLst/>
              </a:prstGeom>
              <a:blipFill>
                <a:blip r:embed="rId6"/>
                <a:stretch>
                  <a:fillRect l="-1308" r="-43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5841041" y="5832299"/>
                <a:ext cx="1231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𝟑𝟒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𝟎𝟏𝟓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041" y="5832299"/>
                <a:ext cx="1231426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8678778" y="5858689"/>
                <a:ext cx="1093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778" y="5858689"/>
                <a:ext cx="1093569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66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5" grpId="0" animBg="1"/>
      <p:bldP spid="16" grpId="0" animBg="1"/>
      <p:bldP spid="17" grpId="0" animBg="1"/>
      <p:bldP spid="18" grpId="0" animBg="1"/>
      <p:bldP spid="6" grpId="0" animBg="1"/>
      <p:bldP spid="19" grpId="0" animBg="1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lang="fr-FR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 b="1" dirty="0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𝐚𝐪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fr-FR" sz="2800" b="1" dirty="0"/>
                        <m:t>→</m:t>
                      </m:r>
                      <m:r>
                        <m:rPr>
                          <m:nor/>
                        </m:rPr>
                        <a:rPr lang="fr-FR" sz="2800" b="1" i="0" dirty="0" smtClean="0"/>
                        <m:t>    </m:t>
                      </m:r>
                      <m:sSub>
                        <m:sSubPr>
                          <m:ctrlPr>
                            <a:rPr lang="fr-FR" sz="28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1" i="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8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fr-FR" sz="2800" b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fr-FR" sz="2800" b="1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39" y="1423115"/>
                <a:ext cx="9200724" cy="564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14305" y="2943139"/>
                <a:ext cx="4648324" cy="4284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𝐦𝐨𝐥</m:t>
                          </m:r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  <m:sSub>
                        <m:sSubPr>
                          <m:ctrlPr>
                            <a:rPr lang="fr-FR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305" y="2943139"/>
                <a:ext cx="4648324" cy="428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 rot="5614330">
            <a:off x="4634213" y="-659854"/>
            <a:ext cx="1569940" cy="4408632"/>
          </a:xfrm>
          <a:prstGeom prst="arc">
            <a:avLst>
              <a:gd name="adj1" fmla="val 17103273"/>
              <a:gd name="adj2" fmla="val 3426930"/>
            </a:avLst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007091" y="1450277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986180" y="1429616"/>
            <a:ext cx="418012" cy="5232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eur droit avec flèche 20"/>
          <p:cNvCxnSpPr/>
          <p:nvPr/>
        </p:nvCxnSpPr>
        <p:spPr>
          <a:xfrm flipH="1">
            <a:off x="6119649" y="2889999"/>
            <a:ext cx="427041" cy="48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H="1">
            <a:off x="8926927" y="2961412"/>
            <a:ext cx="427041" cy="48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79232" y="2906050"/>
                <a:ext cx="4198650" cy="6463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𝐐𝐮𝐚𝐧𝐭𝐢𝐭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𝐩𝐫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𝐯𝐮𝐞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𝐭𝐡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𝐨𝐫𝐢𝐪𝐮𝐞𝐦𝐞𝐧𝐭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fr-FR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dirty="0" smtClean="0">
                    <a:ea typeface="Cambria Math" panose="02040503050406030204" pitchFamily="18" charset="0"/>
                  </a:rPr>
                  <a:t>Utiliser l’équation chimique avec le limitant</a:t>
                </a:r>
                <a:endParaRPr lang="en-US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32" y="2906050"/>
                <a:ext cx="4198650" cy="646331"/>
              </a:xfrm>
              <a:prstGeom prst="rect">
                <a:avLst/>
              </a:prstGeom>
              <a:blipFill>
                <a:blip r:embed="rId4"/>
                <a:stretch>
                  <a:fillRect l="-1161" r="-43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5889670" y="3375558"/>
                <a:ext cx="1231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𝟑𝟒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𝟎𝟏𝟓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70" y="3375558"/>
                <a:ext cx="1231426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8381939" y="3421745"/>
                <a:ext cx="1093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dirty="0" smtClean="0"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fr-FR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39" y="3421745"/>
                <a:ext cx="1093569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4964692" y="4442924"/>
                <a:ext cx="6394956" cy="4321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𝟑𝟒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𝟎𝟏𝟓</m:t>
                          </m:r>
                          <m:r>
                            <a:rPr lang="fr-FR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𝐠</m:t>
                          </m:r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𝟎𝟏</m:t>
                      </m:r>
                      <m:r>
                        <a:rPr lang="fr-FR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𝐠</m:t>
                      </m:r>
                      <m:sSub>
                        <m:sSubPr>
                          <m:ctrlPr>
                            <a:rPr lang="fr-FR" sz="20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692" y="4442924"/>
                <a:ext cx="6394956" cy="432106"/>
              </a:xfrm>
              <a:prstGeom prst="rect">
                <a:avLst/>
              </a:prstGeom>
              <a:blipFill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4277309" y="5204561"/>
                <a:ext cx="7522316" cy="432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 smtClean="0">
                              <a:latin typeface="Cambria Math" panose="02040503050406030204" pitchFamily="18" charset="0"/>
                            </a:rPr>
                            <m:t>𝟏𝟐𝟎</m:t>
                          </m:r>
                          <m:r>
                            <a:rPr lang="fr-FR" sz="20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𝐠</m:t>
                          </m:r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sz="20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fr-F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𝟗𝟕𝟗</m:t>
                              </m:r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2000" b="1" i="0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b>
                          <m: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dirty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fr-FR" sz="2000" dirty="0"/>
                        <m:t>→</m:t>
                      </m:r>
                      <m:r>
                        <a:rPr lang="fr-FR" sz="2000" b="1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𝒑𝒓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𝒗𝒖𝒆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𝒕𝒉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000" b="1" i="1" dirty="0" smtClean="0">
                              <a:latin typeface="Cambria Math" panose="02040503050406030204" pitchFamily="18" charset="0"/>
                            </a:rPr>
                            <m:t>𝒐𝒓𝒊𝒒𝒖𝒆𝒎𝒆𝒏𝒕</m:t>
                          </m:r>
                        </m:sub>
                      </m:sSub>
                      <m:r>
                        <a:rPr lang="fr-FR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2000" b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𝐇𝐍𝐎</m:t>
                          </m:r>
                        </m:e>
                        <m:sub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309" y="5204561"/>
                <a:ext cx="7522316" cy="432234"/>
              </a:xfrm>
              <a:prstGeom prst="rect">
                <a:avLst/>
              </a:prstGeom>
              <a:blipFill>
                <a:blip r:embed="rId8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9322" y="6200858"/>
            <a:ext cx="9665470" cy="57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2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3619" y="317485"/>
            <a:ext cx="278069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Exercice # 4  suite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03619" y="2491501"/>
                <a:ext cx="4196983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𝐐𝐮𝐚𝐧𝐭𝐢𝐭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𝐫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éé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𝐥𝐥𝐞𝐦𝐞𝐧𝐭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𝐩𝐫𝐨𝐝𝐮𝐢𝐭𝐞</m:t>
                      </m:r>
                      <m: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9" y="2491501"/>
                <a:ext cx="4196983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5673126" y="2491501"/>
                <a:ext cx="5150769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𝐐𝐮𝐚𝐧𝐭𝐢𝐭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  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𝐩𝐫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𝐯𝐮𝐞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𝐭𝐡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𝐨𝐫𝐢𝐪𝐮𝐞𝐦𝐞𝐧𝐭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fr-FR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62.1777 g</a:t>
                </a:r>
                <a:endParaRPr lang="en-US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126" y="2491501"/>
                <a:ext cx="5150769" cy="369332"/>
              </a:xfrm>
              <a:prstGeom prst="rect">
                <a:avLst/>
              </a:prstGeom>
              <a:blipFill>
                <a:blip r:embed="rId3"/>
                <a:stretch>
                  <a:fillRect l="-355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/>
              <p:cNvSpPr txBox="1"/>
              <p:nvPr/>
            </p:nvSpPr>
            <p:spPr>
              <a:xfrm>
                <a:off x="1171074" y="1253318"/>
                <a:ext cx="8422105" cy="66627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𝑅𝑒𝑛𝑑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𝐻𝑁𝑂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𝑙𝑙𝑒𝑚𝑒𝑛𝑡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𝑝𝑟𝑜𝑑𝑢𝑖𝑡𝑒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𝑣𝑢𝑒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𝑜𝑟𝑖𝑞𝑢𝑒𝑚𝑒𝑛𝑡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74" y="1253318"/>
                <a:ext cx="8422105" cy="666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074" y="4401963"/>
            <a:ext cx="10192001" cy="85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2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18" grpId="0" animBg="1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TM10001115[[fn=Colis]]</Template>
  <TotalTime>163</TotalTime>
  <Words>763</Words>
  <Application>Microsoft Office PowerPoint</Application>
  <PresentationFormat>Grand écran</PresentationFormat>
  <Paragraphs>185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Cambria Math</vt:lpstr>
      <vt:lpstr>Gill Sans MT</vt:lpstr>
      <vt:lpstr>Rockwell</vt:lpstr>
      <vt:lpstr>Times New Roman</vt:lpstr>
      <vt:lpstr>Parcel</vt:lpstr>
      <vt:lpstr>Exemples du cours 2.8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du cours 2.8</dc:title>
  <dc:creator>Utilisateur Windows</dc:creator>
  <cp:lastModifiedBy>Utilisateur Windows</cp:lastModifiedBy>
  <cp:revision>58</cp:revision>
  <dcterms:created xsi:type="dcterms:W3CDTF">2020-10-21T15:40:06Z</dcterms:created>
  <dcterms:modified xsi:type="dcterms:W3CDTF">2020-10-21T18:23:48Z</dcterms:modified>
</cp:coreProperties>
</file>