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66" r:id="rId5"/>
    <p:sldId id="274" r:id="rId6"/>
    <p:sldId id="275" r:id="rId7"/>
    <p:sldId id="276" r:id="rId8"/>
    <p:sldId id="278" r:id="rId9"/>
    <p:sldId id="279" r:id="rId10"/>
    <p:sldId id="27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8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6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3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65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6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67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8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1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4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2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0ED4C-6CAA-4C7D-A569-35241DE70074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9DBF2-71B5-4256-9343-B4E75356C8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3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8.png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6.png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5.png"/><Relationship Id="rId28" Type="http://schemas.openxmlformats.org/officeDocument/2006/relationships/image" Target="../media/image20.png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png"/><Relationship Id="rId5" Type="http://schemas.openxmlformats.org/officeDocument/2006/relationships/image" Target="../media/image24.png"/><Relationship Id="rId10" Type="http://schemas.openxmlformats.org/officeDocument/2006/relationships/image" Target="../media/image11.wmf"/><Relationship Id="rId4" Type="http://schemas.openxmlformats.org/officeDocument/2006/relationships/image" Target="../media/image23.png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wmf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60.png"/><Relationship Id="rId18" Type="http://schemas.openxmlformats.org/officeDocument/2006/relationships/oleObject" Target="../embeddings/oleObject13.bin"/><Relationship Id="rId3" Type="http://schemas.openxmlformats.org/officeDocument/2006/relationships/image" Target="../media/image51.png"/><Relationship Id="rId21" Type="http://schemas.openxmlformats.org/officeDocument/2006/relationships/image" Target="../media/image15.wmf"/><Relationship Id="rId7" Type="http://schemas.openxmlformats.org/officeDocument/2006/relationships/image" Target="../media/image55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3.png"/><Relationship Id="rId20" Type="http://schemas.openxmlformats.org/officeDocument/2006/relationships/oleObject" Target="../embeddings/oleObject14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14.wmf"/><Relationship Id="rId4" Type="http://schemas.openxmlformats.org/officeDocument/2006/relationships/image" Target="../media/image52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13.png"/><Relationship Id="rId4" Type="http://schemas.openxmlformats.org/officeDocument/2006/relationships/image" Target="../media/image21.png"/><Relationship Id="rId9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62743" y="2975020"/>
            <a:ext cx="9144000" cy="1655762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</a:rPr>
              <a:t>Exemples du cours 3.3 Acides et bases      Aut-2020</a:t>
            </a:r>
            <a:endParaRPr lang="en-US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93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37881" y="954741"/>
            <a:ext cx="5244353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Équation de dissolution d’un acide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815710" y="2296684"/>
                <a:ext cx="3561424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fr-FR" sz="2800" dirty="0" smtClean="0"/>
                  <a:t>HN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fr-FR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 </m:t>
                    </m:r>
                    <m:sSup>
                      <m:sSupPr>
                        <m:ctrlP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fr-FR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fr-FR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sSubSup>
                      <m:sSubSupPr>
                        <m:ctrlPr>
                          <a:rPr lang="fr-F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fr-F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fr-FR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710" y="2296684"/>
                <a:ext cx="3561424" cy="523220"/>
              </a:xfrm>
              <a:prstGeom prst="rect">
                <a:avLst/>
              </a:prstGeom>
              <a:blipFill>
                <a:blip r:embed="rId2"/>
                <a:stretch>
                  <a:fillRect l="-3596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e 16"/>
          <p:cNvGrpSpPr/>
          <p:nvPr/>
        </p:nvGrpSpPr>
        <p:grpSpPr>
          <a:xfrm>
            <a:off x="4719918" y="2927482"/>
            <a:ext cx="1156447" cy="393942"/>
            <a:chOff x="4719918" y="2927482"/>
            <a:chExt cx="1156447" cy="393942"/>
          </a:xfrm>
        </p:grpSpPr>
        <p:cxnSp>
          <p:nvCxnSpPr>
            <p:cNvPr id="5" name="Connecteur droit avec flèche 4"/>
            <p:cNvCxnSpPr/>
            <p:nvPr/>
          </p:nvCxnSpPr>
          <p:spPr>
            <a:xfrm flipV="1">
              <a:off x="4719918" y="2927482"/>
              <a:ext cx="1" cy="3939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/>
            <p:cNvCxnSpPr/>
            <p:nvPr/>
          </p:nvCxnSpPr>
          <p:spPr>
            <a:xfrm>
              <a:off x="4719918" y="3321424"/>
              <a:ext cx="11564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ZoneTexte 12"/>
          <p:cNvSpPr txBox="1"/>
          <p:nvPr/>
        </p:nvSpPr>
        <p:spPr>
          <a:xfrm>
            <a:off x="5876365" y="3124453"/>
            <a:ext cx="4935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Espèce responsable du caractère acide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815710" y="4708190"/>
                <a:ext cx="2925801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fr-FR" sz="2800" dirty="0" smtClean="0"/>
                  <a:t>HCl</a:t>
                </a:r>
                <a14:m>
                  <m:oMath xmlns:m="http://schemas.openxmlformats.org/officeDocument/2006/math">
                    <m:r>
                      <a:rPr lang="fr-FR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 </m:t>
                    </m:r>
                    <m:sSup>
                      <m:sSupPr>
                        <m:ctrlP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fr-FR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sSup>
                      <m:sSupPr>
                        <m:ctrlPr>
                          <a:rPr lang="fr-F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𝐶𝑙</m:t>
                        </m:r>
                      </m:e>
                      <m:sup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710" y="4708190"/>
                <a:ext cx="2925801" cy="523220"/>
              </a:xfrm>
              <a:prstGeom prst="rect">
                <a:avLst/>
              </a:prstGeom>
              <a:blipFill>
                <a:blip r:embed="rId3"/>
                <a:stretch>
                  <a:fillRect l="-4375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ZoneTexte 14"/>
          <p:cNvSpPr txBox="1"/>
          <p:nvPr/>
        </p:nvSpPr>
        <p:spPr>
          <a:xfrm>
            <a:off x="537881" y="1792882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/>
              <a:t>Ex #1</a:t>
            </a:r>
            <a:endParaRPr lang="en-US" u="sng" dirty="0"/>
          </a:p>
        </p:txBody>
      </p:sp>
      <p:sp>
        <p:nvSpPr>
          <p:cNvPr id="16" name="ZoneTexte 15"/>
          <p:cNvSpPr txBox="1"/>
          <p:nvPr/>
        </p:nvSpPr>
        <p:spPr>
          <a:xfrm>
            <a:off x="537881" y="4600468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/>
              <a:t>Ex # 2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11839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14" grpId="0" animBg="1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37881" y="954741"/>
            <a:ext cx="5244353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Équation de dissolution d’une base</a:t>
            </a:r>
            <a:endParaRPr lang="en-US" sz="2400" dirty="0"/>
          </a:p>
        </p:txBody>
      </p:sp>
      <p:grpSp>
        <p:nvGrpSpPr>
          <p:cNvPr id="4" name="Groupe 3"/>
          <p:cNvGrpSpPr/>
          <p:nvPr/>
        </p:nvGrpSpPr>
        <p:grpSpPr>
          <a:xfrm>
            <a:off x="7006511" y="2838128"/>
            <a:ext cx="1156447" cy="398718"/>
            <a:chOff x="7006511" y="2838128"/>
            <a:chExt cx="1156447" cy="398718"/>
          </a:xfrm>
        </p:grpSpPr>
        <p:cxnSp>
          <p:nvCxnSpPr>
            <p:cNvPr id="5" name="Connecteur droit avec flèche 4"/>
            <p:cNvCxnSpPr/>
            <p:nvPr/>
          </p:nvCxnSpPr>
          <p:spPr>
            <a:xfrm flipV="1">
              <a:off x="7006511" y="2838128"/>
              <a:ext cx="1" cy="3939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/>
            <p:cNvCxnSpPr/>
            <p:nvPr/>
          </p:nvCxnSpPr>
          <p:spPr>
            <a:xfrm>
              <a:off x="7006511" y="3236846"/>
              <a:ext cx="11564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ZoneTexte 12"/>
          <p:cNvSpPr txBox="1"/>
          <p:nvPr/>
        </p:nvSpPr>
        <p:spPr>
          <a:xfrm>
            <a:off x="8322578" y="3035099"/>
            <a:ext cx="3342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Espèce responsable du caractère</a:t>
            </a:r>
          </a:p>
          <a:p>
            <a:r>
              <a:rPr lang="fr-FR" dirty="0" smtClean="0"/>
              <a:t>Alcalin (basique)</a:t>
            </a:r>
            <a:endParaRPr lang="en-US" dirty="0"/>
          </a:p>
        </p:txBody>
      </p:sp>
      <p:sp>
        <p:nvSpPr>
          <p:cNvPr id="15" name="ZoneTexte 14"/>
          <p:cNvSpPr txBox="1"/>
          <p:nvPr/>
        </p:nvSpPr>
        <p:spPr>
          <a:xfrm>
            <a:off x="537881" y="1792882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/>
              <a:t>Ex # 3</a:t>
            </a:r>
            <a:endParaRPr lang="en-US" u="sng" dirty="0"/>
          </a:p>
        </p:txBody>
      </p:sp>
      <p:sp>
        <p:nvSpPr>
          <p:cNvPr id="16" name="ZoneTexte 15"/>
          <p:cNvSpPr txBox="1"/>
          <p:nvPr/>
        </p:nvSpPr>
        <p:spPr>
          <a:xfrm>
            <a:off x="537881" y="4600468"/>
            <a:ext cx="86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/>
              <a:t>Ex # 4</a:t>
            </a:r>
            <a:endParaRPr 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666596" y="2277468"/>
                <a:ext cx="5106398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800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fr-FR" sz="2800" b="0" i="0" dirty="0" smtClean="0">
                        <a:latin typeface="Cambria Math" panose="02040503050406030204" pitchFamily="18" charset="0"/>
                      </a:rPr>
                      <m:t>KOH</m:t>
                    </m:r>
                    <m:r>
                      <a:rPr lang="fr-FR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 </m:t>
                    </m:r>
                    <m:sSup>
                      <m:sSupPr>
                        <m:ctrlPr>
                          <a:rPr lang="fr-F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1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fr-FR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sSup>
                      <m:sSupPr>
                        <m:ctrlP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</m:t>
                        </m:r>
                        <m:r>
                          <a:rPr lang="fr-FR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𝑂𝐻</m:t>
                        </m:r>
                      </m:e>
                      <m:sup>
                        <m: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fr-FR" sz="2800" dirty="0" smtClean="0"/>
                  <a:t>  </a:t>
                </a:r>
                <a:endParaRPr lang="en-US" sz="2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596" y="2277468"/>
                <a:ext cx="510639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666596" y="4785134"/>
                <a:ext cx="5512919" cy="5847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i="1" dirty="0" smtClean="0">
                          <a:latin typeface="Cambria Math" panose="02040503050406030204" pitchFamily="18" charset="0"/>
                        </a:rPr>
                        <m:t>𝐶𝑎</m:t>
                      </m:r>
                      <m:r>
                        <a:rPr lang="fr-FR" sz="3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3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3200" b="0" i="1" dirty="0" smtClean="0">
                                  <a:latin typeface="Cambria Math" panose="02040503050406030204" pitchFamily="18" charset="0"/>
                                </a:rPr>
                                <m:t>𝑂𝐻</m:t>
                              </m:r>
                            </m:e>
                          </m:d>
                        </m:e>
                        <m:sub>
                          <m:r>
                            <a:rPr lang="fr-FR" sz="3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3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 </m:t>
                      </m:r>
                      <m:sSup>
                        <m:sSupPr>
                          <m:ctrlPr>
                            <a:rPr lang="fr-FR" sz="3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</m:t>
                          </m:r>
                        </m:e>
                        <m:sup>
                          <m:r>
                            <a:rPr lang="fr-FR" sz="3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3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+2</m:t>
                      </m:r>
                      <m:sSup>
                        <m:sSupPr>
                          <m:ctrlPr>
                            <a:rPr lang="fr-FR" sz="3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3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𝑂𝐻</m:t>
                          </m:r>
                        </m:e>
                        <m:sup>
                          <m:r>
                            <a:rPr lang="fr-FR" sz="3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596" y="4785134"/>
                <a:ext cx="551291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81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0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904828"/>
              </p:ext>
            </p:extLst>
          </p:nvPr>
        </p:nvGraphicFramePr>
        <p:xfrm>
          <a:off x="8111341" y="2308070"/>
          <a:ext cx="3266408" cy="600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Équation" r:id="rId3" imgW="1244520" imgH="228600" progId="Equation.3">
                  <p:embed/>
                </p:oleObj>
              </mc:Choice>
              <mc:Fallback>
                <p:oleObj name="Équation" r:id="rId3" imgW="124452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11341" y="2308070"/>
                        <a:ext cx="3266408" cy="600868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346118"/>
              </p:ext>
            </p:extLst>
          </p:nvPr>
        </p:nvGraphicFramePr>
        <p:xfrm>
          <a:off x="8111341" y="3608749"/>
          <a:ext cx="3432092" cy="677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Équation" r:id="rId5" imgW="1028520" imgH="203040" progId="Equation.3">
                  <p:embed/>
                </p:oleObj>
              </mc:Choice>
              <mc:Fallback>
                <p:oleObj name="Équation" r:id="rId5" imgW="102852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11341" y="3608749"/>
                        <a:ext cx="3432092" cy="677944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72188"/>
              </p:ext>
            </p:extLst>
          </p:nvPr>
        </p:nvGraphicFramePr>
        <p:xfrm>
          <a:off x="273471" y="5498225"/>
          <a:ext cx="3247203" cy="58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Équation" r:id="rId7" imgW="1269720" imgH="228600" progId="Equation.3">
                  <p:embed/>
                </p:oleObj>
              </mc:Choice>
              <mc:Fallback>
                <p:oleObj name="Équation" r:id="rId7" imgW="126972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3471" y="5498225"/>
                        <a:ext cx="3247203" cy="58410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785846"/>
              </p:ext>
            </p:extLst>
          </p:nvPr>
        </p:nvGraphicFramePr>
        <p:xfrm>
          <a:off x="309021" y="4582372"/>
          <a:ext cx="2550160" cy="573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Équation" r:id="rId9" imgW="1015920" imgH="228600" progId="Equation.3">
                  <p:embed/>
                </p:oleObj>
              </mc:Choice>
              <mc:Fallback>
                <p:oleObj name="Équation" r:id="rId9" imgW="101592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9021" y="4582372"/>
                        <a:ext cx="2550160" cy="573786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005935"/>
              </p:ext>
            </p:extLst>
          </p:nvPr>
        </p:nvGraphicFramePr>
        <p:xfrm>
          <a:off x="4373001" y="5547708"/>
          <a:ext cx="3045589" cy="48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Équation" r:id="rId11" imgW="1434960" imgH="228600" progId="Equation.3">
                  <p:embed/>
                </p:oleObj>
              </mc:Choice>
              <mc:Fallback>
                <p:oleObj name="Équation" r:id="rId11" imgW="143496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73001" y="5547708"/>
                        <a:ext cx="3045589" cy="485138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507411"/>
              </p:ext>
            </p:extLst>
          </p:nvPr>
        </p:nvGraphicFramePr>
        <p:xfrm>
          <a:off x="4373001" y="4576515"/>
          <a:ext cx="26955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Équation" r:id="rId13" imgW="1269720" imgH="228600" progId="Equation.3">
                  <p:embed/>
                </p:oleObj>
              </mc:Choice>
              <mc:Fallback>
                <p:oleObj name="Équation" r:id="rId13" imgW="1269720" imgH="228600" progId="Equation.3">
                  <p:embed/>
                  <p:pic>
                    <p:nvPicPr>
                      <p:cNvPr id="8" name="Objet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73001" y="4576515"/>
                        <a:ext cx="2695575" cy="48577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439564"/>
              </p:ext>
            </p:extLst>
          </p:nvPr>
        </p:nvGraphicFramePr>
        <p:xfrm>
          <a:off x="266717" y="1798648"/>
          <a:ext cx="2304486" cy="738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Équation" r:id="rId15" imgW="1422360" imgH="457200" progId="Equation.3">
                  <p:embed/>
                </p:oleObj>
              </mc:Choice>
              <mc:Fallback>
                <p:oleObj name="Équation" r:id="rId15" imgW="142236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6717" y="1798648"/>
                        <a:ext cx="2304486" cy="73896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131913"/>
              </p:ext>
            </p:extLst>
          </p:nvPr>
        </p:nvGraphicFramePr>
        <p:xfrm>
          <a:off x="273471" y="2942431"/>
          <a:ext cx="2468701" cy="738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Équation" r:id="rId17" imgW="1523880" imgH="457200" progId="Equation.3">
                  <p:embed/>
                </p:oleObj>
              </mc:Choice>
              <mc:Fallback>
                <p:oleObj name="Équation" r:id="rId17" imgW="1523880" imgH="457200" progId="Equation.3">
                  <p:embed/>
                  <p:pic>
                    <p:nvPicPr>
                      <p:cNvPr id="10" name="Objet 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3471" y="2942431"/>
                        <a:ext cx="2468701" cy="73896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670660"/>
              </p:ext>
            </p:extLst>
          </p:nvPr>
        </p:nvGraphicFramePr>
        <p:xfrm>
          <a:off x="3799180" y="1829932"/>
          <a:ext cx="2974405" cy="626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Équation" r:id="rId19" imgW="1206360" imgH="253800" progId="Equation.3">
                  <p:embed/>
                </p:oleObj>
              </mc:Choice>
              <mc:Fallback>
                <p:oleObj name="Équation" r:id="rId19" imgW="120636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99180" y="1829932"/>
                        <a:ext cx="2974405" cy="626191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154929"/>
              </p:ext>
            </p:extLst>
          </p:nvPr>
        </p:nvGraphicFramePr>
        <p:xfrm>
          <a:off x="3797221" y="3033397"/>
          <a:ext cx="2978323" cy="55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Équation" r:id="rId21" imgW="1358640" imgH="253800" progId="Equation.3">
                  <p:embed/>
                </p:oleObj>
              </mc:Choice>
              <mc:Fallback>
                <p:oleObj name="Équation" r:id="rId21" imgW="1358640" imgH="253800" progId="Equation.3">
                  <p:embed/>
                  <p:pic>
                    <p:nvPicPr>
                      <p:cNvPr id="13" name="Objet 1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97221" y="3033397"/>
                        <a:ext cx="2978323" cy="55703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ZoneTexte 14"/>
          <p:cNvSpPr txBox="1"/>
          <p:nvPr/>
        </p:nvSpPr>
        <p:spPr>
          <a:xfrm>
            <a:off x="309021" y="265995"/>
            <a:ext cx="1710405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3600" b="1" dirty="0" smtClean="0"/>
              <a:t>Résumé</a:t>
            </a:r>
            <a:endParaRPr lang="en-US" sz="3600" b="1" dirty="0"/>
          </a:p>
        </p:txBody>
      </p:sp>
      <p:sp>
        <p:nvSpPr>
          <p:cNvPr id="2" name="ZoneTexte 1"/>
          <p:cNvSpPr txBox="1"/>
          <p:nvPr/>
        </p:nvSpPr>
        <p:spPr>
          <a:xfrm>
            <a:off x="309021" y="1118533"/>
            <a:ext cx="637444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Quelque soit la solution  (acide ou une base) on peut calculer 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2843097" y="1938738"/>
                <a:ext cx="770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097" y="1938738"/>
                <a:ext cx="77002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2843097" y="3188417"/>
                <a:ext cx="770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097" y="3188417"/>
                <a:ext cx="77002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droit 16"/>
          <p:cNvCxnSpPr/>
          <p:nvPr/>
        </p:nvCxnSpPr>
        <p:spPr>
          <a:xfrm>
            <a:off x="7713584" y="912326"/>
            <a:ext cx="33377" cy="59161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8145313" y="875318"/>
            <a:ext cx="323243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Pour toute solution aqueuse: (dont le solvant est l’eau)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/>
              <p:cNvSpPr txBox="1"/>
              <p:nvPr/>
            </p:nvSpPr>
            <p:spPr>
              <a:xfrm>
                <a:off x="3451711" y="4634737"/>
                <a:ext cx="770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711" y="4634737"/>
                <a:ext cx="77002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/>
              <p:cNvSpPr txBox="1"/>
              <p:nvPr/>
            </p:nvSpPr>
            <p:spPr>
              <a:xfrm>
                <a:off x="3482734" y="5584380"/>
                <a:ext cx="770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734" y="5584380"/>
                <a:ext cx="770021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8011150" y="5169301"/>
                <a:ext cx="2487706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𝑝𝐻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7 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𝑢𝑛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𝑎𝑐𝑖𝑑𝑒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150" y="5169301"/>
                <a:ext cx="2487706" cy="369332"/>
              </a:xfrm>
              <a:prstGeom prst="rect">
                <a:avLst/>
              </a:prstGeom>
              <a:blipFill>
                <a:blip r:embed="rId2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7970979" y="5848180"/>
                <a:ext cx="2487706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𝑝𝐻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7 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𝑢𝑛𝑒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𝑏𝑎𝑠𝑒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979" y="5848180"/>
                <a:ext cx="2487706" cy="369332"/>
              </a:xfrm>
              <a:prstGeom prst="rect">
                <a:avLst/>
              </a:prstGeom>
              <a:blipFill>
                <a:blip r:embed="rId27"/>
                <a:stretch>
                  <a:fillRect l="-24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/>
              <p:cNvSpPr txBox="1"/>
              <p:nvPr/>
            </p:nvSpPr>
            <p:spPr>
              <a:xfrm>
                <a:off x="7970978" y="6342393"/>
                <a:ext cx="3674175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𝑝𝐻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7 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𝑢𝑛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𝑚𝑖𝑙𝑖𝑒𝑢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𝑛𝑒𝑢𝑡𝑟𝑒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978" y="6342393"/>
                <a:ext cx="3674175" cy="369332"/>
              </a:xfrm>
              <a:prstGeom prst="rect">
                <a:avLst/>
              </a:prstGeom>
              <a:blipFill>
                <a:blip r:embed="rId2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63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6" grpId="0"/>
      <p:bldP spid="22" grpId="0" animBg="1"/>
      <p:bldP spid="23" grpId="0"/>
      <p:bldP spid="24" grpId="0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33916" y="604727"/>
            <a:ext cx="9135035" cy="13849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US" sz="12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r>
              <a:rPr lang="fr-FR" dirty="0">
                <a:latin typeface="Century Gothic" panose="020B0502020202020204" pitchFamily="34" charset="0"/>
              </a:rPr>
              <a:t>Une solution aqueuse contient 0.12% mas de </a:t>
            </a:r>
            <a:r>
              <a:rPr lang="fr-FR" dirty="0" err="1">
                <a:latin typeface="Century Gothic" panose="020B0502020202020204" pitchFamily="34" charset="0"/>
              </a:rPr>
              <a:t>HCl</a:t>
            </a:r>
            <a:r>
              <a:rPr lang="fr-FR" dirty="0">
                <a:latin typeface="Century Gothic" panose="020B0502020202020204" pitchFamily="34" charset="0"/>
              </a:rPr>
              <a:t>. </a:t>
            </a:r>
            <a:endParaRPr lang="fr-FR" dirty="0" smtClean="0">
              <a:latin typeface="Century Gothic" panose="020B0502020202020204" pitchFamily="34" charset="0"/>
            </a:endParaRPr>
          </a:p>
          <a:p>
            <a:endParaRPr lang="fr-FR" dirty="0" smtClean="0">
              <a:latin typeface="Century Gothic" panose="020B0502020202020204" pitchFamily="34" charset="0"/>
            </a:endParaRPr>
          </a:p>
          <a:p>
            <a:r>
              <a:rPr lang="fr-FR" dirty="0" smtClean="0">
                <a:latin typeface="Century Gothic" panose="020B0502020202020204" pitchFamily="34" charset="0"/>
              </a:rPr>
              <a:t>	a. Quel </a:t>
            </a:r>
            <a:r>
              <a:rPr lang="fr-FR" dirty="0">
                <a:latin typeface="Century Gothic" panose="020B0502020202020204" pitchFamily="34" charset="0"/>
              </a:rPr>
              <a:t>est le pH de </a:t>
            </a:r>
            <a:r>
              <a:rPr lang="fr-FR" dirty="0" smtClean="0">
                <a:latin typeface="Century Gothic" panose="020B0502020202020204" pitchFamily="34" charset="0"/>
              </a:rPr>
              <a:t>la solution ?</a:t>
            </a:r>
          </a:p>
          <a:p>
            <a:r>
              <a:rPr lang="fr-FR" dirty="0">
                <a:latin typeface="Century Gothic" panose="020B0502020202020204" pitchFamily="34" charset="0"/>
              </a:rPr>
              <a:t>	</a:t>
            </a:r>
            <a:r>
              <a:rPr lang="fr-FR" dirty="0" smtClean="0">
                <a:latin typeface="Century Gothic" panose="020B0502020202020204" pitchFamily="34" charset="0"/>
              </a:rPr>
              <a:t>b. </a:t>
            </a:r>
            <a:r>
              <a:rPr lang="fr-FR" dirty="0" err="1" smtClean="0">
                <a:latin typeface="Century Gothic" panose="020B0502020202020204" pitchFamily="34" charset="0"/>
              </a:rPr>
              <a:t>lLa</a:t>
            </a:r>
            <a:r>
              <a:rPr lang="fr-FR" dirty="0" smtClean="0">
                <a:latin typeface="Century Gothic" panose="020B0502020202020204" pitchFamily="34" charset="0"/>
              </a:rPr>
              <a:t> </a:t>
            </a:r>
            <a:r>
              <a:rPr lang="fr-FR" dirty="0">
                <a:latin typeface="Century Gothic" panose="020B0502020202020204" pitchFamily="34" charset="0"/>
              </a:rPr>
              <a:t>concentration en OH</a:t>
            </a:r>
            <a:r>
              <a:rPr lang="fr-FR" sz="1100" dirty="0">
                <a:latin typeface="Century Gothic" panose="020B0502020202020204" pitchFamily="34" charset="0"/>
              </a:rPr>
              <a:t>-</a:t>
            </a:r>
            <a:r>
              <a:rPr lang="fr-FR" dirty="0">
                <a:latin typeface="Century Gothic" panose="020B0502020202020204" pitchFamily="34" charset="0"/>
              </a:rPr>
              <a:t>? </a:t>
            </a:r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268940" y="242047"/>
            <a:ext cx="184224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#1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8167290" y="1484599"/>
                <a:ext cx="3012142" cy="46147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Donnée: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𝑠𝑜𝑙𝑢𝑡𝑖𝑜𝑛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=1000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290" y="1484599"/>
                <a:ext cx="3012142" cy="461473"/>
              </a:xfrm>
              <a:prstGeom prst="rect">
                <a:avLst/>
              </a:prstGeom>
              <a:blipFill>
                <a:blip r:embed="rId3"/>
                <a:stretch>
                  <a:fillRect l="-1822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/>
          <p:cNvSpPr txBox="1"/>
          <p:nvPr/>
        </p:nvSpPr>
        <p:spPr>
          <a:xfrm>
            <a:off x="281709" y="3632181"/>
            <a:ext cx="432995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Si nous travaillons sur </a:t>
            </a:r>
            <a:r>
              <a:rPr lang="fr-FR" b="1" dirty="0" smtClean="0">
                <a:solidFill>
                  <a:srgbClr val="FF0000"/>
                </a:solidFill>
              </a:rPr>
              <a:t>1 L</a:t>
            </a:r>
            <a:r>
              <a:rPr lang="fr-FR" dirty="0" smtClean="0"/>
              <a:t> de solution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4817408" y="3623628"/>
                <a:ext cx="3220572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𝑠𝑜𝑙𝑢𝑡𝑖𝑜𝑛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408" y="3623628"/>
                <a:ext cx="3220572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375838" y="4276944"/>
                <a:ext cx="4222378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𝑢𝑡𝑖𝑙𝑖𝑠𝑎𝑛𝑡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𝑚𝑎𝑠𝑠𝑠𝑖𝑞𝑢𝑒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fr-FR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38" y="4276944"/>
                <a:ext cx="4222378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803962" y="4283205"/>
                <a:ext cx="3490892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𝐻𝐶𝑙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12×1000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=1.2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962" y="4283205"/>
                <a:ext cx="3490892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803962" y="4866575"/>
                <a:ext cx="4404604" cy="5209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𝐻𝐶𝑙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𝐻𝐶𝑙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𝐻𝐶𝑙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1.2 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36.46 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𝑚𝑜𝑙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den>
                    </m:f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0.0329</m:t>
                    </m:r>
                  </m:oMath>
                </a14:m>
                <a:r>
                  <a:rPr lang="en-US" dirty="0" smtClean="0"/>
                  <a:t> mol</a:t>
                </a:r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962" y="4866575"/>
                <a:ext cx="4404604" cy="520976"/>
              </a:xfrm>
              <a:prstGeom prst="rect">
                <a:avLst/>
              </a:prstGeom>
              <a:blipFill>
                <a:blip r:embed="rId7"/>
                <a:stretch>
                  <a:fillRect t="-12791" r="-415" b="-9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45414" y="5767057"/>
                <a:ext cx="8021876" cy="66511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𝑝𝑒𝑢𝑡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𝑐𝑜𝑛𝑐𝑙𝑢𝑟𝑒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𝑞𝑢𝑒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    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𝐻𝐶𝑙</m:t>
                              </m:r>
                            </m:e>
                          </m:d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𝐻𝐶𝑙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𝑠𝑜𝑙𝑢𝑡𝑖𝑜𝑛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0.0329 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0.0329</m:t>
                      </m:r>
                      <m:f>
                        <m:fPr>
                          <m:type m:val="lin"/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14" y="5767057"/>
                <a:ext cx="8021876" cy="6651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20284" y="2473601"/>
            <a:ext cx="5772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>
                <a:latin typeface="Century Gothic" panose="020B0502020202020204" pitchFamily="34" charset="0"/>
              </a:rPr>
              <a:t>a. Quel est le pH de la solution ?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753035" y="3024840"/>
            <a:ext cx="7032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C00000"/>
                </a:solidFill>
              </a:rPr>
              <a:t>Il s’agit alors de calculer la concentration molaire en espèce H </a:t>
            </a:r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13" name="Obje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971057"/>
              </p:ext>
            </p:extLst>
          </p:nvPr>
        </p:nvGraphicFramePr>
        <p:xfrm>
          <a:off x="6294434" y="2352527"/>
          <a:ext cx="2271342" cy="550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Équation" r:id="rId9" imgW="1015920" imgH="228600" progId="Equation.3">
                  <p:embed/>
                </p:oleObj>
              </mc:Choice>
              <mc:Fallback>
                <p:oleObj name="Équation" r:id="rId9" imgW="1015920" imgH="228600" progId="Equation.3">
                  <p:embed/>
                  <p:pic>
                    <p:nvPicPr>
                      <p:cNvPr id="7" name="Objet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94434" y="2352527"/>
                        <a:ext cx="2271342" cy="55020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545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33916" y="604727"/>
            <a:ext cx="9135035" cy="13849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US" sz="12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r>
              <a:rPr lang="fr-FR" dirty="0">
                <a:latin typeface="Century Gothic" panose="020B0502020202020204" pitchFamily="34" charset="0"/>
              </a:rPr>
              <a:t>Une solution aqueuse contient 0.12% mas de </a:t>
            </a:r>
            <a:r>
              <a:rPr lang="fr-FR" dirty="0" err="1">
                <a:latin typeface="Century Gothic" panose="020B0502020202020204" pitchFamily="34" charset="0"/>
              </a:rPr>
              <a:t>HCl</a:t>
            </a:r>
            <a:r>
              <a:rPr lang="fr-FR" dirty="0">
                <a:latin typeface="Century Gothic" panose="020B0502020202020204" pitchFamily="34" charset="0"/>
              </a:rPr>
              <a:t>. </a:t>
            </a:r>
            <a:endParaRPr lang="fr-FR" dirty="0" smtClean="0">
              <a:latin typeface="Century Gothic" panose="020B0502020202020204" pitchFamily="34" charset="0"/>
            </a:endParaRPr>
          </a:p>
          <a:p>
            <a:endParaRPr lang="fr-FR" dirty="0" smtClean="0">
              <a:latin typeface="Century Gothic" panose="020B0502020202020204" pitchFamily="34" charset="0"/>
            </a:endParaRPr>
          </a:p>
          <a:p>
            <a:r>
              <a:rPr lang="fr-FR" dirty="0" smtClean="0">
                <a:latin typeface="Century Gothic" panose="020B0502020202020204" pitchFamily="34" charset="0"/>
              </a:rPr>
              <a:t>	a. Quel </a:t>
            </a:r>
            <a:r>
              <a:rPr lang="fr-FR" dirty="0">
                <a:latin typeface="Century Gothic" panose="020B0502020202020204" pitchFamily="34" charset="0"/>
              </a:rPr>
              <a:t>est le pH de </a:t>
            </a:r>
            <a:r>
              <a:rPr lang="fr-FR" dirty="0" smtClean="0">
                <a:latin typeface="Century Gothic" panose="020B0502020202020204" pitchFamily="34" charset="0"/>
              </a:rPr>
              <a:t>la solution ?</a:t>
            </a:r>
          </a:p>
          <a:p>
            <a:r>
              <a:rPr lang="fr-FR" dirty="0">
                <a:latin typeface="Century Gothic" panose="020B0502020202020204" pitchFamily="34" charset="0"/>
              </a:rPr>
              <a:t>	</a:t>
            </a:r>
            <a:r>
              <a:rPr lang="fr-FR" dirty="0" smtClean="0">
                <a:latin typeface="Century Gothic" panose="020B0502020202020204" pitchFamily="34" charset="0"/>
              </a:rPr>
              <a:t>b. </a:t>
            </a:r>
            <a:r>
              <a:rPr lang="fr-FR" dirty="0" err="1" smtClean="0">
                <a:latin typeface="Century Gothic" panose="020B0502020202020204" pitchFamily="34" charset="0"/>
              </a:rPr>
              <a:t>lLa</a:t>
            </a:r>
            <a:r>
              <a:rPr lang="fr-FR" dirty="0" smtClean="0">
                <a:latin typeface="Century Gothic" panose="020B0502020202020204" pitchFamily="34" charset="0"/>
              </a:rPr>
              <a:t> </a:t>
            </a:r>
            <a:r>
              <a:rPr lang="fr-FR" dirty="0">
                <a:latin typeface="Century Gothic" panose="020B0502020202020204" pitchFamily="34" charset="0"/>
              </a:rPr>
              <a:t>concentration en OH</a:t>
            </a:r>
            <a:r>
              <a:rPr lang="fr-FR" sz="1100" dirty="0">
                <a:latin typeface="Century Gothic" panose="020B0502020202020204" pitchFamily="34" charset="0"/>
              </a:rPr>
              <a:t>-</a:t>
            </a:r>
            <a:r>
              <a:rPr lang="fr-FR" dirty="0">
                <a:latin typeface="Century Gothic" panose="020B0502020202020204" pitchFamily="34" charset="0"/>
              </a:rPr>
              <a:t>? </a:t>
            </a:r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268940" y="242047"/>
            <a:ext cx="184224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#1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8167290" y="1484599"/>
                <a:ext cx="3012142" cy="46147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Donnée: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𝑠𝑜𝑙𝑢𝑡𝑖𝑜𝑛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=1000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290" y="1484599"/>
                <a:ext cx="3012142" cy="461473"/>
              </a:xfrm>
              <a:prstGeom prst="rect">
                <a:avLst/>
              </a:prstGeom>
              <a:blipFill>
                <a:blip r:embed="rId3"/>
                <a:stretch>
                  <a:fillRect l="-1822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20284" y="3335129"/>
                <a:ext cx="5391028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𝑝𝑒𝑢𝑡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𝑐𝑜𝑛𝑐𝑙𝑢𝑟𝑒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𝑞𝑢𝑒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    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𝐻𝐶𝑙</m:t>
                              </m:r>
                            </m:e>
                          </m:d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0.0329</m:t>
                      </m:r>
                      <m:f>
                        <m:fPr>
                          <m:type m:val="lin"/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84" y="3335129"/>
                <a:ext cx="5391028" cy="369332"/>
              </a:xfrm>
              <a:prstGeom prst="rect">
                <a:avLst/>
              </a:prstGeom>
              <a:blipFill>
                <a:blip r:embed="rId4"/>
                <a:stretch>
                  <a:fillRect t="-116393" r="-8597" b="-175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20284" y="2473601"/>
            <a:ext cx="5772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>
                <a:latin typeface="Century Gothic" panose="020B0502020202020204" pitchFamily="34" charset="0"/>
              </a:rPr>
              <a:t>a. Quel est le pH de la solution ?</a:t>
            </a:r>
          </a:p>
        </p:txBody>
      </p:sp>
      <p:graphicFrame>
        <p:nvGraphicFramePr>
          <p:cNvPr id="13" name="Obje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458686"/>
              </p:ext>
            </p:extLst>
          </p:nvPr>
        </p:nvGraphicFramePr>
        <p:xfrm>
          <a:off x="5993018" y="2550843"/>
          <a:ext cx="2271342" cy="550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Équation" r:id="rId5" imgW="1015920" imgH="228600" progId="Equation.3">
                  <p:embed/>
                </p:oleObj>
              </mc:Choice>
              <mc:Fallback>
                <p:oleObj name="Équation" r:id="rId5" imgW="1015920" imgH="228600" progId="Equation.3">
                  <p:embed/>
                  <p:pic>
                    <p:nvPicPr>
                      <p:cNvPr id="13" name="Obje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93018" y="2550843"/>
                        <a:ext cx="2271342" cy="55020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815710" y="4708190"/>
                <a:ext cx="3086101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fr-FR" sz="2800" dirty="0" smtClean="0"/>
                  <a:t> HCl</a:t>
                </a:r>
                <a14:m>
                  <m:oMath xmlns:m="http://schemas.openxmlformats.org/officeDocument/2006/math">
                    <m:r>
                      <a:rPr lang="fr-FR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 </m:t>
                    </m:r>
                    <m:sSup>
                      <m:sSupPr>
                        <m:ctrlPr>
                          <a:rPr lang="fr-FR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8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fr-FR" sz="28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fr-FR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fr-FR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Cl</m:t>
                        </m:r>
                      </m:e>
                      <m:sup>
                        <m:r>
                          <a:rPr lang="fr-FR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710" y="4708190"/>
                <a:ext cx="3086101" cy="523220"/>
              </a:xfrm>
              <a:prstGeom prst="rect">
                <a:avLst/>
              </a:prstGeom>
              <a:blipFill>
                <a:blip r:embed="rId7"/>
                <a:stretch>
                  <a:fillRect l="-1581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ZoneTexte 14"/>
          <p:cNvSpPr txBox="1"/>
          <p:nvPr/>
        </p:nvSpPr>
        <p:spPr>
          <a:xfrm>
            <a:off x="510988" y="4101353"/>
            <a:ext cx="794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Et d’après l’</a:t>
            </a:r>
            <a:r>
              <a:rPr lang="fr-FR" b="1" dirty="0" err="1" smtClean="0"/>
              <a:t>équationde</a:t>
            </a:r>
            <a:r>
              <a:rPr lang="fr-FR" b="1" dirty="0" smtClean="0"/>
              <a:t> dissolution de </a:t>
            </a:r>
            <a:r>
              <a:rPr lang="fr-FR" b="1" dirty="0" err="1" smtClean="0"/>
              <a:t>HCl</a:t>
            </a:r>
            <a:r>
              <a:rPr lang="fr-FR" b="1" dirty="0" smtClean="0"/>
              <a:t> on peut faire la relation entre </a:t>
            </a:r>
            <a:r>
              <a:rPr lang="fr-FR" b="1" dirty="0" smtClean="0">
                <a:solidFill>
                  <a:srgbClr val="FF0000"/>
                </a:solidFill>
              </a:rPr>
              <a:t>H</a:t>
            </a:r>
            <a:r>
              <a:rPr lang="fr-FR" b="1" baseline="30000" dirty="0" smtClean="0">
                <a:solidFill>
                  <a:srgbClr val="FF0000"/>
                </a:solidFill>
              </a:rPr>
              <a:t>+</a:t>
            </a:r>
            <a:r>
              <a:rPr lang="fr-FR" b="1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HCL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2764955" y="4785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023046" y="47831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940326" y="4785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196896" y="4783115"/>
                <a:ext cx="4564135" cy="4616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𝐻𝐶𝑙</m:t>
                              </m:r>
                            </m:e>
                          </m:d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0.0329</m:t>
                      </m:r>
                      <m:f>
                        <m:fPr>
                          <m:type m:val="lin"/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896" y="4783115"/>
                <a:ext cx="4564135" cy="461665"/>
              </a:xfrm>
              <a:prstGeom prst="rect">
                <a:avLst/>
              </a:prstGeom>
              <a:blipFill>
                <a:blip r:embed="rId8"/>
                <a:stretch>
                  <a:fillRect t="-126667" r="-14305" b="-19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765251" y="5939562"/>
                <a:ext cx="7138941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𝑝𝐻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0.0329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=1.48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251" y="5939562"/>
                <a:ext cx="7138941" cy="461665"/>
              </a:xfrm>
              <a:prstGeom prst="rect">
                <a:avLst/>
              </a:prstGeom>
              <a:blipFill>
                <a:blip r:embed="rId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87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4" grpId="0" animBg="1"/>
      <p:bldP spid="15" grpId="0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8050" y="893019"/>
            <a:ext cx="5295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>
                <a:latin typeface="Century Gothic" panose="020B0502020202020204" pitchFamily="34" charset="0"/>
              </a:rPr>
              <a:t>b. </a:t>
            </a:r>
            <a:r>
              <a:rPr lang="fr-FR" sz="2800" b="1" dirty="0" smtClean="0">
                <a:latin typeface="Century Gothic" panose="020B0502020202020204" pitchFamily="34" charset="0"/>
              </a:rPr>
              <a:t>La </a:t>
            </a:r>
            <a:r>
              <a:rPr lang="fr-FR" sz="2800" b="1" dirty="0">
                <a:latin typeface="Century Gothic" panose="020B0502020202020204" pitchFamily="34" charset="0"/>
              </a:rPr>
              <a:t>concentration en OH-? </a:t>
            </a:r>
            <a:endParaRPr lang="en-US" sz="2800" b="1" dirty="0"/>
          </a:p>
        </p:txBody>
      </p:sp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546893"/>
              </p:ext>
            </p:extLst>
          </p:nvPr>
        </p:nvGraphicFramePr>
        <p:xfrm>
          <a:off x="640616" y="2780660"/>
          <a:ext cx="2855619" cy="564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Équation" r:id="rId3" imgW="1028520" imgH="203040" progId="Equation.3">
                  <p:embed/>
                </p:oleObj>
              </mc:Choice>
              <mc:Fallback>
                <p:oleObj name="Équation" r:id="rId3" imgW="1028520" imgH="203040" progId="Equation.3">
                  <p:embed/>
                  <p:pic>
                    <p:nvPicPr>
                      <p:cNvPr id="5" name="Obje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616" y="2780660"/>
                        <a:ext cx="2855619" cy="56407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40616" y="1918891"/>
                <a:ext cx="3440942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𝑝𝑂𝐻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16" y="1918891"/>
                <a:ext cx="344094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4999131" y="2929235"/>
                <a:ext cx="4148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𝑝𝑂𝐻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𝑝𝐻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131" y="2929235"/>
                <a:ext cx="4148042" cy="461665"/>
              </a:xfrm>
              <a:prstGeom prst="rect">
                <a:avLst/>
              </a:prstGeom>
              <a:blipFill>
                <a:blip r:embed="rId6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5671110" y="3816580"/>
                <a:ext cx="459179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𝑝𝑂𝐻</m:t>
                    </m:r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=14−1.48</m:t>
                    </m:r>
                  </m:oMath>
                </a14:m>
                <a:r>
                  <a:rPr lang="en-US" sz="2200" dirty="0" smtClean="0"/>
                  <a:t> = 12.52</a:t>
                </a:r>
                <a:endParaRPr lang="en-US" sz="2200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110" y="3816580"/>
                <a:ext cx="4591796" cy="430887"/>
              </a:xfrm>
              <a:prstGeom prst="rect">
                <a:avLst/>
              </a:prstGeom>
              <a:blipFill>
                <a:blip r:embed="rId7"/>
                <a:stretch>
                  <a:fillRect t="-9859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5136776" y="4707301"/>
                <a:ext cx="4591796" cy="462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𝑂𝐻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fr-FR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𝑝𝑂𝐻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776" y="4707301"/>
                <a:ext cx="4591796" cy="4628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5671110" y="5695407"/>
                <a:ext cx="6320118" cy="79117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𝑂𝐻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fr-FR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−12.52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=3.019 ×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−13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110" y="5695407"/>
                <a:ext cx="6320118" cy="7911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96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6" grpId="0"/>
      <p:bldP spid="7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31588" y="722853"/>
            <a:ext cx="2611612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Neutralisation</a:t>
            </a:r>
            <a:endParaRPr lang="en-US" sz="3200" b="1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lum bright="-29000" contrast="51000"/>
          </a:blip>
          <a:srcRect/>
          <a:stretch>
            <a:fillRect/>
          </a:stretch>
        </p:blipFill>
        <p:spPr bwMode="auto">
          <a:xfrm>
            <a:off x="2439038" y="2387345"/>
            <a:ext cx="8938709" cy="1835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ZoneTexte 18"/>
          <p:cNvSpPr txBox="1"/>
          <p:nvPr/>
        </p:nvSpPr>
        <p:spPr>
          <a:xfrm>
            <a:off x="3146469" y="2310542"/>
            <a:ext cx="427162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1</a:t>
            </a:r>
            <a:endParaRPr lang="en-US" sz="1600" dirty="0"/>
          </a:p>
        </p:txBody>
      </p:sp>
      <p:sp>
        <p:nvSpPr>
          <p:cNvPr id="20" name="ZoneTexte 19"/>
          <p:cNvSpPr txBox="1"/>
          <p:nvPr/>
        </p:nvSpPr>
        <p:spPr>
          <a:xfrm>
            <a:off x="5392458" y="2310542"/>
            <a:ext cx="427162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2</a:t>
            </a:r>
            <a:endParaRPr lang="en-US" sz="16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0150757" y="2310542"/>
            <a:ext cx="427162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3</a:t>
            </a:r>
            <a:endParaRPr lang="en-US" sz="1600" dirty="0"/>
          </a:p>
        </p:txBody>
      </p:sp>
      <p:sp>
        <p:nvSpPr>
          <p:cNvPr id="22" name="ZoneTexte 21"/>
          <p:cNvSpPr txBox="1"/>
          <p:nvPr/>
        </p:nvSpPr>
        <p:spPr>
          <a:xfrm>
            <a:off x="7554113" y="2310542"/>
            <a:ext cx="596981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eau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/>
              <p:cNvSpPr txBox="1"/>
              <p:nvPr/>
            </p:nvSpPr>
            <p:spPr>
              <a:xfrm>
                <a:off x="131588" y="4484067"/>
                <a:ext cx="2177653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Bilan molaire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fr-FR" dirty="0" smtClean="0"/>
                  <a:t>: </a:t>
                </a:r>
                <a:endParaRPr lang="en-US" dirty="0"/>
              </a:p>
            </p:txBody>
          </p:sp>
        </mc:Choice>
        <mc:Fallback xmlns=""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88" y="4484067"/>
                <a:ext cx="2177653" cy="369332"/>
              </a:xfrm>
              <a:prstGeom prst="rect">
                <a:avLst/>
              </a:prstGeom>
              <a:blipFill>
                <a:blip r:embed="rId3"/>
                <a:stretch>
                  <a:fillRect l="-2521" t="-10000" r="-168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2186608" y="4957245"/>
                <a:ext cx="2142308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608" y="4957245"/>
                <a:ext cx="214230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4594362" y="4941314"/>
                <a:ext cx="2142308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362" y="4941314"/>
                <a:ext cx="2142308" cy="338554"/>
              </a:xfrm>
              <a:prstGeom prst="rect">
                <a:avLst/>
              </a:prstGeom>
              <a:blipFill>
                <a:blip r:embed="rId5"/>
                <a:stretch>
                  <a:fillRect l="-1709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7554113" y="4910536"/>
                <a:ext cx="85048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113" y="4910536"/>
                <a:ext cx="85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/>
              <p:cNvSpPr txBox="1"/>
              <p:nvPr/>
            </p:nvSpPr>
            <p:spPr>
              <a:xfrm>
                <a:off x="9506765" y="4855488"/>
                <a:ext cx="2142308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 3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65" y="4855488"/>
                <a:ext cx="214230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/>
          <p:cNvSpPr txBox="1"/>
          <p:nvPr/>
        </p:nvSpPr>
        <p:spPr>
          <a:xfrm flipH="1">
            <a:off x="3017519" y="845963"/>
            <a:ext cx="773150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Pour neutraliser un milieu acide on ajoute une base</a:t>
            </a:r>
            <a:endParaRPr lang="en-US" sz="2400" dirty="0"/>
          </a:p>
        </p:txBody>
      </p:sp>
      <p:sp>
        <p:nvSpPr>
          <p:cNvPr id="35" name="ZoneTexte 34"/>
          <p:cNvSpPr txBox="1"/>
          <p:nvPr/>
        </p:nvSpPr>
        <p:spPr>
          <a:xfrm flipH="1">
            <a:off x="3007353" y="1362633"/>
            <a:ext cx="773150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Pour neutraliser un milieu basique on ajoute un acide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/>
              <p:cNvSpPr txBox="1"/>
              <p:nvPr/>
            </p:nvSpPr>
            <p:spPr>
              <a:xfrm>
                <a:off x="131588" y="5763774"/>
                <a:ext cx="2441806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Bilan molaire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fr-FR" dirty="0" smtClean="0"/>
                  <a:t>: </a:t>
                </a:r>
                <a:endParaRPr lang="en-US" dirty="0"/>
              </a:p>
            </p:txBody>
          </p:sp>
        </mc:Choice>
        <mc:Fallback xmlns="">
          <p:sp>
            <p:nvSpPr>
              <p:cNvPr id="36" name="ZoneText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88" y="5763774"/>
                <a:ext cx="2441806" cy="369332"/>
              </a:xfrm>
              <a:prstGeom prst="rect">
                <a:avLst/>
              </a:prstGeom>
              <a:blipFill>
                <a:blip r:embed="rId8"/>
                <a:stretch>
                  <a:fillRect l="-225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/>
              <p:cNvSpPr txBox="1"/>
              <p:nvPr/>
            </p:nvSpPr>
            <p:spPr>
              <a:xfrm>
                <a:off x="1946365" y="6236952"/>
                <a:ext cx="2142308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𝑂𝐻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𝑂𝐻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3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365" y="6236952"/>
                <a:ext cx="2142308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/>
              <p:cNvSpPr txBox="1"/>
              <p:nvPr/>
            </p:nvSpPr>
            <p:spPr>
              <a:xfrm>
                <a:off x="4524610" y="6236952"/>
                <a:ext cx="2281812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𝑂𝐻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sSup>
                              <m:s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38" name="ZoneTexte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610" y="6236952"/>
                <a:ext cx="2281812" cy="338554"/>
              </a:xfrm>
              <a:prstGeom prst="rect">
                <a:avLst/>
              </a:prstGeom>
              <a:blipFill>
                <a:blip r:embed="rId10"/>
                <a:stretch>
                  <a:fillRect l="-1333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7588572" y="6190243"/>
                <a:ext cx="85048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572" y="6190243"/>
                <a:ext cx="85048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9386643" y="6133106"/>
                <a:ext cx="2382551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 3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sSup>
                              <m:s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643" y="6133106"/>
                <a:ext cx="2382551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eur droit avec flèche 6"/>
          <p:cNvCxnSpPr/>
          <p:nvPr/>
        </p:nvCxnSpPr>
        <p:spPr>
          <a:xfrm flipH="1">
            <a:off x="3360050" y="4364837"/>
            <a:ext cx="1" cy="4211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 flipH="1">
            <a:off x="5665516" y="4356163"/>
            <a:ext cx="1" cy="4211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 flipH="1">
            <a:off x="7927684" y="4288934"/>
            <a:ext cx="1" cy="4211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 flipH="1">
            <a:off x="10561514" y="4271322"/>
            <a:ext cx="1" cy="4211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/>
        </p:nvCxnSpPr>
        <p:spPr>
          <a:xfrm flipH="1">
            <a:off x="3257762" y="5711922"/>
            <a:ext cx="1" cy="4211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 flipH="1">
            <a:off x="5576188" y="5710790"/>
            <a:ext cx="1" cy="4211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/>
          <p:cNvCxnSpPr/>
          <p:nvPr/>
        </p:nvCxnSpPr>
        <p:spPr>
          <a:xfrm flipH="1">
            <a:off x="7974665" y="5660758"/>
            <a:ext cx="1" cy="4211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 flipH="1">
            <a:off x="10561513" y="5553182"/>
            <a:ext cx="1" cy="4211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38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5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49435" y="404948"/>
            <a:ext cx="1362874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# 3:  PDF 3.9</a:t>
            </a:r>
            <a:endParaRPr lang="en-US" b="1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lum bright="-29000" contrast="51000"/>
          </a:blip>
          <a:srcRect/>
          <a:stretch>
            <a:fillRect/>
          </a:stretch>
        </p:blipFill>
        <p:spPr bwMode="auto">
          <a:xfrm>
            <a:off x="1064437" y="4664187"/>
            <a:ext cx="9550501" cy="1961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ZoneTexte 18"/>
          <p:cNvSpPr txBox="1"/>
          <p:nvPr/>
        </p:nvSpPr>
        <p:spPr>
          <a:xfrm>
            <a:off x="1684033" y="4587407"/>
            <a:ext cx="45054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1</a:t>
            </a:r>
            <a:endParaRPr lang="en-US" sz="1600" dirty="0"/>
          </a:p>
        </p:txBody>
      </p:sp>
      <p:sp>
        <p:nvSpPr>
          <p:cNvPr id="20" name="ZoneTexte 19"/>
          <p:cNvSpPr txBox="1"/>
          <p:nvPr/>
        </p:nvSpPr>
        <p:spPr>
          <a:xfrm>
            <a:off x="4426514" y="4587407"/>
            <a:ext cx="45054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2</a:t>
            </a:r>
            <a:endParaRPr lang="en-US" sz="1600" dirty="0"/>
          </a:p>
        </p:txBody>
      </p:sp>
      <p:sp>
        <p:nvSpPr>
          <p:cNvPr id="21" name="ZoneTexte 20"/>
          <p:cNvSpPr txBox="1"/>
          <p:nvPr/>
        </p:nvSpPr>
        <p:spPr>
          <a:xfrm>
            <a:off x="9550302" y="4587407"/>
            <a:ext cx="45054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3</a:t>
            </a:r>
            <a:endParaRPr lang="en-US" sz="1600" dirty="0"/>
          </a:p>
        </p:txBody>
      </p:sp>
      <p:sp>
        <p:nvSpPr>
          <p:cNvPr id="22" name="ZoneTexte 21"/>
          <p:cNvSpPr txBox="1"/>
          <p:nvPr/>
        </p:nvSpPr>
        <p:spPr>
          <a:xfrm>
            <a:off x="6616809" y="4631357"/>
            <a:ext cx="629662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eau</a:t>
            </a:r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1160259" y="1461630"/>
            <a:ext cx="9582804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fr-FR" sz="2000" dirty="0"/>
              <a:t>(3.1, 3.3) Une solution aqueuse de KOH, une base forte, a une concentration de 0,0225 mol/L. Quel volume d’une solution d’acide chlorhydrique, un acide fort, de concentration 0,0150 mol/L sera nécessaire pour neutraliser complètement un litre de cette solution basique (le pH final sera 7) ?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9550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49435" y="404948"/>
            <a:ext cx="1362874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# 3:  PDF 3.9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 flipH="1">
                <a:off x="8296276" y="3856325"/>
                <a:ext cx="1819634" cy="3415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𝑝𝐻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296276" y="3856325"/>
                <a:ext cx="1819634" cy="341531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 flipH="1">
                <a:off x="1338885" y="4660699"/>
                <a:ext cx="2346619" cy="131875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𝐾𝑂𝐻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=0.0225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𝑂𝐻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0.0225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−14</m:t>
                            </m:r>
                          </m:sup>
                        </m:sSup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0.0225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38885" y="4660699"/>
                <a:ext cx="2346619" cy="13187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147078" y="3895771"/>
                <a:ext cx="2730235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fr-FR" sz="1400" b="0" i="0" dirty="0" smtClean="0">
                          <a:latin typeface="Cambria Math" panose="02040503050406030204" pitchFamily="18" charset="0"/>
                        </a:rPr>
                        <m:t>KOH</m:t>
                      </m:r>
                      <m:r>
                        <a:rPr lang="fr-FR" sz="1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 </m:t>
                      </m:r>
                      <m:sSup>
                        <m:sSupPr>
                          <m:ctrlP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1</m:t>
                          </m:r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sSup>
                        <m:sSupPr>
                          <m:ctrlP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1</m:t>
                          </m:r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𝑂𝐻</m:t>
                          </m:r>
                        </m:e>
                        <m:sup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sz="1400" b="0" dirty="0" smtClean="0">
                  <a:ea typeface="Cambria Math" panose="02040503050406030204" pitchFamily="18" charset="0"/>
                </a:endParaRPr>
              </a:p>
              <a:p>
                <a:r>
                  <a:rPr lang="fr-FR" sz="1400" dirty="0" smtClean="0"/>
                  <a:t>  0.0225 mol </a:t>
                </a:r>
                <a14:m>
                  <m:oMath xmlns:m="http://schemas.openxmlformats.org/officeDocument/2006/math">
                    <m:r>
                      <a:rPr lang="fr-F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 smtClean="0"/>
                  <a:t> 0.0225  +      0,0225</a:t>
                </a:r>
                <a:endParaRPr lang="en-US" sz="14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078" y="3895771"/>
                <a:ext cx="2730235" cy="523220"/>
              </a:xfrm>
              <a:prstGeom prst="rect">
                <a:avLst/>
              </a:prstGeom>
              <a:blipFill>
                <a:blip r:embed="rId5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 flipH="1">
                <a:off x="4126627" y="4648079"/>
                <a:ext cx="2029288" cy="131875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𝐻𝐶𝑙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=0.015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0.015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𝑂𝐻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−14</m:t>
                            </m:r>
                          </m:sup>
                        </m:sSup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0.015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26627" y="4648079"/>
                <a:ext cx="2029288" cy="13187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179094" y="3884397"/>
                <a:ext cx="2000228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fr-FR" sz="1400" b="0" i="0" dirty="0" smtClean="0">
                          <a:latin typeface="Cambria Math" panose="02040503050406030204" pitchFamily="18" charset="0"/>
                        </a:rPr>
                        <m:t>HCl</m:t>
                      </m:r>
                      <m:r>
                        <a:rPr lang="fr-FR" sz="1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 </m:t>
                      </m:r>
                      <m:sSup>
                        <m:sSupPr>
                          <m:ctrlP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sSup>
                        <m:sSupPr>
                          <m:ctrlP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1</m:t>
                          </m:r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𝐶𝑙</m:t>
                          </m:r>
                        </m:e>
                        <m:sup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400" dirty="0" smtClean="0"/>
              </a:p>
              <a:p>
                <a:r>
                  <a:rPr lang="fr-FR" sz="1400" dirty="0" smtClean="0"/>
                  <a:t>0.015 </a:t>
                </a:r>
                <a14:m>
                  <m:oMath xmlns:m="http://schemas.openxmlformats.org/officeDocument/2006/math">
                    <m:r>
                      <a:rPr lang="fr-F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1400" dirty="0" smtClean="0"/>
                  <a:t>   0.015 </a:t>
                </a:r>
                <a:r>
                  <a:rPr lang="en-US" sz="1400" dirty="0" err="1" smtClean="0"/>
                  <a:t>mol</a:t>
                </a:r>
                <a:endParaRPr lang="en-US" sz="1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094" y="3884397"/>
                <a:ext cx="2000228" cy="523220"/>
              </a:xfrm>
              <a:prstGeom prst="rect">
                <a:avLst/>
              </a:prstGeom>
              <a:blipFill>
                <a:blip r:embed="rId7"/>
                <a:stretch>
                  <a:fillRect l="-915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8" cstate="print">
            <a:lum bright="-29000" contrast="51000"/>
          </a:blip>
          <a:srcRect/>
          <a:stretch>
            <a:fillRect/>
          </a:stretch>
        </p:blipFill>
        <p:spPr bwMode="auto">
          <a:xfrm>
            <a:off x="1404071" y="954335"/>
            <a:ext cx="9550501" cy="1961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ZoneTexte 18"/>
          <p:cNvSpPr txBox="1"/>
          <p:nvPr/>
        </p:nvSpPr>
        <p:spPr>
          <a:xfrm>
            <a:off x="2023667" y="877555"/>
            <a:ext cx="45054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1</a:t>
            </a:r>
            <a:endParaRPr lang="en-US" sz="1600" dirty="0"/>
          </a:p>
        </p:txBody>
      </p:sp>
      <p:sp>
        <p:nvSpPr>
          <p:cNvPr id="20" name="ZoneTexte 19"/>
          <p:cNvSpPr txBox="1"/>
          <p:nvPr/>
        </p:nvSpPr>
        <p:spPr>
          <a:xfrm>
            <a:off x="4766148" y="877555"/>
            <a:ext cx="45054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2</a:t>
            </a:r>
            <a:endParaRPr lang="en-US" sz="1600" dirty="0"/>
          </a:p>
        </p:txBody>
      </p:sp>
      <p:sp>
        <p:nvSpPr>
          <p:cNvPr id="21" name="ZoneTexte 20"/>
          <p:cNvSpPr txBox="1"/>
          <p:nvPr/>
        </p:nvSpPr>
        <p:spPr>
          <a:xfrm>
            <a:off x="9889936" y="877555"/>
            <a:ext cx="450546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3</a:t>
            </a:r>
            <a:endParaRPr lang="en-US" sz="1600" dirty="0"/>
          </a:p>
        </p:txBody>
      </p:sp>
      <p:sp>
        <p:nvSpPr>
          <p:cNvPr id="22" name="ZoneTexte 21"/>
          <p:cNvSpPr txBox="1"/>
          <p:nvPr/>
        </p:nvSpPr>
        <p:spPr>
          <a:xfrm>
            <a:off x="6956443" y="921505"/>
            <a:ext cx="629662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eau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/>
              <p:cNvSpPr txBox="1"/>
              <p:nvPr/>
            </p:nvSpPr>
            <p:spPr>
              <a:xfrm>
                <a:off x="136206" y="2695184"/>
                <a:ext cx="1476103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Bilan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fr-FR" dirty="0" smtClean="0"/>
                  <a:t>: </a:t>
                </a:r>
                <a:endParaRPr lang="en-US" dirty="0"/>
              </a:p>
            </p:txBody>
          </p:sp>
        </mc:Choice>
        <mc:Fallback xmlns=""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06" y="2695184"/>
                <a:ext cx="1476103" cy="369332"/>
              </a:xfrm>
              <a:prstGeom prst="rect">
                <a:avLst/>
              </a:prstGeom>
              <a:blipFill>
                <a:blip r:embed="rId9"/>
                <a:stretch>
                  <a:fillRect l="-330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1548618" y="3288592"/>
                <a:ext cx="2142308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618" y="3288592"/>
                <a:ext cx="2142308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3980648" y="3246489"/>
                <a:ext cx="2142308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648" y="3246489"/>
                <a:ext cx="2142308" cy="338554"/>
              </a:xfrm>
              <a:prstGeom prst="rect">
                <a:avLst/>
              </a:prstGeom>
              <a:blipFill>
                <a:blip r:embed="rId11"/>
                <a:stretch>
                  <a:fillRect l="-1709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531199" y="3192123"/>
                <a:ext cx="85048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199" y="3192123"/>
                <a:ext cx="85048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/>
              <p:cNvSpPr txBox="1"/>
              <p:nvPr/>
            </p:nvSpPr>
            <p:spPr>
              <a:xfrm>
                <a:off x="8198174" y="3135147"/>
                <a:ext cx="2142308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 3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174" y="3135147"/>
                <a:ext cx="2142308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/>
              <p:cNvSpPr txBox="1"/>
              <p:nvPr/>
            </p:nvSpPr>
            <p:spPr>
              <a:xfrm>
                <a:off x="981635" y="6229095"/>
                <a:ext cx="2499558" cy="57201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−14</m:t>
                            </m:r>
                          </m:sup>
                        </m:sSup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0.0225</m:t>
                        </m:r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635" y="6229095"/>
                <a:ext cx="2499558" cy="57201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/>
              <p:cNvSpPr txBox="1"/>
              <p:nvPr/>
            </p:nvSpPr>
            <p:spPr>
              <a:xfrm>
                <a:off x="3583348" y="6229885"/>
                <a:ext cx="2989744" cy="53399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0.015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0" name="ZoneTexte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348" y="6229885"/>
                <a:ext cx="2989744" cy="533992"/>
              </a:xfrm>
              <a:prstGeom prst="rect">
                <a:avLst/>
              </a:prstGeom>
              <a:blipFill>
                <a:blip r:embed="rId15"/>
                <a:stretch>
                  <a:fillRect l="-2245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6761476" y="6325053"/>
                <a:ext cx="1075958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476" y="6325053"/>
                <a:ext cx="107595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8083040" y="6321976"/>
                <a:ext cx="3467984" cy="4062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 3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×(1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)</a:t>
                </a:r>
                <a:endParaRPr lang="en-US" sz="2000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040" y="6321976"/>
                <a:ext cx="3467984" cy="406265"/>
              </a:xfrm>
              <a:prstGeom prst="rect">
                <a:avLst/>
              </a:prstGeom>
              <a:blipFill>
                <a:blip r:embed="rId17"/>
                <a:stretch>
                  <a:fillRect t="-5970" b="-25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Obje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031395"/>
              </p:ext>
            </p:extLst>
          </p:nvPr>
        </p:nvGraphicFramePr>
        <p:xfrm>
          <a:off x="8216111" y="4578304"/>
          <a:ext cx="1928871" cy="339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Équation" r:id="rId18" imgW="1371600" imgH="241200" progId="Equation.3">
                  <p:embed/>
                </p:oleObj>
              </mc:Choice>
              <mc:Fallback>
                <p:oleObj name="Équation" r:id="rId18" imgW="1371600" imgH="241200" progId="Equation.3">
                  <p:embed/>
                  <p:pic>
                    <p:nvPicPr>
                      <p:cNvPr id="33" name="Objet 3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216111" y="4578304"/>
                        <a:ext cx="1928871" cy="339708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121592"/>
              </p:ext>
            </p:extLst>
          </p:nvPr>
        </p:nvGraphicFramePr>
        <p:xfrm>
          <a:off x="8209562" y="4968004"/>
          <a:ext cx="1733712" cy="339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Équation" r:id="rId20" imgW="1231560" imgH="241200" progId="Equation.3">
                  <p:embed/>
                </p:oleObj>
              </mc:Choice>
              <mc:Fallback>
                <p:oleObj name="Équation" r:id="rId20" imgW="1231560" imgH="241200" progId="Equation.3">
                  <p:embed/>
                  <p:pic>
                    <p:nvPicPr>
                      <p:cNvPr id="34" name="Objet 3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209562" y="4968004"/>
                        <a:ext cx="1733712" cy="339454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8209562" y="5407442"/>
                <a:ext cx="1906356" cy="57201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𝑂𝐻</m:t>
                            </m:r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fr-FR" sz="20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−14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fr-FR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−7</m:t>
                            </m:r>
                          </m:sup>
                        </m:sSup>
                      </m:den>
                    </m:f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562" y="5407442"/>
                <a:ext cx="1906356" cy="57201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lipse 10"/>
          <p:cNvSpPr/>
          <p:nvPr/>
        </p:nvSpPr>
        <p:spPr>
          <a:xfrm>
            <a:off x="1083071" y="3702702"/>
            <a:ext cx="940596" cy="4674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31414" y="63904"/>
            <a:ext cx="95828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(3.1, 3.3) Une solution aqueuse de KOH, une base forte, a une concentration de 0,0225 mol/L. Quel volume d’une solution d’acide chlorhydrique, un acide fort, de concentration 0,0150 mol/L sera nécessaire pour neutraliser complètement un litre de cette solution basique (le pH final sera 7) 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3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65594" y="3447535"/>
                <a:ext cx="1476103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Bilan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fr-FR" dirty="0" smtClean="0"/>
                  <a:t>: </a:t>
                </a:r>
                <a:endParaRPr lang="en-US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94" y="3447535"/>
                <a:ext cx="1476103" cy="369332"/>
              </a:xfrm>
              <a:prstGeom prst="rect">
                <a:avLst/>
              </a:prstGeom>
              <a:blipFill>
                <a:blip r:embed="rId2"/>
                <a:stretch>
                  <a:fillRect l="-371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1877567" y="3778843"/>
                <a:ext cx="1998625" cy="57201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−14</m:t>
                            </m:r>
                          </m:sup>
                        </m:sSup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0.0225</m:t>
                        </m:r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567" y="3778843"/>
                <a:ext cx="1998625" cy="572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4186749" y="3816867"/>
                <a:ext cx="2148737" cy="5339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0.015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749" y="3816867"/>
                <a:ext cx="2148737" cy="5339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431287" y="3877740"/>
                <a:ext cx="1483227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          </m:t>
                          </m:r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287" y="3877740"/>
                <a:ext cx="148322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8332296" y="3864796"/>
                <a:ext cx="2653162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=       10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×(1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)</a:t>
                </a:r>
                <a:endParaRPr lang="en-US" sz="2000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296" y="3864796"/>
                <a:ext cx="2653162" cy="400110"/>
              </a:xfrm>
              <a:prstGeom prst="rect">
                <a:avLst/>
              </a:prstGeom>
              <a:blipFill>
                <a:blip r:embed="rId6"/>
                <a:stretch>
                  <a:fillRect t="-9091" r="-920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265593" y="4884181"/>
                <a:ext cx="1476103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Bilan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fr-FR" dirty="0" smtClean="0"/>
                  <a:t>: </a:t>
                </a:r>
                <a:endParaRPr lang="en-US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93" y="4884181"/>
                <a:ext cx="1476103" cy="369332"/>
              </a:xfrm>
              <a:prstGeom prst="rect">
                <a:avLst/>
              </a:prstGeom>
              <a:blipFill>
                <a:blip r:embed="rId7"/>
                <a:stretch>
                  <a:fillRect l="-371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679591" y="5431402"/>
                <a:ext cx="9305868" cy="57201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fr-FR" sz="2000" i="1" smtClean="0">
                        <a:latin typeface="Cambria Math" panose="02040503050406030204" pitchFamily="18" charset="0"/>
                      </a:rPr>
                      <m:t>0.0225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fr-FR" sz="2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 smtClean="0"/>
                  <a:t>    +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−14</m:t>
                            </m:r>
                          </m:sup>
                        </m:sSup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0.015</m:t>
                        </m:r>
                      </m:den>
                    </m:f>
                    <m:r>
                      <a:rPr lang="fr-F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    </m:t>
                        </m:r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𝑒𝑎𝑢</m:t>
                        </m:r>
                      </m:sub>
                    </m:sSub>
                  </m:oMath>
                </a14:m>
                <a:r>
                  <a:rPr lang="en-US" sz="2000" dirty="0" smtClean="0"/>
                  <a:t>                     =    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−14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−7</m:t>
                            </m:r>
                          </m:sup>
                        </m:sSup>
                      </m:den>
                    </m:f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×(1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  <m:sSub>
                      <m:sSubPr>
                        <m:ctrlP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/>
                      <m:t>)</m:t>
                    </m:r>
                  </m:oMath>
                </a14:m>
                <a:r>
                  <a:rPr lang="en-US" sz="2000" dirty="0" smtClean="0"/>
                  <a:t>             </a:t>
                </a:r>
                <a:endParaRPr lang="en-US" sz="20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591" y="5431402"/>
                <a:ext cx="9305868" cy="572016"/>
              </a:xfrm>
              <a:prstGeom prst="rect">
                <a:avLst/>
              </a:prstGeom>
              <a:blipFill>
                <a:blip r:embed="rId8"/>
                <a:stretch>
                  <a:fillRect b="-7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9445296" y="6216304"/>
                <a:ext cx="1600951" cy="52322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/>
                  <a:t>= 1.5 L°</a:t>
                </a:r>
                <a:endParaRPr lang="en-US" sz="2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5296" y="6216304"/>
                <a:ext cx="1600951" cy="523220"/>
              </a:xfrm>
              <a:prstGeom prst="rect">
                <a:avLst/>
              </a:prstGeom>
              <a:blipFill>
                <a:blip r:embed="rId9"/>
                <a:stretch>
                  <a:fillRect t="-11628" r="-684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ZoneTexte 18"/>
          <p:cNvSpPr txBox="1"/>
          <p:nvPr/>
        </p:nvSpPr>
        <p:spPr>
          <a:xfrm>
            <a:off x="378823" y="404948"/>
            <a:ext cx="1362874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# 3:  PDF 3.9</a:t>
            </a:r>
            <a:endParaRPr lang="en-US" b="1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0" cstate="print">
            <a:lum bright="-29000" contrast="51000"/>
          </a:blip>
          <a:srcRect/>
          <a:stretch>
            <a:fillRect/>
          </a:stretch>
        </p:blipFill>
        <p:spPr bwMode="auto">
          <a:xfrm>
            <a:off x="1946115" y="1501580"/>
            <a:ext cx="8360132" cy="1716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ZoneTexte 24"/>
          <p:cNvSpPr txBox="1"/>
          <p:nvPr/>
        </p:nvSpPr>
        <p:spPr>
          <a:xfrm>
            <a:off x="2663299" y="1343681"/>
            <a:ext cx="427162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1</a:t>
            </a:r>
            <a:endParaRPr lang="en-US" sz="1600" dirty="0"/>
          </a:p>
        </p:txBody>
      </p:sp>
      <p:sp>
        <p:nvSpPr>
          <p:cNvPr id="26" name="ZoneTexte 25"/>
          <p:cNvSpPr txBox="1"/>
          <p:nvPr/>
        </p:nvSpPr>
        <p:spPr>
          <a:xfrm>
            <a:off x="4850314" y="1297561"/>
            <a:ext cx="427162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2</a:t>
            </a:r>
            <a:endParaRPr lang="en-US" sz="1600" dirty="0"/>
          </a:p>
        </p:txBody>
      </p:sp>
      <p:sp>
        <p:nvSpPr>
          <p:cNvPr id="27" name="ZoneTexte 26"/>
          <p:cNvSpPr txBox="1"/>
          <p:nvPr/>
        </p:nvSpPr>
        <p:spPr>
          <a:xfrm>
            <a:off x="9231715" y="1387631"/>
            <a:ext cx="427162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/>
              <a:t>3</a:t>
            </a:r>
            <a:endParaRPr lang="en-US" sz="1600" dirty="0"/>
          </a:p>
        </p:txBody>
      </p:sp>
      <p:sp>
        <p:nvSpPr>
          <p:cNvPr id="28" name="ZoneTexte 27"/>
          <p:cNvSpPr txBox="1"/>
          <p:nvPr/>
        </p:nvSpPr>
        <p:spPr>
          <a:xfrm>
            <a:off x="6771568" y="1360572"/>
            <a:ext cx="596981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eau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4947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417</Words>
  <Application>Microsoft Office PowerPoint</Application>
  <PresentationFormat>Grand écran</PresentationFormat>
  <Paragraphs>124</Paragraphs>
  <Slides>11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Century Gothic</vt:lpstr>
      <vt:lpstr>Thème Office</vt:lpstr>
      <vt:lpstr>Équation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Utilisateur Windows</cp:lastModifiedBy>
  <cp:revision>133</cp:revision>
  <dcterms:created xsi:type="dcterms:W3CDTF">2020-07-19T23:52:35Z</dcterms:created>
  <dcterms:modified xsi:type="dcterms:W3CDTF">2020-11-19T17:26:28Z</dcterms:modified>
</cp:coreProperties>
</file>