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7" r:id="rId8"/>
    <p:sldId id="278" r:id="rId9"/>
    <p:sldId id="279" r:id="rId10"/>
    <p:sldId id="276" r:id="rId11"/>
    <p:sldId id="280" r:id="rId12"/>
    <p:sldId id="281" r:id="rId13"/>
    <p:sldId id="257" r:id="rId14"/>
    <p:sldId id="258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0-11-19T01:19:53.98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30559 9996 0</inkml:trace>
  <inkml:trace contextRef="#ctx0" brushRef="#br0" timeOffset="11425.7283">28972 14635 0,'0'25'31,"0"-1"-15</inkml:trace>
  <inkml:trace contextRef="#ctx0" brushRef="#br0" timeOffset="12783.4487">30063 14833 0</inkml:trace>
  <inkml:trace contextRef="#ctx0" brushRef="#br0" timeOffset="34015.042">25127 14213 0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0-11-10T18:56:51.913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16793 9649 0,'0'0'0,"0"-50"16,25 26-16,-25-1 15,0-25-15,0 1 32,0 24-17,-25 25 32,0 25-31,0-1-16,0 1 31,25 0-15,0 0-1,0 0 1,0-1 0,0 1-1,0 25 1,25-25-1,74-1 1,50-24-16,-25 0 16,25-49-1,-25-1-15,-50 1 16,-24 24-16,0 0 16,-50 0-1,0 0 16,0 1-31,-50-1 16,0 0 0,-24 0-16,24 25 15,1 0-15,-26 0 16,26 0 0,-1 0-1,-24 0-15,-1 0 16,1 25-16,24 25 15,1-1 1,-1 1-16,25-1 16,1 1-1,-1 0-15,25-1 32,0-24-1,0 0-31,25 0 31,24-25-31,26 0 16,-1 0-1,-24 0-15,-26-25 16,26 25-16,-25 0 16,0-25-1,-25 0 1,0 0-1,-25-24 17,0 49-17,-25 0-15,50-25 16,-24 25 0,-1 0-16,-25 0 31,25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0-11-10T18:56:53.14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18157 8235 0,'0'25'15,"0"0"1,0 0 0,0-1-1,25 1 1,-25 0 0,49 25-1,-24-26-15,0 26 16,0-50-16,24 0 15,-24 25 1,0-25-16,25 0 16,-26 0-1,1 0-15,0 0 16,0 0 0,0 0-16,0 0 31,-25-25 16,0 0-32,-25 0 1,0 25-16,0-24 16,25-1-1,-25 25 16,0 0-31,1 0 32,-1 0-17,0 25 1,25-1 0,-25 1-1,25 0-15,0 0 16,0 0-16,0-1 15,0 1 1,25-25 15,0 0 16,-25-49 16,0 24-63,0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0-11-10T18:56:54.842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19869 9624 0,'-25'0'47,"-25"0"-31,25 50-1,25-25 1,-24-1-16,24 1 15,0 0 1,0 0-16,0 0 31,0-1-31,0 1 16,24-25 0,26 0-16,0 0 15,-1 0 1,1 0-16,-25 0 15,24 0 1,-24-25-16,0 25 16,-25-24-1,0-1 1,0 0 0,-25-49-1,-49 24-15,-1 0 16,50 26-1,1-1-15,-1 25 16,0 0 0,0 0-16,-24 0 31,24 0-15,0 0-1,25 74 1,0 1-16,0-1 15,0 25 1,0-24-16,0-26 16,50 1-1,-50-25-15,24-25 16,1 25 0,0-25-16,0 0 15,24-25 1,26 0-16,-50-25 15,24 1 1,-24 24-16,0-25 16,-25 25-16,25 1 15,-25-26 1,0 25 0,0 0-1,0 1 16,-25 24 32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0-11-10T18:52:52.67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16743 10071 0,'50'0'79,"-1"0"-64,1 0 1,0 49-1,-1-49-15,-24 0 16,0 25 0,74 0-16,-49 0 15,49-25-15,-25 25 16,25 24 0,-24-49-16,74 50 15,49-25 1,-24-25-16,-100 24 15,1-24 1,-1 0-16,-24 0 16,-1 0-16,1 0 15,-1 0 1,1 0-16,-25 0 16,-25-24-1,50 24-15,-26 0 31,1-25-31,0 25 32,0-25-1,-25 0 110,0 0-79,0 1-31,-25 24 1,25-25-32,0 0 31,-25 25 0,25-25-15,0 0-1,0 1 48</inkml:trace>
  <inkml:trace contextRef="#ctx0" brushRef="#br0" timeOffset="7668.5547">28724 9996 0</inkml:trace>
  <inkml:trace contextRef="#ctx0" brushRef="#br1" timeOffset="33324.0505">19918 9054 0,'-25'0'15,"1"0"1,-1 0-1,0 0-15,-49 0 16,-26 0 0,-24 0-16,50 74 15,24-24-15,-24-25 16,24 24 0,25 50-16,-49 1 15,74-1 1,0 25-16,0-50 15,0 25 1,25-49-16,49 49 16,50 50-1,0 0-15,0-50 16,-24 0 0,48-24-16,-24-1 15,-49-24-15,-1-50 16,1 25-1,24-1-15,0-24 16,-25 0 0,1 0-16,-1-49 15,50-1 1,-74-24-16,24-1 16,-49 26-1,25-50-15,-50 49 16,25-49-1,-25-25-15,0 24 16,-25-24-16,-50 0 16,1 25-1,0-25-15,-26 25 16,26 49 0,-50-24-16,25 0 15,24 74 1,26-50-16,-1 25 15,25 25 1,-24-49-16,24 49 16,-25 0-1,25 0-15,25-25 16,-24 25 0,-1 0-16,0 0 15,-25 0-15,26 0 16,-1 0-1,-25 0-15,1 0 32</inkml:trace>
  <inkml:trace contextRef="#ctx0" brushRef="#br0" timeOffset="183148.4376">10468 13767 0,'24'0'172,"1"0"-157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11/21/2021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8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11/21/2021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66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11/21/2021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3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11/21/2021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65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11/21/2021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3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11/21/2021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6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11/21/2021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67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11/21/2021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8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11/21/2021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19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11/21/2021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43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11/21/2021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27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0ED4C-6CAA-4C7D-A569-35241DE70074}" type="datetimeFigureOut">
              <a:rPr lang="en-US" smtClean="0"/>
              <a:t>11/21/2021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34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emf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8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390.png"/><Relationship Id="rId9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oleObject" Target="../embeddings/oleObject3.bin"/><Relationship Id="rId18" Type="http://schemas.openxmlformats.org/officeDocument/2006/relationships/image" Target="../media/image37.wmf"/><Relationship Id="rId3" Type="http://schemas.openxmlformats.org/officeDocument/2006/relationships/image" Target="../media/image30.png"/><Relationship Id="rId7" Type="http://schemas.openxmlformats.org/officeDocument/2006/relationships/image" Target="../media/image63.png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62.pn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32.png"/><Relationship Id="rId15" Type="http://schemas.openxmlformats.org/officeDocument/2006/relationships/oleObject" Target="../embeddings/oleObject4.bin"/><Relationship Id="rId10" Type="http://schemas.openxmlformats.org/officeDocument/2006/relationships/image" Target="../media/image33.wmf"/><Relationship Id="rId19" Type="http://schemas.openxmlformats.org/officeDocument/2006/relationships/image" Target="../media/image65.png"/><Relationship Id="rId4" Type="http://schemas.openxmlformats.org/officeDocument/2006/relationships/image" Target="../media/image31.png"/><Relationship Id="rId9" Type="http://schemas.openxmlformats.org/officeDocument/2006/relationships/oleObject" Target="../embeddings/oleObject1.bin"/><Relationship Id="rId14" Type="http://schemas.openxmlformats.org/officeDocument/2006/relationships/image" Target="../media/image3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0.png"/><Relationship Id="rId4" Type="http://schemas.openxmlformats.org/officeDocument/2006/relationships/image" Target="../media/image3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59.png"/><Relationship Id="rId18" Type="http://schemas.openxmlformats.org/officeDocument/2006/relationships/customXml" Target="../ink/ink4.xml"/><Relationship Id="rId3" Type="http://schemas.openxmlformats.org/officeDocument/2006/relationships/image" Target="../media/image60.png"/><Relationship Id="rId21" Type="http://schemas.openxmlformats.org/officeDocument/2006/relationships/image" Target="../media/image20.emf"/><Relationship Id="rId7" Type="http://schemas.openxmlformats.org/officeDocument/2006/relationships/image" Target="../media/image100.png"/><Relationship Id="rId12" Type="http://schemas.openxmlformats.org/officeDocument/2006/relationships/image" Target="../media/image150.png"/><Relationship Id="rId17" Type="http://schemas.openxmlformats.org/officeDocument/2006/relationships/image" Target="../media/image180.emf"/><Relationship Id="rId2" Type="http://schemas.openxmlformats.org/officeDocument/2006/relationships/image" Target="../media/image57.png"/><Relationship Id="rId16" Type="http://schemas.openxmlformats.org/officeDocument/2006/relationships/customXml" Target="../ink/ink3.xml"/><Relationship Id="rId20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140.png"/><Relationship Id="rId5" Type="http://schemas.openxmlformats.org/officeDocument/2006/relationships/image" Target="../media/image810.png"/><Relationship Id="rId15" Type="http://schemas.openxmlformats.org/officeDocument/2006/relationships/image" Target="../media/image17.emf"/><Relationship Id="rId10" Type="http://schemas.openxmlformats.org/officeDocument/2006/relationships/image" Target="../media/image130.png"/><Relationship Id="rId19" Type="http://schemas.openxmlformats.org/officeDocument/2006/relationships/image" Target="../media/image190.emf"/><Relationship Id="rId4" Type="http://schemas.openxmlformats.org/officeDocument/2006/relationships/image" Target="../media/image710.png"/><Relationship Id="rId9" Type="http://schemas.openxmlformats.org/officeDocument/2006/relationships/image" Target="../media/image120.png"/><Relationship Id="rId14" Type="http://schemas.openxmlformats.org/officeDocument/2006/relationships/customXml" Target="../ink/ink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80.png"/><Relationship Id="rId7" Type="http://schemas.openxmlformats.org/officeDocument/2006/relationships/image" Target="../media/image22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Relationship Id="rId9" Type="http://schemas.openxmlformats.org/officeDocument/2006/relationships/image" Target="../media/image2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14549" y="1316037"/>
            <a:ext cx="9144000" cy="1655762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r"/>
            <a:r>
              <a:rPr lang="fr-FR" sz="4000" b="1" dirty="0" smtClean="0">
                <a:solidFill>
                  <a:srgbClr val="0070C0"/>
                </a:solidFill>
              </a:rPr>
              <a:t>Exemples du cours 3.5       </a:t>
            </a:r>
            <a:r>
              <a:rPr lang="fr-FR" sz="2000" b="1" i="1" dirty="0" smtClean="0"/>
              <a:t>Z.Hamoudi-Aut-2020</a:t>
            </a:r>
            <a:endParaRPr lang="en-US" sz="2000" b="1" i="1" dirty="0"/>
          </a:p>
        </p:txBody>
      </p:sp>
      <p:sp>
        <p:nvSpPr>
          <p:cNvPr id="2" name="ZoneTexte 1"/>
          <p:cNvSpPr txBox="1"/>
          <p:nvPr/>
        </p:nvSpPr>
        <p:spPr>
          <a:xfrm>
            <a:off x="3631474" y="3997235"/>
            <a:ext cx="4140925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4000" dirty="0" smtClean="0"/>
              <a:t>#   La loi de Raoult</a:t>
            </a:r>
          </a:p>
          <a:p>
            <a:r>
              <a:rPr lang="fr-FR" sz="4000" dirty="0" smtClean="0"/>
              <a:t>#   Distillation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8893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629" y="1451093"/>
            <a:ext cx="2294743" cy="3128298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70174" y="411594"/>
            <a:ext cx="526433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Équilibre liquide vapeur selon Raoult</a:t>
            </a:r>
            <a:endParaRPr lang="en-US" sz="2400" b="1" dirty="0"/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3931920" y="3709246"/>
            <a:ext cx="94052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489858" y="3386080"/>
            <a:ext cx="331796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Solution idéale de deux liquides</a:t>
            </a:r>
          </a:p>
          <a:p>
            <a:pPr algn="ctr"/>
            <a:r>
              <a:rPr lang="fr-FR" dirty="0" smtClean="0"/>
              <a:t>A et B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44137" y="4944030"/>
            <a:ext cx="10180736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b="1" dirty="0"/>
              <a:t>Solution </a:t>
            </a:r>
            <a:r>
              <a:rPr lang="fr-FR" b="1" dirty="0" smtClean="0"/>
              <a:t>idéale :</a:t>
            </a:r>
          </a:p>
          <a:p>
            <a:r>
              <a:rPr lang="fr-FR" dirty="0" smtClean="0"/>
              <a:t>Les deux liquides </a:t>
            </a:r>
            <a:r>
              <a:rPr lang="fr-FR" b="1" dirty="0" smtClean="0"/>
              <a:t>A</a:t>
            </a:r>
            <a:r>
              <a:rPr lang="fr-FR" dirty="0" smtClean="0"/>
              <a:t> et </a:t>
            </a:r>
            <a:r>
              <a:rPr lang="fr-FR" b="1" dirty="0" smtClean="0"/>
              <a:t>B</a:t>
            </a:r>
            <a:r>
              <a:rPr lang="fr-FR" dirty="0" smtClean="0"/>
              <a:t> formeront une solution idéale (mélange homogène, si ils possèdent le même type </a:t>
            </a:r>
          </a:p>
          <a:p>
            <a:r>
              <a:rPr lang="fr-FR" dirty="0" smtClean="0"/>
              <a:t>d’interactions moléculaires.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4137" y="5965074"/>
            <a:ext cx="9824164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dirty="0"/>
              <a:t>Les deux liquides </a:t>
            </a:r>
            <a:r>
              <a:rPr lang="fr-FR" b="1" dirty="0"/>
              <a:t>A</a:t>
            </a:r>
            <a:r>
              <a:rPr lang="fr-FR" dirty="0"/>
              <a:t> et </a:t>
            </a:r>
            <a:r>
              <a:rPr lang="fr-FR" b="1" dirty="0"/>
              <a:t>B</a:t>
            </a:r>
            <a:r>
              <a:rPr lang="fr-FR" dirty="0"/>
              <a:t> </a:t>
            </a:r>
            <a:r>
              <a:rPr lang="fr-FR" dirty="0" smtClean="0"/>
              <a:t>auront le même type d’interaction moléculaires s’ils ont polaires tous les deux </a:t>
            </a:r>
          </a:p>
          <a:p>
            <a:r>
              <a:rPr lang="fr-FR" dirty="0" smtClean="0"/>
              <a:t>ou apolaires tout les deux.</a:t>
            </a:r>
            <a:endParaRPr lang="en-US" dirty="0"/>
          </a:p>
        </p:txBody>
      </p:sp>
      <p:cxnSp>
        <p:nvCxnSpPr>
          <p:cNvPr id="11" name="Connecteur droit avec flèche 10"/>
          <p:cNvCxnSpPr/>
          <p:nvPr/>
        </p:nvCxnSpPr>
        <p:spPr>
          <a:xfrm flipV="1">
            <a:off x="5979776" y="2780110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flipV="1">
            <a:off x="5792541" y="2780110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6153947" y="2780110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V="1">
            <a:off x="6332473" y="2780110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050971" y="2780110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4863736" y="2780110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 flipV="1">
            <a:off x="5225142" y="2780110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5403668" y="2780110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 flipV="1">
            <a:off x="6688183" y="2037806"/>
            <a:ext cx="822960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/>
              <p:cNvSpPr txBox="1"/>
              <p:nvPr/>
            </p:nvSpPr>
            <p:spPr>
              <a:xfrm>
                <a:off x="7609114" y="1745418"/>
                <a:ext cx="37751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𝑃𝑟𝑒𝑠𝑠𝑖𝑜𝑛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𝑝𝑎𝑟𝑡𝑖𝑒𝑙𝑙𝑒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𝑒𝑥𝑒𝑟𝑐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𝑙𝑒𝑠</m:t>
                      </m:r>
                    </m:oMath>
                  </m:oMathPara>
                </a14:m>
                <a:endParaRPr lang="fr-FR" sz="1600" b="0" i="1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r>
                  <a:rPr lang="fr-FR" sz="1600" b="0" i="1" dirty="0" smtClean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𝑣𝑎𝑝𝑒𝑢𝑟𝑠</m:t>
                    </m:r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114" y="1745418"/>
                <a:ext cx="3775166" cy="584775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/>
              <p:cNvSpPr txBox="1"/>
              <p:nvPr/>
            </p:nvSpPr>
            <p:spPr>
              <a:xfrm>
                <a:off x="7613673" y="2430467"/>
                <a:ext cx="37751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𝑃𝑟𝑒𝑠𝑠𝑖𝑜𝑛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𝑝𝑎𝑟𝑡𝑖𝑒𝑙𝑙𝑒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𝑒𝑥𝑒𝑟𝑐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𝑙𝑒𝑠</m:t>
                      </m:r>
                    </m:oMath>
                  </m:oMathPara>
                </a14:m>
                <a:endParaRPr lang="fr-FR" sz="16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r>
                  <a:rPr lang="fr-FR" sz="1600" b="0" i="1" dirty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𝑣𝑎𝑝𝑒𝑢𝑟𝑠</m:t>
                    </m:r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ZoneTexte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673" y="2430467"/>
                <a:ext cx="3775166" cy="584775"/>
              </a:xfrm>
              <a:prstGeom prst="rect">
                <a:avLst/>
              </a:prstGeom>
              <a:blipFill>
                <a:blip r:embed="rId4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eur droit avec flèche 29"/>
          <p:cNvCxnSpPr/>
          <p:nvPr/>
        </p:nvCxnSpPr>
        <p:spPr>
          <a:xfrm flipV="1">
            <a:off x="6585892" y="2614690"/>
            <a:ext cx="82296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Encre 3"/>
              <p14:cNvContentPartPr/>
              <p14:nvPr/>
            </p14:nvContentPartPr>
            <p14:xfrm>
              <a:off x="9045720" y="3598560"/>
              <a:ext cx="1955880" cy="1741680"/>
            </p14:xfrm>
          </p:contentPart>
        </mc:Choice>
        <mc:Fallback xmlns="">
          <p:pic>
            <p:nvPicPr>
              <p:cNvPr id="4" name="Encre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36360" y="3589200"/>
                <a:ext cx="1974600" cy="176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118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629" y="1451093"/>
            <a:ext cx="2294743" cy="3128298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70174" y="588782"/>
            <a:ext cx="526433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Équilibre liquide vapeur selon Raoult</a:t>
            </a:r>
            <a:endParaRPr lang="en-US" sz="2400" b="1" dirty="0"/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3931920" y="3709246"/>
            <a:ext cx="94052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489858" y="3386080"/>
            <a:ext cx="331796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Solution idéale de deux liquides</a:t>
            </a:r>
          </a:p>
          <a:p>
            <a:pPr algn="ctr"/>
            <a:r>
              <a:rPr lang="fr-FR" dirty="0" smtClean="0"/>
              <a:t>A et B </a:t>
            </a:r>
            <a:endParaRPr lang="en-US" dirty="0"/>
          </a:p>
        </p:txBody>
      </p:sp>
      <p:cxnSp>
        <p:nvCxnSpPr>
          <p:cNvPr id="11" name="Connecteur droit avec flèche 10"/>
          <p:cNvCxnSpPr/>
          <p:nvPr/>
        </p:nvCxnSpPr>
        <p:spPr>
          <a:xfrm flipV="1">
            <a:off x="5839097" y="2780110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flipV="1">
            <a:off x="5651862" y="2780110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6013268" y="2780110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V="1">
            <a:off x="6191794" y="2780110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050971" y="2780110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4863736" y="2780110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 flipV="1">
            <a:off x="5225142" y="2780110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5403668" y="2780110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 flipV="1">
            <a:off x="6688183" y="2037806"/>
            <a:ext cx="822960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/>
              <p:cNvSpPr txBox="1"/>
              <p:nvPr/>
            </p:nvSpPr>
            <p:spPr>
              <a:xfrm>
                <a:off x="7609114" y="1745418"/>
                <a:ext cx="37751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𝑃𝑟𝑒𝑠𝑠𝑖𝑜𝑛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𝑝𝑎𝑟𝑡𝑖𝑒𝑙𝑙𝑒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𝑒𝑥𝑒𝑟𝑐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𝑙𝑒𝑠</m:t>
                      </m:r>
                    </m:oMath>
                  </m:oMathPara>
                </a14:m>
                <a:endParaRPr lang="fr-FR" sz="1600" b="0" i="1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r>
                  <a:rPr lang="fr-FR" sz="1600" b="0" i="1" dirty="0" smtClean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𝑣𝑎𝑝𝑒𝑢𝑟𝑠</m:t>
                    </m:r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114" y="1745418"/>
                <a:ext cx="3775166" cy="584775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/>
              <p:cNvSpPr txBox="1"/>
              <p:nvPr/>
            </p:nvSpPr>
            <p:spPr>
              <a:xfrm>
                <a:off x="7511143" y="2347745"/>
                <a:ext cx="37751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𝑃𝑟𝑒𝑠𝑠𝑖𝑜𝑛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𝑝𝑎𝑟𝑡𝑖𝑒𝑙𝑙𝑒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𝑒𝑥𝑒𝑟𝑐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𝑙𝑒𝑠</m:t>
                      </m:r>
                    </m:oMath>
                  </m:oMathPara>
                </a14:m>
                <a:endParaRPr lang="fr-FR" sz="16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r>
                  <a:rPr lang="fr-FR" sz="1600" b="0" i="1" dirty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𝑣𝑎𝑝𝑒𝑢𝑟𝑠</m:t>
                    </m:r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ZoneTexte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143" y="2347745"/>
                <a:ext cx="3775166" cy="584775"/>
              </a:xfrm>
              <a:prstGeom prst="rect">
                <a:avLst/>
              </a:prstGeom>
              <a:blipFill>
                <a:blip r:embed="rId4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eur droit avec flèche 29"/>
          <p:cNvCxnSpPr/>
          <p:nvPr/>
        </p:nvCxnSpPr>
        <p:spPr>
          <a:xfrm flipV="1">
            <a:off x="6688183" y="2622580"/>
            <a:ext cx="82296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7982494" y="3480465"/>
                <a:ext cx="2832463" cy="5519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F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F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</m:sub>
                        <m:sup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494" y="3480465"/>
                <a:ext cx="2832463" cy="5519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/>
              <p:cNvSpPr txBox="1"/>
              <p:nvPr/>
            </p:nvSpPr>
            <p:spPr>
              <a:xfrm>
                <a:off x="7982494" y="4303418"/>
                <a:ext cx="2832463" cy="5519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fr-F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fr-F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</m:sub>
                        <m:sup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494" y="4303418"/>
                <a:ext cx="2832463" cy="5519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191114" y="5908408"/>
                <a:ext cx="9644307" cy="40011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repr</m:t>
                    </m:r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é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sentent</m:t>
                    </m:r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les</m:t>
                    </m:r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fractions</m:t>
                    </m:r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molaires</m:t>
                    </m:r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des</m:t>
                    </m:r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deux</m:t>
                    </m:r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liquides</m:t>
                    </m:r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dans</m:t>
                    </m:r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la</m:t>
                    </m:r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solution</m:t>
                    </m:r>
                    <m: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liquide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114" y="5908408"/>
                <a:ext cx="9644307" cy="400110"/>
              </a:xfrm>
              <a:prstGeom prst="rect">
                <a:avLst/>
              </a:prstGeom>
              <a:blipFill>
                <a:blip r:embed="rId7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982494" y="5121415"/>
                <a:ext cx="1415644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 smtClean="0">
                    <a:solidFill>
                      <a:schemeClr val="tx1"/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fr-F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fr-F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494" y="5121415"/>
                <a:ext cx="1415644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96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4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591" y="1588280"/>
            <a:ext cx="2294743" cy="3128298"/>
          </a:xfrm>
          <a:prstGeom prst="rect">
            <a:avLst/>
          </a:prstGeom>
        </p:spPr>
      </p:pic>
      <p:cxnSp>
        <p:nvCxnSpPr>
          <p:cNvPr id="5" name="Connecteur droit avec flèche 4"/>
          <p:cNvCxnSpPr/>
          <p:nvPr/>
        </p:nvCxnSpPr>
        <p:spPr>
          <a:xfrm flipV="1">
            <a:off x="4106778" y="2251646"/>
            <a:ext cx="94052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242418" y="434328"/>
            <a:ext cx="8978329" cy="461665"/>
          </a:xfrm>
          <a:prstGeom prst="rect">
            <a:avLst/>
          </a:prstGeom>
          <a:solidFill>
            <a:srgbClr val="CCFF66"/>
          </a:solidFill>
        </p:spPr>
        <p:txBody>
          <a:bodyPr wrap="square" rtlCol="0">
            <a:spAutoFit/>
          </a:bodyPr>
          <a:lstStyle/>
          <a:p>
            <a:r>
              <a:rPr lang="fr-FR" sz="2400" b="1" u="sng" dirty="0" smtClean="0"/>
              <a:t>Cas#1:</a:t>
            </a:r>
            <a:r>
              <a:rPr lang="fr-FR" sz="2400" b="1" dirty="0" smtClean="0"/>
              <a:t>   </a:t>
            </a:r>
            <a:r>
              <a:rPr lang="fr-FR" sz="2400" dirty="0" smtClean="0"/>
              <a:t>il y a en phase vapeur que les vapeurs des deux liquides</a:t>
            </a:r>
            <a:endParaRPr lang="en-US" sz="2400" dirty="0"/>
          </a:p>
        </p:txBody>
      </p:sp>
      <p:cxnSp>
        <p:nvCxnSpPr>
          <p:cNvPr id="11" name="Connecteur droit avec flèche 10"/>
          <p:cNvCxnSpPr/>
          <p:nvPr/>
        </p:nvCxnSpPr>
        <p:spPr>
          <a:xfrm flipV="1">
            <a:off x="5868051" y="2995675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flipV="1">
            <a:off x="5680816" y="2995675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6042222" y="2995675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V="1">
            <a:off x="6220748" y="2995675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079925" y="2995675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5019070" y="2847006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 flipV="1">
            <a:off x="5254096" y="2995675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5432622" y="2995675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 flipV="1">
            <a:off x="6717137" y="2253371"/>
            <a:ext cx="822960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/>
              <p:cNvSpPr txBox="1"/>
              <p:nvPr/>
            </p:nvSpPr>
            <p:spPr>
              <a:xfrm>
                <a:off x="7670726" y="2001213"/>
                <a:ext cx="37751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𝑃𝑟𝑒𝑠𝑠𝑖𝑜𝑛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𝑝𝑎𝑟𝑡𝑖𝑒𝑙𝑙𝑒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𝑒𝑥𝑒𝑟𝑐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𝑙𝑒𝑠</m:t>
                      </m:r>
                    </m:oMath>
                  </m:oMathPara>
                </a14:m>
                <a:endParaRPr lang="fr-FR" sz="1600" b="0" i="1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r>
                  <a:rPr lang="fr-FR" sz="1600" b="0" i="1" dirty="0" smtClean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𝑣𝑎𝑝𝑒𝑢𝑟𝑠</m:t>
                    </m:r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726" y="2001213"/>
                <a:ext cx="3775166" cy="584775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/>
              <p:cNvSpPr txBox="1"/>
              <p:nvPr/>
            </p:nvSpPr>
            <p:spPr>
              <a:xfrm>
                <a:off x="7540097" y="2563310"/>
                <a:ext cx="37751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𝑃𝑟𝑒𝑠𝑠𝑖𝑜𝑛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𝑝𝑎𝑟𝑡𝑖𝑒𝑙𝑙𝑒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𝑒𝑥𝑒𝑟𝑐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𝑙𝑒𝑠</m:t>
                      </m:r>
                    </m:oMath>
                  </m:oMathPara>
                </a14:m>
                <a:endParaRPr lang="fr-FR" sz="16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r>
                  <a:rPr lang="fr-FR" sz="1600" b="0" i="1" dirty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𝑣𝑎𝑝𝑒𝑢𝑟𝑠</m:t>
                    </m:r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ZoneTexte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097" y="2563310"/>
                <a:ext cx="3775166" cy="584775"/>
              </a:xfrm>
              <a:prstGeom prst="rect">
                <a:avLst/>
              </a:prstGeom>
              <a:blipFill>
                <a:blip r:embed="rId4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eur droit avec flèche 29"/>
          <p:cNvCxnSpPr/>
          <p:nvPr/>
        </p:nvCxnSpPr>
        <p:spPr>
          <a:xfrm flipV="1">
            <a:off x="6717137" y="2838145"/>
            <a:ext cx="82296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8011448" y="3696030"/>
                <a:ext cx="2832463" cy="5519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F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F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</m:sub>
                        <m:sup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1448" y="3696030"/>
                <a:ext cx="2832463" cy="5519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/>
              <p:cNvSpPr txBox="1"/>
              <p:nvPr/>
            </p:nvSpPr>
            <p:spPr>
              <a:xfrm>
                <a:off x="8011448" y="4518983"/>
                <a:ext cx="2832463" cy="5519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fr-F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fr-F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</m:sub>
                        <m:sup>
                          <m:r>
                            <a:rPr lang="fr-F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1448" y="4518983"/>
                <a:ext cx="2832463" cy="5519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946573" y="5673704"/>
                <a:ext cx="4032068" cy="83099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</a:rPr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r>
                      <m:rPr>
                        <m:sty m:val="p"/>
                      </m:rP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repr</m:t>
                    </m:r>
                    <m: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é</m:t>
                    </m:r>
                    <m:r>
                      <m:rPr>
                        <m:sty m:val="p"/>
                      </m:rP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sentent</m:t>
                    </m:r>
                    <m: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les</m:t>
                    </m:r>
                    <m: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fractions</m:t>
                    </m:r>
                    <m: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molaires</m:t>
                    </m:r>
                    <m: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des</m:t>
                    </m:r>
                    <m: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deux</m:t>
                    </m:r>
                    <m: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sz="1600" b="0" i="0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iquides</m:t>
                      </m:r>
                      <m:r>
                        <a:rPr lang="fr-FR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dans</m:t>
                      </m:r>
                      <m:r>
                        <a:rPr lang="fr-FR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la</m:t>
                      </m:r>
                      <m:r>
                        <a:rPr lang="fr-FR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solution</m:t>
                      </m:r>
                      <m:r>
                        <a:rPr lang="fr-FR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liquide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573" y="5673704"/>
                <a:ext cx="4032068" cy="830997"/>
              </a:xfrm>
              <a:prstGeom prst="rect">
                <a:avLst/>
              </a:prstGeom>
              <a:blipFill>
                <a:blip r:embed="rId7"/>
                <a:stretch>
                  <a:fillRect t="-2206" r="-303" b="-3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138127" y="1877739"/>
                <a:ext cx="2597634" cy="4616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𝐓𝐨𝐭𝐚𝐥𝐞</m:t>
                        </m:r>
                        <m:r>
                          <a:rPr lang="fr-FR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</m:oMath>
                </a14:m>
                <a:r>
                  <a:rPr lang="fr-FR" sz="2400" b="1" i="0" dirty="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sub>
                    </m:sSub>
                  </m:oMath>
                </a14:m>
                <a:endParaRPr lang="fr-FR" sz="2400" b="1" i="0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127" y="1877739"/>
                <a:ext cx="2597634" cy="461665"/>
              </a:xfrm>
              <a:prstGeom prst="rect">
                <a:avLst/>
              </a:prstGeom>
              <a:blipFill>
                <a:blip r:embed="rId8"/>
                <a:stretch>
                  <a:fillRect l="-70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566266" y="2779906"/>
                <a:ext cx="3363998" cy="38779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𝐓𝐨𝐭𝐚𝐥𝐞</m:t>
                        </m:r>
                        <m:r>
                          <a:rPr lang="fr-FR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  <m:r>
                      <a:rPr lang="fr-FR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𝐀</m:t>
                        </m:r>
                      </m:sub>
                      <m:sup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fr-FR" b="1" i="0" dirty="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  +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sub>
                    </m:sSub>
                    <m:r>
                      <a:rPr lang="fr-FR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𝐁</m:t>
                        </m:r>
                      </m:sub>
                      <m:sup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endParaRPr lang="fr-FR" b="1" i="0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66" y="2779906"/>
                <a:ext cx="3363998" cy="387798"/>
              </a:xfrm>
              <a:prstGeom prst="rect">
                <a:avLst/>
              </a:prstGeom>
              <a:blipFill>
                <a:blip r:embed="rId9"/>
                <a:stretch>
                  <a:fillRect t="-4688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566266" y="3404341"/>
                <a:ext cx="1415644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 smtClean="0">
                    <a:solidFill>
                      <a:schemeClr val="tx1"/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fr-F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fr-F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66" y="3404341"/>
                <a:ext cx="1415644" cy="369332"/>
              </a:xfrm>
              <a:prstGeom prst="rect">
                <a:avLst/>
              </a:prstGeom>
              <a:blipFill>
                <a:blip r:embed="rId1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66266" y="3972003"/>
                <a:ext cx="1629164" cy="36933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fr-F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fr-F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66" y="3972003"/>
                <a:ext cx="16291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e 8"/>
          <p:cNvGrpSpPr/>
          <p:nvPr/>
        </p:nvGrpSpPr>
        <p:grpSpPr>
          <a:xfrm>
            <a:off x="242418" y="4715953"/>
            <a:ext cx="5055571" cy="933752"/>
            <a:chOff x="413412" y="4884648"/>
            <a:chExt cx="5055571" cy="933752"/>
          </a:xfrm>
        </p:grpSpPr>
        <p:sp>
          <p:nvSpPr>
            <p:cNvPr id="8" name="Rectangle 7"/>
            <p:cNvSpPr/>
            <p:nvPr/>
          </p:nvSpPr>
          <p:spPr>
            <a:xfrm>
              <a:off x="413412" y="4884648"/>
              <a:ext cx="5055571" cy="9337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503716" y="5023134"/>
                  <a:ext cx="4883453" cy="486223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𝐓𝐨𝐭𝐚𝐥𝐞</m:t>
                          </m:r>
                          <m:r>
                            <a:rPr lang="fr-FR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FR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</m:sub>
                        <m:sup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fr-FR" sz="2400" b="1" i="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   +   (1-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fr-F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</m:sub>
                        <m:sup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a14:m>
                  <a:endParaRPr lang="fr-FR" sz="2400" b="1" i="0" dirty="0" smtClean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716" y="5023134"/>
                  <a:ext cx="4883453" cy="486223"/>
                </a:xfrm>
                <a:prstGeom prst="rect">
                  <a:avLst/>
                </a:prstGeom>
                <a:blipFill>
                  <a:blip r:embed="rId12"/>
                  <a:stretch>
                    <a:fillRect t="-6250" b="-2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332722" y="5966987"/>
                <a:ext cx="5508624" cy="48622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𝐬𝐚𝐭𝐮𝐫𝐚𝐭𝐢𝐨𝐧</m:t>
                        </m:r>
                        <m:r>
                          <a:rPr lang="fr-FR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  <m:r>
                      <a:rPr lang="fr-FR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𝐀</m:t>
                        </m:r>
                      </m:sub>
                      <m:sup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fr-FR" sz="2400" b="1" i="0" dirty="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  +   (1-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fr-FR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fr-FR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𝐁</m:t>
                        </m:r>
                      </m:sub>
                      <m:sup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endParaRPr lang="fr-FR" sz="2400" b="1" i="0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22" y="5966987"/>
                <a:ext cx="5508624" cy="486223"/>
              </a:xfrm>
              <a:prstGeom prst="rect">
                <a:avLst/>
              </a:prstGeom>
              <a:blipFill>
                <a:blip r:embed="rId13"/>
                <a:stretch>
                  <a:fillRect t="-6250" b="-2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07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4" grpId="0" animBg="1"/>
      <p:bldP spid="6" grpId="0" animBg="1"/>
      <p:bldP spid="27" grpId="0" animBg="1"/>
      <p:bldP spid="32" grpId="0" animBg="1"/>
      <p:bldP spid="33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944" y="2002382"/>
            <a:ext cx="2294743" cy="3128298"/>
          </a:xfrm>
          <a:prstGeom prst="rect">
            <a:avLst/>
          </a:prstGeom>
        </p:spPr>
      </p:pic>
      <p:cxnSp>
        <p:nvCxnSpPr>
          <p:cNvPr id="5" name="Connecteur droit avec flèche 4"/>
          <p:cNvCxnSpPr/>
          <p:nvPr/>
        </p:nvCxnSpPr>
        <p:spPr>
          <a:xfrm flipV="1">
            <a:off x="6745431" y="2721973"/>
            <a:ext cx="94052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439885" y="862004"/>
            <a:ext cx="8978329" cy="461665"/>
          </a:xfrm>
          <a:prstGeom prst="rect">
            <a:avLst/>
          </a:prstGeom>
          <a:solidFill>
            <a:srgbClr val="CCFF66"/>
          </a:solidFill>
        </p:spPr>
        <p:txBody>
          <a:bodyPr wrap="square" rtlCol="0">
            <a:spAutoFit/>
          </a:bodyPr>
          <a:lstStyle/>
          <a:p>
            <a:r>
              <a:rPr lang="fr-FR" sz="2400" b="1" u="sng" dirty="0" smtClean="0"/>
              <a:t>Cas#2:</a:t>
            </a:r>
            <a:r>
              <a:rPr lang="fr-FR" sz="2400" b="1" dirty="0" smtClean="0"/>
              <a:t>   </a:t>
            </a:r>
            <a:r>
              <a:rPr lang="fr-FR" sz="2400" dirty="0" smtClean="0"/>
              <a:t>il y a en phase vapeur un gaz en plus des vapeurs</a:t>
            </a:r>
            <a:endParaRPr lang="en-US" sz="2400" dirty="0"/>
          </a:p>
        </p:txBody>
      </p:sp>
      <p:cxnSp>
        <p:nvCxnSpPr>
          <p:cNvPr id="11" name="Connecteur droit avec flèche 10"/>
          <p:cNvCxnSpPr/>
          <p:nvPr/>
        </p:nvCxnSpPr>
        <p:spPr>
          <a:xfrm flipV="1">
            <a:off x="5904412" y="3331399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flipV="1">
            <a:off x="5717177" y="3331399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6078583" y="3331399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V="1">
            <a:off x="6257109" y="3331399"/>
            <a:ext cx="0" cy="2351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116286" y="3331399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4929051" y="3331399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 flipV="1">
            <a:off x="5290457" y="3331399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5468983" y="3331399"/>
            <a:ext cx="0" cy="235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 flipH="1">
            <a:off x="4165215" y="2827133"/>
            <a:ext cx="76383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/>
              <p:cNvSpPr txBox="1"/>
              <p:nvPr/>
            </p:nvSpPr>
            <p:spPr>
              <a:xfrm>
                <a:off x="3656052" y="2618525"/>
                <a:ext cx="9299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052" y="2618525"/>
                <a:ext cx="92994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/>
              <p:cNvSpPr txBox="1"/>
              <p:nvPr/>
            </p:nvSpPr>
            <p:spPr>
              <a:xfrm>
                <a:off x="3642283" y="2071700"/>
                <a:ext cx="5644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ZoneTexte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283" y="2071700"/>
                <a:ext cx="564412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eur droit avec flèche 29"/>
          <p:cNvCxnSpPr/>
          <p:nvPr/>
        </p:nvCxnSpPr>
        <p:spPr>
          <a:xfrm flipH="1">
            <a:off x="4205956" y="2258983"/>
            <a:ext cx="754016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350232" y="2239971"/>
                <a:ext cx="1998406" cy="42062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FR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FR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</m:sub>
                        <m:sup>
                          <m:r>
                            <a:rPr lang="fr-FR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32" y="2239971"/>
                <a:ext cx="1998406" cy="420628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/>
              <p:cNvSpPr txBox="1"/>
              <p:nvPr/>
            </p:nvSpPr>
            <p:spPr>
              <a:xfrm>
                <a:off x="350232" y="3062924"/>
                <a:ext cx="1998406" cy="42062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fr-FR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fr-FR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</m:sub>
                        <m:sup>
                          <m:r>
                            <a:rPr lang="fr-FR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32" y="3062924"/>
                <a:ext cx="1998406" cy="420628"/>
              </a:xfrm>
              <a:prstGeom prst="rect">
                <a:avLst/>
              </a:prstGeom>
              <a:blipFill>
                <a:blip r:embed="rId6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763478" y="2450100"/>
                <a:ext cx="3366884" cy="49673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𝐓𝐨𝐭𝐚𝐥𝐞</m:t>
                        </m:r>
                        <m:r>
                          <a:rPr lang="fr-FR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</m:oMath>
                </a14:m>
                <a:r>
                  <a:rPr lang="fr-FR" sz="2400" b="1" i="0" dirty="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fr-FR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sub>
                    </m:sSub>
                    <m:r>
                      <a:rPr lang="fr-FR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𝐠𝐚𝐳</m:t>
                        </m:r>
                      </m:sub>
                    </m:sSub>
                  </m:oMath>
                </a14:m>
                <a:endParaRPr lang="fr-FR" sz="2400" b="1" i="0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478" y="2450100"/>
                <a:ext cx="3366884" cy="496739"/>
              </a:xfrm>
              <a:prstGeom prst="rect">
                <a:avLst/>
              </a:prstGeom>
              <a:blipFill>
                <a:blip r:embed="rId7"/>
                <a:stretch>
                  <a:fillRect l="-543" t="-11111" b="-19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7685956" y="3424783"/>
                <a:ext cx="4037900" cy="42024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𝐓𝐨𝐭𝐚𝐥𝐞</m:t>
                        </m:r>
                        <m:r>
                          <a:rPr lang="fr-FR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  <m:r>
                      <a:rPr lang="fr-FR" b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𝐀</m:t>
                        </m:r>
                      </m:sub>
                      <m:sup>
                        <m:r>
                          <a:rPr lang="fr-FR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fr-FR" b="1" i="0" dirty="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  +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sub>
                    </m:sSub>
                    <m:r>
                      <a:rPr lang="fr-FR" b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𝐁</m:t>
                        </m:r>
                      </m:sub>
                      <m:sup>
                        <m:r>
                          <a:rPr lang="fr-FR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fr-FR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𝐠𝐚𝐳</m:t>
                        </m:r>
                      </m:sub>
                    </m:sSub>
                  </m:oMath>
                </a14:m>
                <a:endParaRPr lang="fr-FR" b="1" i="0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956" y="3424783"/>
                <a:ext cx="4037900" cy="420243"/>
              </a:xfrm>
              <a:prstGeom prst="rect">
                <a:avLst/>
              </a:prstGeom>
              <a:blipFill>
                <a:blip r:embed="rId8"/>
                <a:stretch>
                  <a:fillRect t="-579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e 2"/>
          <p:cNvGrpSpPr/>
          <p:nvPr/>
        </p:nvGrpSpPr>
        <p:grpSpPr>
          <a:xfrm>
            <a:off x="5838180" y="5682230"/>
            <a:ext cx="5915007" cy="933752"/>
            <a:chOff x="757646" y="5669643"/>
            <a:chExt cx="5915007" cy="933752"/>
          </a:xfrm>
        </p:grpSpPr>
        <p:sp>
          <p:nvSpPr>
            <p:cNvPr id="8" name="Rectangle 7"/>
            <p:cNvSpPr/>
            <p:nvPr/>
          </p:nvSpPr>
          <p:spPr>
            <a:xfrm>
              <a:off x="757646" y="5669643"/>
              <a:ext cx="5915007" cy="9337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833724" y="5847817"/>
                  <a:ext cx="5787354" cy="49673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𝐓𝐨𝐭𝐚𝐥𝐞</m:t>
                          </m:r>
                          <m:r>
                            <a:rPr lang="fr-FR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FR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</m:sub>
                        <m:sup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fr-FR" sz="2400" b="1" i="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   +   (1-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fr-F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</m:sub>
                        <m:sup>
                          <m:r>
                            <a:rPr lang="fr-FR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fr-FR" sz="2400" b="1" i="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  </a:t>
                  </a:r>
                  <a14:m>
                    <m:oMath xmlns:m="http://schemas.openxmlformats.org/officeDocument/2006/math"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𝐠𝐚𝐳</m:t>
                          </m:r>
                        </m:sub>
                      </m:sSub>
                    </m:oMath>
                  </a14:m>
                  <a:endParaRPr lang="fr-FR" sz="2400" b="1" i="0" dirty="0" smtClean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724" y="5847817"/>
                  <a:ext cx="5787354" cy="496739"/>
                </a:xfrm>
                <a:prstGeom prst="rect">
                  <a:avLst/>
                </a:prstGeom>
                <a:blipFill>
                  <a:blip r:embed="rId9"/>
                  <a:stretch>
                    <a:fillRect l="-211" t="-9756" b="-195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Ellipse 30"/>
          <p:cNvSpPr/>
          <p:nvPr/>
        </p:nvSpPr>
        <p:spPr>
          <a:xfrm>
            <a:off x="5717177" y="2213747"/>
            <a:ext cx="198138" cy="16613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llipse 34"/>
          <p:cNvSpPr/>
          <p:nvPr/>
        </p:nvSpPr>
        <p:spPr>
          <a:xfrm>
            <a:off x="5739111" y="2561306"/>
            <a:ext cx="198138" cy="16613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llipse 35"/>
          <p:cNvSpPr/>
          <p:nvPr/>
        </p:nvSpPr>
        <p:spPr>
          <a:xfrm>
            <a:off x="5017217" y="3115258"/>
            <a:ext cx="198138" cy="16613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llipse 36"/>
          <p:cNvSpPr/>
          <p:nvPr/>
        </p:nvSpPr>
        <p:spPr>
          <a:xfrm>
            <a:off x="6355386" y="2845569"/>
            <a:ext cx="198138" cy="16613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Connecteur droit avec flèche 38"/>
          <p:cNvCxnSpPr/>
          <p:nvPr/>
        </p:nvCxnSpPr>
        <p:spPr>
          <a:xfrm flipH="1" flipV="1">
            <a:off x="4352453" y="3216047"/>
            <a:ext cx="576597" cy="106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/>
              <p:cNvSpPr txBox="1"/>
              <p:nvPr/>
            </p:nvSpPr>
            <p:spPr>
              <a:xfrm>
                <a:off x="3665542" y="3008808"/>
                <a:ext cx="929947" cy="361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𝐠𝐚𝐳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ZoneTexte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542" y="3008808"/>
                <a:ext cx="929947" cy="361959"/>
              </a:xfrm>
              <a:prstGeom prst="rect">
                <a:avLst/>
              </a:prstGeom>
              <a:blipFill>
                <a:blip r:embed="rId10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oneTexte 43"/>
              <p:cNvSpPr txBox="1"/>
              <p:nvPr/>
            </p:nvSpPr>
            <p:spPr>
              <a:xfrm>
                <a:off x="320385" y="3804750"/>
                <a:ext cx="4002221" cy="42928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𝐠𝐚𝐳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: 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appliquer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la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loi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des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gaz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parfaits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ZoneTexte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5" y="3804750"/>
                <a:ext cx="4002221" cy="429285"/>
              </a:xfrm>
              <a:prstGeom prst="rect">
                <a:avLst/>
              </a:prstGeom>
              <a:blipFill>
                <a:blip r:embed="rId11"/>
                <a:stretch>
                  <a:fillRect t="-5634" b="-18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7692688" y="4353936"/>
                <a:ext cx="4024435" cy="38779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>
                            <a:latin typeface="Cambria Math" panose="02040503050406030204" pitchFamily="18" charset="0"/>
                          </a:rPr>
                          <m:t>𝐬𝐚𝐭𝐮𝐫𝐚𝐭𝐢𝐨𝐧</m:t>
                        </m:r>
                        <m:r>
                          <a:rPr lang="fr-FR" b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b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b="1"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  <m:r>
                      <a:rPr lang="fr-FR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𝐀</m:t>
                        </m:r>
                      </m:sub>
                      <m:sup>
                        <m:r>
                          <a:rPr lang="fr-F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fr-FR" b="1" dirty="0">
                    <a:latin typeface="Cambria Math" panose="02040503050406030204" pitchFamily="18" charset="0"/>
                  </a:rPr>
                  <a:t>   +   (1-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fr-FR" b="1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fr-FR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𝐁</m:t>
                        </m:r>
                      </m:sub>
                      <m:sup>
                        <m:r>
                          <a:rPr lang="fr-F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688" y="4353936"/>
                <a:ext cx="4024435" cy="387798"/>
              </a:xfrm>
              <a:prstGeom prst="rect">
                <a:avLst/>
              </a:prstGeom>
              <a:blipFill>
                <a:blip r:embed="rId12"/>
                <a:stretch>
                  <a:fillRect t="-6250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660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0" grpId="0" animBg="1"/>
      <p:bldP spid="25" grpId="0" animBg="1"/>
      <p:bldP spid="6" grpId="0" animBg="1"/>
      <p:bldP spid="27" grpId="0" animBg="1"/>
      <p:bldP spid="36" grpId="0" animBg="1"/>
      <p:bldP spid="41" grpId="0"/>
      <p:bldP spid="44" grpId="0" animBg="1"/>
      <p:bldP spid="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00446" y="431074"/>
            <a:ext cx="3540034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Exercice d’application #1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00446" y="1301926"/>
            <a:ext cx="11469188" cy="16466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endParaRPr lang="en-US" sz="11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</a:rPr>
              <a:t>Un récipient hermétique d’une capacité de deux litres contient initialement de l’air sec à 20,0°C et 100,0 kPa. </a:t>
            </a:r>
            <a:endParaRPr lang="fr-FR" dirty="0" smtClean="0">
              <a:latin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</a:rPr>
              <a:t>On </a:t>
            </a:r>
            <a:r>
              <a:rPr lang="fr-FR" dirty="0">
                <a:latin typeface="Arial" panose="020B0604020202020204" pitchFamily="34" charset="0"/>
              </a:rPr>
              <a:t>ajoute </a:t>
            </a:r>
            <a:r>
              <a:rPr lang="fr-FR" b="1" dirty="0">
                <a:latin typeface="Arial" panose="020B0604020202020204" pitchFamily="34" charset="0"/>
              </a:rPr>
              <a:t>500 </a:t>
            </a:r>
            <a:r>
              <a:rPr lang="fr-FR" b="1" dirty="0" err="1">
                <a:latin typeface="Arial" panose="020B0604020202020204" pitchFamily="34" charset="0"/>
              </a:rPr>
              <a:t>mL</a:t>
            </a:r>
            <a:r>
              <a:rPr lang="fr-FR" b="1" dirty="0">
                <a:latin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</a:rPr>
              <a:t>de Vodka que l’on peut considérer comme une solution d’éthanol et d’eau, à 40,0% volumique en éthanol à cette même température. </a:t>
            </a:r>
            <a:endParaRPr lang="fr-FR" dirty="0" smtClean="0">
              <a:latin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</a:rPr>
              <a:t>On </a:t>
            </a:r>
            <a:r>
              <a:rPr lang="fr-FR" dirty="0">
                <a:latin typeface="Arial" panose="020B0604020202020204" pitchFamily="34" charset="0"/>
              </a:rPr>
              <a:t>chauffe le réservoir jusqu’à </a:t>
            </a:r>
            <a:r>
              <a:rPr lang="fr-FR" b="1" dirty="0">
                <a:latin typeface="Arial" panose="020B0604020202020204" pitchFamily="34" charset="0"/>
              </a:rPr>
              <a:t>40°C</a:t>
            </a:r>
            <a:r>
              <a:rPr lang="fr-FR" dirty="0">
                <a:latin typeface="Arial" panose="020B0604020202020204" pitchFamily="34" charset="0"/>
              </a:rPr>
              <a:t> et on laisse s’établir l’équilibre à cette température. Quelle sera alors la pression totale au-dessus du liquide ? </a:t>
            </a: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92" y="3531379"/>
            <a:ext cx="1635411" cy="205745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951" y="3531380"/>
            <a:ext cx="1688166" cy="207503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466" y="3531379"/>
            <a:ext cx="1652996" cy="20750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5982788" y="5727980"/>
                <a:ext cx="1802674" cy="36933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𝒕𝒐𝒕𝒂𝒍𝒆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788" y="5727980"/>
                <a:ext cx="1802674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eur droit avec flèche 10"/>
          <p:cNvCxnSpPr/>
          <p:nvPr/>
        </p:nvCxnSpPr>
        <p:spPr>
          <a:xfrm flipH="1">
            <a:off x="7471953" y="3865911"/>
            <a:ext cx="561702" cy="214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190410" y="4092808"/>
                <a:ext cx="34085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𝒕𝒐𝒕𝒂𝒍𝒆</m:t>
                        </m:r>
                        <m:r>
                          <a:rPr lang="fr-FR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𝒕𝒉𝒂𝒏𝒐𝒍</m:t>
                        </m:r>
                      </m:sub>
                    </m:sSub>
                  </m:oMath>
                </a14:m>
                <a:r>
                  <a:rPr lang="fr-FR" b="1" dirty="0">
                    <a:latin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fr-FR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𝐞𝐚𝐮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𝐀𝐢𝐫</m:t>
                        </m:r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𝐬𝐞𝐜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410" y="4092808"/>
                <a:ext cx="3408562" cy="369332"/>
              </a:xfrm>
              <a:prstGeom prst="rect">
                <a:avLst/>
              </a:prstGeom>
              <a:blipFill>
                <a:blip r:embed="rId6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8386355" y="5588832"/>
                <a:ext cx="3639016" cy="36125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𝐭𝐡𝐚𝐧𝐨𝐥</m:t>
                          </m:r>
                        </m:sub>
                      </m:sSub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𝐭𝐡𝐚𝐧𝐨𝐥</m:t>
                          </m:r>
                        </m:sub>
                      </m:sSub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𝐭𝐡𝐚𝐧𝐨𝐥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(à 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℃)</m:t>
                      </m:r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355" y="5588832"/>
                <a:ext cx="3639016" cy="361253"/>
              </a:xfrm>
              <a:prstGeom prst="rect">
                <a:avLst/>
              </a:prstGeom>
              <a:blipFill>
                <a:blip r:embed="rId7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8289392" y="6303846"/>
                <a:ext cx="3735979" cy="3441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𝐞𝐚𝐮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𝐭𝐡𝐚𝐧𝐨𝐥</m:t>
                          </m:r>
                        </m:sub>
                      </m:sSub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𝐞𝐚𝐮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sub>
                        <m:sup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(à 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℃)</m:t>
                      </m:r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392" y="6303846"/>
                <a:ext cx="3735979" cy="344133"/>
              </a:xfrm>
              <a:prstGeom prst="rect">
                <a:avLst/>
              </a:prstGeom>
              <a:blipFill>
                <a:blip r:embed="rId8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8386355" y="4773406"/>
                <a:ext cx="1669368" cy="4616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𝐀𝐢𝐫</m:t>
                          </m:r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𝐬𝐞𝐜</m:t>
                          </m:r>
                        </m:sub>
                      </m:sSub>
                      <m:r>
                        <a:rPr lang="fr-FR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355" y="4773406"/>
                <a:ext cx="1669368" cy="461665"/>
              </a:xfrm>
              <a:prstGeom prst="rect">
                <a:avLst/>
              </a:prstGeom>
              <a:blipFill>
                <a:blip r:embed="rId9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69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00446" y="431074"/>
            <a:ext cx="3540034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Exercice d’application #1</a:t>
            </a:r>
            <a:endParaRPr lang="en-US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24" y="1532762"/>
            <a:ext cx="1652996" cy="20750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300446" y="3729363"/>
                <a:ext cx="1802674" cy="36933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𝒕𝒐𝒕𝒂𝒍𝒆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6" y="3729363"/>
                <a:ext cx="1802674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eur droit avec flèche 10"/>
          <p:cNvCxnSpPr/>
          <p:nvPr/>
        </p:nvCxnSpPr>
        <p:spPr>
          <a:xfrm flipH="1">
            <a:off x="1789611" y="1867294"/>
            <a:ext cx="561702" cy="214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606040" y="1569263"/>
                <a:ext cx="34630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𝒕𝒐𝒕𝒂𝒍𝒆</m:t>
                        </m:r>
                        <m:r>
                          <a:rPr lang="fr-FR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𝒕𝒉𝒂𝒏𝒐𝒍</m:t>
                        </m:r>
                      </m:sub>
                    </m:sSub>
                  </m:oMath>
                </a14:m>
                <a:r>
                  <a:rPr lang="fr-FR" b="1" dirty="0">
                    <a:latin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fr-FR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𝐞𝐚𝐮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𝐀𝐢𝐫</m:t>
                        </m:r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𝐬𝐞𝐜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040" y="1569263"/>
                <a:ext cx="3463064" cy="369332"/>
              </a:xfrm>
              <a:prstGeom prst="rect">
                <a:avLst/>
              </a:prstGeom>
              <a:blipFill>
                <a:blip r:embed="rId4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6943921" y="2280762"/>
                <a:ext cx="3639016" cy="36125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𝐭𝐡𝐚𝐧𝐨𝐥</m:t>
                          </m:r>
                        </m:sub>
                      </m:sSub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𝐭𝐡𝐚𝐧𝐨𝐥</m:t>
                          </m:r>
                        </m:sub>
                      </m:sSub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𝐭𝐡𝐚𝐧𝐨𝐥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(à 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℃)</m:t>
                      </m:r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921" y="2280762"/>
                <a:ext cx="3639016" cy="361253"/>
              </a:xfrm>
              <a:prstGeom prst="rect">
                <a:avLst/>
              </a:prstGeom>
              <a:blipFill>
                <a:blip r:embed="rId5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6943921" y="2866074"/>
                <a:ext cx="4663439" cy="3441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𝐞𝐚𝐮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𝐞𝐭𝐡𝐚𝐧𝐨𝐥</m:t>
                          </m:r>
                        </m:sub>
                      </m:sSub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𝐞𝐚𝐮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sub>
                        <m:sup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(à 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℃)</m:t>
                      </m:r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921" y="2866074"/>
                <a:ext cx="4663439" cy="344133"/>
              </a:xfrm>
              <a:prstGeom prst="rect">
                <a:avLst/>
              </a:prstGeom>
              <a:blipFill>
                <a:blip r:embed="rId6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6943921" y="1523096"/>
                <a:ext cx="1669368" cy="4616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𝐀𝐢𝐫</m:t>
                          </m:r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𝐬𝐞𝐜</m:t>
                          </m:r>
                        </m:sub>
                      </m:sSub>
                      <m:r>
                        <a:rPr lang="fr-FR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921" y="1523096"/>
                <a:ext cx="1669368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965133" y="4098695"/>
                <a:ext cx="3637341" cy="84042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eqArr>
                            <m:eqArr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𝐭𝐡𝐚𝐧𝐨𝐥</m:t>
                              </m:r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𝒎𝒐𝒍𝒂𝒊𝒓𝒆</m:t>
                              </m:r>
                            </m:e>
                            <m:e/>
                            <m:e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𝒅𝒂𝒏𝒔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𝒍𝒆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𝒍𝒊𝒒𝒖𝒊𝒅𝒆</m:t>
                              </m:r>
                              <m:r>
                                <a:rPr lang="fr-FR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𝒕𝒉𝒂𝒏𝒐𝒍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𝒕𝒉𝒂𝒏𝒐𝒍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𝒆𝒂𝒖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133" y="4098695"/>
                <a:ext cx="3637341" cy="8404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92631" y="4928005"/>
                <a:ext cx="3706271" cy="106990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eqArr>
                            <m:eqArr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𝐭𝐡𝐚𝐧𝐨𝐥</m:t>
                              </m:r>
                            </m:e>
                            <m:e/>
                            <m:e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𝒅𝒂𝒏𝒔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𝒍𝒆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𝒍𝒊𝒒𝒖𝒊𝒅𝒆</m:t>
                              </m:r>
                              <m:r>
                                <a:rPr lang="fr-FR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é</m:t>
                                  </m:r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𝒕𝒉𝒂𝒏𝒐𝒍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é</m:t>
                                  </m:r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𝒕𝒉𝒂𝒏𝒐𝒍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é</m:t>
                                  </m:r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𝒕𝒉𝒂𝒏𝒐𝒍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é</m:t>
                                  </m:r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𝒕𝒉𝒂𝒏𝒐𝒍</m:t>
                                  </m:r>
                                </m:sub>
                              </m:sSub>
                            </m:den>
                          </m:f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𝒆𝒂𝒖</m:t>
                                  </m:r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𝒆𝒂𝒖</m:t>
                                  </m:r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31" y="4928005"/>
                <a:ext cx="3706271" cy="10699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/>
          <p:cNvSpPr txBox="1"/>
          <p:nvPr/>
        </p:nvSpPr>
        <p:spPr>
          <a:xfrm>
            <a:off x="143692" y="4328708"/>
            <a:ext cx="749366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Dans un volume arbitraire de 1 L  on a:    </a:t>
            </a:r>
            <a:r>
              <a:rPr lang="fr-FR" b="1" dirty="0" smtClean="0"/>
              <a:t>0.4L</a:t>
            </a:r>
            <a:r>
              <a:rPr lang="fr-FR" dirty="0" smtClean="0"/>
              <a:t> d’éthanol et </a:t>
            </a:r>
            <a:r>
              <a:rPr lang="fr-FR" b="1" dirty="0" smtClean="0"/>
              <a:t>0.6 L</a:t>
            </a:r>
            <a:r>
              <a:rPr lang="fr-FR" dirty="0" smtClean="0"/>
              <a:t> d’eau 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143289" y="5504486"/>
                <a:ext cx="5645135" cy="117436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eqArr>
                            <m:eqArr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𝐭𝐡𝐚𝐧𝐨𝐥</m:t>
                              </m:r>
                            </m:e>
                            <m:e/>
                            <m:e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𝒅𝒂𝒏𝒔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𝒍𝒆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𝒍𝒊𝒒𝒖𝒊𝒅𝒆</m:t>
                              </m:r>
                              <m:r>
                                <a:rPr lang="fr-FR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0.4 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×789  </m:t>
                              </m:r>
                              <m:f>
                                <m:fPr>
                                  <m:type m:val="lin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46.0684 </m:t>
                              </m:r>
                              <m:f>
                                <m:fPr>
                                  <m:type m:val="lin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𝑚𝑜𝑙</m:t>
                                  </m:r>
                                </m:den>
                              </m:f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0.4 </m:t>
                              </m:r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 ×789  </m:t>
                              </m:r>
                              <m:f>
                                <m:fPr>
                                  <m:type m:val="lin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46.0684 </m:t>
                              </m:r>
                              <m:f>
                                <m:fPr>
                                  <m:type m:val="lin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b="0" i="1">
                                      <a:latin typeface="Cambria Math" panose="02040503050406030204" pitchFamily="18" charset="0"/>
                                    </a:rPr>
                                    <m:t>𝑚𝑜𝑙</m:t>
                                  </m:r>
                                </m:den>
                              </m:f>
                            </m:den>
                          </m:f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 ×998  </m:t>
                              </m:r>
                              <m:f>
                                <m:fPr>
                                  <m:type m:val="lin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18.015</m:t>
                              </m:r>
                              <m:f>
                                <m:fPr>
                                  <m:type m:val="lin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b="0" i="1">
                                      <a:latin typeface="Cambria Math" panose="02040503050406030204" pitchFamily="18" charset="0"/>
                                    </a:rPr>
                                    <m:t>𝑚𝑜𝑙</m:t>
                                  </m:r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289" y="5504486"/>
                <a:ext cx="5645135" cy="11743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293915" y="6206359"/>
                <a:ext cx="2567396" cy="51244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𝑡h𝑛𝑎𝑜𝑙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à 20 ℃  </m:t>
                          </m:r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=789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15" y="6206359"/>
                <a:ext cx="2567396" cy="512448"/>
              </a:xfrm>
              <a:prstGeom prst="rect">
                <a:avLst/>
              </a:prstGeom>
              <a:blipFill>
                <a:blip r:embed="rId11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3032761" y="6227878"/>
                <a:ext cx="2567396" cy="51244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 à 20 ℃  </m:t>
                          </m:r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=998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761" y="6227878"/>
                <a:ext cx="2567396" cy="512448"/>
              </a:xfrm>
              <a:prstGeom prst="rect">
                <a:avLst/>
              </a:prstGeom>
              <a:blipFill>
                <a:blip r:embed="rId12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/>
              <p:cNvSpPr txBox="1"/>
              <p:nvPr/>
            </p:nvSpPr>
            <p:spPr>
              <a:xfrm>
                <a:off x="293915" y="6206359"/>
                <a:ext cx="2567396" cy="5648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𝑡h𝑛𝑎𝑜𝑙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à 20 ℃  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=789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15" y="6206359"/>
                <a:ext cx="2567396" cy="5648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85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8" grpId="0" animBg="1"/>
      <p:bldP spid="19" grpId="0" animBg="1"/>
      <p:bldP spid="20" grpId="0" animBg="1"/>
      <p:bldP spid="2" grpId="0" animBg="1"/>
      <p:bldP spid="14" grpId="0" animBg="1"/>
      <p:bldP spid="5" grpId="0" animBg="1"/>
      <p:bldP spid="16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00446" y="431074"/>
            <a:ext cx="3540034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Exercice d’application #1</a:t>
            </a:r>
            <a:endParaRPr lang="en-US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24" y="1532762"/>
            <a:ext cx="1652996" cy="20750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300446" y="3729363"/>
                <a:ext cx="1802674" cy="36933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𝒕𝒐𝒕𝒂𝒍𝒆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6" y="3729363"/>
                <a:ext cx="1802674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eur droit avec flèche 10"/>
          <p:cNvCxnSpPr/>
          <p:nvPr/>
        </p:nvCxnSpPr>
        <p:spPr>
          <a:xfrm flipH="1">
            <a:off x="1789611" y="1867294"/>
            <a:ext cx="561702" cy="214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606040" y="1569263"/>
                <a:ext cx="38349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𝒕𝒐𝒕𝒂𝒍𝒆</m:t>
                        </m:r>
                        <m:r>
                          <a:rPr lang="fr-FR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𝒕𝒉𝒂𝒏𝒐𝒍</m:t>
                        </m:r>
                      </m:sub>
                    </m:sSub>
                  </m:oMath>
                </a14:m>
                <a:r>
                  <a:rPr lang="fr-FR" b="1" dirty="0">
                    <a:latin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fr-FR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𝐦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𝐭𝐡𝐚𝐧𝐨𝐥</m:t>
                        </m:r>
                      </m:sub>
                    </m:sSub>
                    <m:r>
                      <a:rPr lang="fr-FR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𝐀𝐢𝐫</m:t>
                        </m:r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𝐬𝐞𝐜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040" y="1569263"/>
                <a:ext cx="3834961" cy="369332"/>
              </a:xfrm>
              <a:prstGeom prst="rect">
                <a:avLst/>
              </a:prstGeom>
              <a:blipFill>
                <a:blip r:embed="rId4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6943921" y="1352135"/>
                <a:ext cx="3639016" cy="36125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𝐭𝐡𝐚𝐧𝐨𝐥</m:t>
                          </m:r>
                        </m:sub>
                      </m:sSub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𝐭𝐡𝐚𝐧𝐨𝐥</m:t>
                          </m:r>
                        </m:sub>
                      </m:sSub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𝐭𝐡𝐚𝐧𝐨𝐥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(à 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℃)</m:t>
                      </m:r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921" y="1352135"/>
                <a:ext cx="3639016" cy="361253"/>
              </a:xfrm>
              <a:prstGeom prst="rect">
                <a:avLst/>
              </a:prstGeom>
              <a:blipFill>
                <a:blip r:embed="rId5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6943921" y="1937447"/>
                <a:ext cx="4663439" cy="34413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𝐞𝐚𝐮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𝐭𝐡𝐚𝐧𝐨𝐥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𝐞𝐚𝐮</m:t>
                          </m:r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sub>
                        <m:sup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(à 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fr-FR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℃)</m:t>
                      </m:r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921" y="1937447"/>
                <a:ext cx="4663439" cy="344133"/>
              </a:xfrm>
              <a:prstGeom prst="rect">
                <a:avLst/>
              </a:prstGeom>
              <a:blipFill>
                <a:blip r:embed="rId6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30195" y="6000257"/>
                <a:ext cx="1669368" cy="4616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𝐀𝐢𝐫</m:t>
                          </m:r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𝐬𝐞𝐜</m:t>
                          </m:r>
                        </m:sub>
                      </m:sSub>
                      <m:r>
                        <a:rPr lang="fr-FR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95" y="6000257"/>
                <a:ext cx="1669368" cy="461665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099809" y="2591445"/>
                <a:ext cx="6507551" cy="117436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eqArr>
                            <m:eqArr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𝐭𝐡𝐚𝐧𝐨𝐥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𝒎𝒐𝒍𝒂𝒊𝒓𝒆</m:t>
                              </m:r>
                            </m:e>
                            <m:e/>
                            <m:e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𝒅𝒂𝒏𝒔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𝒍𝒆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𝒍𝒊𝒒𝒖𝒊𝒅𝒆</m:t>
                              </m:r>
                              <m:r>
                                <a:rPr lang="fr-FR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0.4 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×789  </m:t>
                              </m:r>
                              <m:f>
                                <m:fPr>
                                  <m:type m:val="lin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46.0684 </m:t>
                              </m:r>
                              <m:f>
                                <m:fPr>
                                  <m:type m:val="lin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𝑚𝑜𝑙</m:t>
                                  </m:r>
                                </m:den>
                              </m:f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0.4 </m:t>
                              </m:r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 ×789  </m:t>
                              </m:r>
                              <m:f>
                                <m:fPr>
                                  <m:type m:val="lin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46.0684 </m:t>
                              </m:r>
                              <m:f>
                                <m:fPr>
                                  <m:type m:val="lin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b="0" i="1">
                                      <a:latin typeface="Cambria Math" panose="02040503050406030204" pitchFamily="18" charset="0"/>
                                    </a:rPr>
                                    <m:t>𝑚𝑜𝑙</m:t>
                                  </m:r>
                                </m:den>
                              </m:f>
                            </m:den>
                          </m:f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b="0" i="1">
                                  <a:latin typeface="Cambria Math" panose="02040503050406030204" pitchFamily="18" charset="0"/>
                                </a:rPr>
                                <m:t> ×998  </m:t>
                              </m:r>
                              <m:f>
                                <m:fPr>
                                  <m:type m:val="lin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18.015</m:t>
                              </m:r>
                              <m:f>
                                <m:fPr>
                                  <m:type m:val="lin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fr-FR" b="0" i="1">
                                      <a:latin typeface="Cambria Math" panose="02040503050406030204" pitchFamily="18" charset="0"/>
                                    </a:rPr>
                                    <m:t>𝑚𝑜𝑙</m:t>
                                  </m:r>
                                </m:den>
                              </m:f>
                            </m:den>
                          </m:f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=0.171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809" y="2591445"/>
                <a:ext cx="6507551" cy="11743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230195" y="4725400"/>
                <a:ext cx="4751690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fr-F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thanol</m:t>
                          </m:r>
                        </m:sub>
                      </m:sSub>
                      <m: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=0.171 </m:t>
                      </m:r>
                      <m: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×17.864 </m:t>
                      </m:r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kPa</m:t>
                      </m:r>
                      <m: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=3.0547 </m:t>
                      </m:r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kPa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95" y="4725400"/>
                <a:ext cx="47516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/>
              <p:cNvSpPr txBox="1"/>
              <p:nvPr/>
            </p:nvSpPr>
            <p:spPr>
              <a:xfrm>
                <a:off x="230195" y="5432702"/>
                <a:ext cx="4751690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eau</m:t>
                          </m:r>
                          <m:r>
                            <a:rPr lang="fr-F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1−0.171</m:t>
                          </m:r>
                        </m:e>
                      </m:d>
                      <m: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×7.384 </m:t>
                      </m:r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kPa</m:t>
                      </m:r>
                      <m: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=6.1213 </m:t>
                      </m:r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kPa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95" y="5432702"/>
                <a:ext cx="475169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ccolade fermante 3"/>
          <p:cNvSpPr/>
          <p:nvPr/>
        </p:nvSpPr>
        <p:spPr>
          <a:xfrm>
            <a:off x="5099809" y="4647241"/>
            <a:ext cx="209006" cy="1203908"/>
          </a:xfrm>
          <a:prstGeom prst="rightBrace">
            <a:avLst>
              <a:gd name="adj1" fmla="val 41201"/>
              <a:gd name="adj2" fmla="val 4457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709353" y="4696331"/>
                <a:ext cx="4042197" cy="46166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400" b="1">
                            <a:latin typeface="Cambria Math" panose="02040503050406030204" pitchFamily="18" charset="0"/>
                          </a:rPr>
                          <m:t>𝐬𝐚𝐭𝐮𝐫𝐚𝐭𝐢𝐨𝐧</m:t>
                        </m:r>
                        <m:r>
                          <a:rPr lang="fr-FR" sz="2400" b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sz="2400" b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𝒕𝒉𝒂𝒏𝒐𝒍</m:t>
                        </m:r>
                      </m:sub>
                    </m:sSub>
                  </m:oMath>
                </a14:m>
                <a:r>
                  <a:rPr lang="en-US" sz="2400" dirty="0" smtClean="0"/>
                  <a:t> +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𝒆𝒂𝒖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353" y="4696331"/>
                <a:ext cx="4042197" cy="461665"/>
              </a:xfrm>
              <a:prstGeom prst="rect">
                <a:avLst/>
              </a:prstGeom>
              <a:blipFill>
                <a:blip r:embed="rId11"/>
                <a:stretch>
                  <a:fillRect l="-45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709353" y="5432702"/>
                <a:ext cx="5864875" cy="43088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2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200" b="1" i="0">
                              <a:latin typeface="Cambria Math" panose="02040503050406030204" pitchFamily="18" charset="0"/>
                            </a:rPr>
                            <m:t>𝐬𝐚𝐭𝐮𝐫𝐚𝐭𝐢𝐨𝐧</m:t>
                          </m:r>
                          <m:r>
                            <a:rPr lang="fr-FR" sz="2200" b="1" i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0" dirty="0" smtClean="0">
                          <a:latin typeface="Cambria Math" panose="02040503050406030204" pitchFamily="18" charset="0"/>
                        </a:rPr>
                        <m:t>3.0547 +6.1213 =  9.1761 </m:t>
                      </m:r>
                      <m:r>
                        <m:rPr>
                          <m:sty m:val="p"/>
                        </m:rPr>
                        <a:rPr lang="en-US" sz="2200" i="0" dirty="0" err="1" smtClean="0">
                          <a:latin typeface="Cambria Math" panose="02040503050406030204" pitchFamily="18" charset="0"/>
                        </a:rPr>
                        <m:t>kPa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353" y="5432702"/>
                <a:ext cx="5864875" cy="430887"/>
              </a:xfrm>
              <a:prstGeom prst="rect">
                <a:avLst/>
              </a:prstGeom>
              <a:blipFill>
                <a:blip r:embed="rId12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25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16" grpId="0" animBg="1"/>
      <p:bldP spid="17" grpId="0" animBg="1"/>
      <p:bldP spid="23" grpId="0" animBg="1"/>
      <p:bldP spid="4" grpId="0" animBg="1"/>
      <p:bldP spid="24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00446" y="431074"/>
            <a:ext cx="3540034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Exercice d’application #1</a:t>
            </a:r>
            <a:endParaRPr lang="en-US" sz="24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889" y="1167001"/>
            <a:ext cx="1635411" cy="205745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648" y="1167002"/>
            <a:ext cx="1688166" cy="207503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1163" y="1167001"/>
            <a:ext cx="1652996" cy="20750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8621485" y="3363602"/>
                <a:ext cx="1802674" cy="36933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𝒕𝒂𝒕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#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1485" y="3363602"/>
                <a:ext cx="180267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00446" y="1284565"/>
                <a:ext cx="1669368" cy="4616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𝐀𝐢𝐫</m:t>
                          </m:r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𝐬𝐞𝐜</m:t>
                          </m:r>
                        </m:sub>
                      </m:sSub>
                      <m:r>
                        <a:rPr lang="fr-FR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6" y="1284565"/>
                <a:ext cx="1669368" cy="461665"/>
              </a:xfrm>
              <a:prstGeom prst="rect">
                <a:avLst/>
              </a:prstGeom>
              <a:blipFill>
                <a:blip r:embed="rId7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3175257" y="3363602"/>
                <a:ext cx="1802674" cy="36933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𝒕𝒂𝒕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#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257" y="3363602"/>
                <a:ext cx="180267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798605"/>
              </p:ext>
            </p:extLst>
          </p:nvPr>
        </p:nvGraphicFramePr>
        <p:xfrm>
          <a:off x="3108325" y="3871913"/>
          <a:ext cx="194627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3" name="Équation" r:id="rId9" imgW="1460160" imgH="863280" progId="Equation.3">
                  <p:embed/>
                </p:oleObj>
              </mc:Choice>
              <mc:Fallback>
                <p:oleObj name="Équation" r:id="rId9" imgW="1460160" imgH="863280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3871913"/>
                        <a:ext cx="1946275" cy="11557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300000"/>
              </p:ext>
            </p:extLst>
          </p:nvPr>
        </p:nvGraphicFramePr>
        <p:xfrm>
          <a:off x="8597900" y="3871913"/>
          <a:ext cx="1998663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4" name="Équation" r:id="rId11" imgW="1498320" imgH="863280" progId="Equation.3">
                  <p:embed/>
                </p:oleObj>
              </mc:Choice>
              <mc:Fallback>
                <p:oleObj name="Équation" r:id="rId11" imgW="1498320" imgH="863280" progId="Equation.3">
                  <p:embed/>
                  <p:pic>
                    <p:nvPicPr>
                      <p:cNvPr id="19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7900" y="3871913"/>
                        <a:ext cx="1998663" cy="11557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119691"/>
              </p:ext>
            </p:extLst>
          </p:nvPr>
        </p:nvGraphicFramePr>
        <p:xfrm>
          <a:off x="400842" y="4449763"/>
          <a:ext cx="223678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" name="Équation" r:id="rId13" imgW="1193760" imgH="431640" progId="Equation.3">
                  <p:embed/>
                </p:oleObj>
              </mc:Choice>
              <mc:Fallback>
                <p:oleObj name="Équation" r:id="rId13" imgW="1193760" imgH="431640" progId="Equation.3">
                  <p:embed/>
                  <p:pic>
                    <p:nvPicPr>
                      <p:cNvPr id="194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2" y="4449763"/>
                        <a:ext cx="2236787" cy="80962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 w="9525">
                        <a:solidFill>
                          <a:srgbClr val="80800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556405"/>
              </p:ext>
            </p:extLst>
          </p:nvPr>
        </p:nvGraphicFramePr>
        <p:xfrm>
          <a:off x="300446" y="5469627"/>
          <a:ext cx="26162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6" name="Équation" r:id="rId15" imgW="1396800" imgH="431640" progId="Equation.3">
                  <p:embed/>
                </p:oleObj>
              </mc:Choice>
              <mc:Fallback>
                <p:oleObj name="Équation" r:id="rId15" imgW="1396800" imgH="431640" progId="Equation.3">
                  <p:embed/>
                  <p:pic>
                    <p:nvPicPr>
                      <p:cNvPr id="1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446" y="5469627"/>
                        <a:ext cx="2616200" cy="80962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 w="9525">
                        <a:solidFill>
                          <a:srgbClr val="80800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Connecteur droit 4"/>
          <p:cNvCxnSpPr/>
          <p:nvPr/>
        </p:nvCxnSpPr>
        <p:spPr>
          <a:xfrm flipH="1">
            <a:off x="1683679" y="4883561"/>
            <a:ext cx="352697" cy="27440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 flipH="1">
            <a:off x="612525" y="4984979"/>
            <a:ext cx="352697" cy="27440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472671"/>
              </p:ext>
            </p:extLst>
          </p:nvPr>
        </p:nvGraphicFramePr>
        <p:xfrm>
          <a:off x="3175257" y="5493440"/>
          <a:ext cx="5684837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7" name="Équation" r:id="rId17" imgW="3035160" imgH="419040" progId="Equation.3">
                  <p:embed/>
                </p:oleObj>
              </mc:Choice>
              <mc:Fallback>
                <p:oleObj name="Équation" r:id="rId17" imgW="3035160" imgH="419040" progId="Equation.3">
                  <p:embed/>
                  <p:pic>
                    <p:nvPicPr>
                      <p:cNvPr id="2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257" y="5493440"/>
                        <a:ext cx="5684837" cy="785812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 w="9525">
                        <a:solidFill>
                          <a:srgbClr val="80800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8938470" y="5874439"/>
                <a:ext cx="2332172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𝐴𝑆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2 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=142.43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𝑘𝑃𝑎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470" y="5874439"/>
                <a:ext cx="2332172" cy="400110"/>
              </a:xfrm>
              <a:prstGeom prst="rect">
                <a:avLst/>
              </a:prstGeom>
              <a:blipFill>
                <a:blip r:embed="rId19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14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00446" y="431074"/>
            <a:ext cx="3540034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Exercice d’application #1</a:t>
            </a:r>
            <a:endParaRPr lang="en-US" sz="24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66" y="1561903"/>
            <a:ext cx="1652996" cy="20750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496388" y="3758504"/>
                <a:ext cx="1802674" cy="36933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𝒕𝒐𝒕𝒂𝒍𝒆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88" y="3758504"/>
                <a:ext cx="1802674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eur droit avec flèche 7"/>
          <p:cNvCxnSpPr/>
          <p:nvPr/>
        </p:nvCxnSpPr>
        <p:spPr>
          <a:xfrm flipH="1">
            <a:off x="1985553" y="1896435"/>
            <a:ext cx="561702" cy="214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829117" y="1708246"/>
                <a:ext cx="34085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𝒕𝒐𝒕𝒂𝒍𝒆</m:t>
                        </m:r>
                        <m:r>
                          <a:rPr lang="fr-FR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𝒕𝒉𝒂𝒏𝒐𝒍</m:t>
                        </m:r>
                      </m:sub>
                    </m:sSub>
                  </m:oMath>
                </a14:m>
                <a:r>
                  <a:rPr lang="fr-FR" b="1" dirty="0">
                    <a:latin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fr-FR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𝐞𝐚𝐮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𝐀𝐢𝐫</m:t>
                        </m:r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𝐬𝐞𝐜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117" y="1708246"/>
                <a:ext cx="3408562" cy="369332"/>
              </a:xfrm>
              <a:prstGeom prst="rect">
                <a:avLst/>
              </a:prstGeom>
              <a:blipFill>
                <a:blip r:embed="rId4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451696" y="4378539"/>
                <a:ext cx="2558393" cy="40011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𝐀𝐢𝐫</m:t>
                          </m:r>
                          <m:r>
                            <a:rPr lang="fr-FR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𝐬𝐞𝐜</m:t>
                          </m:r>
                        </m:sub>
                      </m:sSub>
                      <m:r>
                        <a:rPr lang="fr-FR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=142.43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kPa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696" y="4378539"/>
                <a:ext cx="2558393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3451696" y="3103682"/>
                <a:ext cx="2667750" cy="4001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fr-FR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thanol</m:t>
                          </m:r>
                        </m:sub>
                      </m:sSub>
                      <m:r>
                        <a:rPr lang="fr-FR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fr-FR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.0547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kPa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696" y="3103682"/>
                <a:ext cx="2667750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3451696" y="3810984"/>
                <a:ext cx="2667750" cy="4001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eau</m:t>
                          </m:r>
                          <m:r>
                            <a:rPr lang="fr-FR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fr-FR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.1213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kPa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696" y="3810984"/>
                <a:ext cx="266775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6433912" y="3134460"/>
                <a:ext cx="5312612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 smtClean="0"/>
                  <a:t>Se calcule avec la </a:t>
                </a:r>
                <a:r>
                  <a:rPr lang="fr-FR" b="1" dirty="0" smtClean="0"/>
                  <a:t>loi de Raoult</a:t>
                </a:r>
                <a:r>
                  <a:rPr lang="fr-FR" dirty="0" smtClean="0"/>
                  <a:t> car c’est une vapeur</a:t>
                </a:r>
                <a:endParaRPr lang="en-US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912" y="3134460"/>
                <a:ext cx="5312612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6433912" y="3758504"/>
                <a:ext cx="5312612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 smtClean="0"/>
                  <a:t>Se calcule avec la </a:t>
                </a:r>
                <a:r>
                  <a:rPr lang="fr-FR" b="1" dirty="0" smtClean="0"/>
                  <a:t>loi de Raoult </a:t>
                </a:r>
                <a:r>
                  <a:rPr lang="fr-FR" dirty="0" smtClean="0"/>
                  <a:t>car c’est une vapeur</a:t>
                </a:r>
                <a:endParaRPr lang="en-US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912" y="3758504"/>
                <a:ext cx="5312612" cy="369332"/>
              </a:xfrm>
              <a:prstGeom prst="rect">
                <a:avLst/>
              </a:prstGeom>
              <a:blipFill>
                <a:blip r:embed="rId9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6433912" y="4378539"/>
                <a:ext cx="4991400" cy="6463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 smtClean="0"/>
                  <a:t>Se calcule avec </a:t>
                </a:r>
                <a:r>
                  <a:rPr lang="fr-FR" b="1" dirty="0" smtClean="0"/>
                  <a:t>la loi des gaz parfaits </a:t>
                </a:r>
                <a:r>
                  <a:rPr lang="fr-FR" dirty="0" smtClean="0"/>
                  <a:t>car ce n’est </a:t>
                </a:r>
              </a:p>
              <a:p>
                <a:r>
                  <a:rPr lang="fr-FR" dirty="0"/>
                  <a:t> </a:t>
                </a:r>
                <a:r>
                  <a:rPr lang="fr-FR" dirty="0" smtClean="0"/>
                  <a:t>    pas une vapeur</a:t>
                </a:r>
                <a:endParaRPr lang="en-US" dirty="0"/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912" y="4378539"/>
                <a:ext cx="4991400" cy="646331"/>
              </a:xfrm>
              <a:prstGeom prst="rect">
                <a:avLst/>
              </a:prstGeom>
              <a:blipFill>
                <a:blip r:embed="rId10"/>
                <a:stretch>
                  <a:fillRect t="-4717" r="-73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090599" y="5893971"/>
                <a:ext cx="6655925" cy="4616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𝒕𝒐𝒕𝒂𝒍𝒆</m:t>
                        </m:r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400" dirty="0" smtClean="0"/>
                  <a:t>= </a:t>
                </a: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𝟎𝟓𝟒𝟕</m:t>
                    </m:r>
                  </m:oMath>
                </a14:m>
                <a:r>
                  <a:rPr lang="fr-FR" sz="2400" b="1" dirty="0">
                    <a:latin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fr-FR" sz="2400" b="1" i="0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fr-FR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sz="2400" b="1" i="0" smtClean="0">
                        <a:latin typeface="Cambria Math" panose="02040503050406030204" pitchFamily="18" charset="0"/>
                      </a:rPr>
                      <m:t>𝟏𝟐𝟏𝟑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𝟏𝟒𝟐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𝟒𝟑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𝟏𝟓𝟐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𝒌𝑷𝒂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599" y="5893971"/>
                <a:ext cx="6655925" cy="461665"/>
              </a:xfrm>
              <a:prstGeom prst="rect">
                <a:avLst/>
              </a:prstGeom>
              <a:blipFill>
                <a:blip r:embed="rId11"/>
                <a:stretch>
                  <a:fillRect l="-183" t="-1315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26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00446" y="431074"/>
            <a:ext cx="3540034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Exercice d’application #2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300445" y="1005091"/>
            <a:ext cx="11178792" cy="13388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 smtClean="0">
                <a:latin typeface="Arial" panose="020B0604020202020204" pitchFamily="34" charset="0"/>
              </a:rPr>
              <a:t>Une </a:t>
            </a:r>
            <a:r>
              <a:rPr lang="fr-FR" dirty="0">
                <a:latin typeface="Arial" panose="020B0604020202020204" pitchFamily="34" charset="0"/>
              </a:rPr>
              <a:t>solution de pentane et d’heptane à 50,0% molaire est en équilibre avec sa vapeur</a:t>
            </a:r>
            <a:r>
              <a:rPr lang="fr-FR" dirty="0" smtClean="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fr-FR" dirty="0" smtClean="0">
                <a:latin typeface="Arial" panose="020B0604020202020204" pitchFamily="34" charset="0"/>
              </a:rPr>
              <a:t>La </a:t>
            </a:r>
            <a:r>
              <a:rPr lang="fr-FR" dirty="0">
                <a:latin typeface="Arial" panose="020B0604020202020204" pitchFamily="34" charset="0"/>
              </a:rPr>
              <a:t>phase gazeuse, dont la pression totale est 185,57 kPa, ne contient que des vapeurs de la solution liquide et la fraction molaire du pentane y est 0,8702. Quelle est la température du mélange ?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00445" y="2737613"/>
                <a:ext cx="4818755" cy="42761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000" b="1" i="0">
                            <a:latin typeface="Cambria Math" panose="02040503050406030204" pitchFamily="18" charset="0"/>
                          </a:rPr>
                          <m:t>𝐭𝐨𝐭𝐚𝐥𝐞</m:t>
                        </m:r>
                        <m:r>
                          <a:rPr lang="fr-FR" sz="2000" b="1" i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000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000" b="1" i="0" smtClean="0">
                            <a:latin typeface="Cambria Math" panose="02040503050406030204" pitchFamily="18" charset="0"/>
                          </a:rPr>
                          <m:t>𝐩𝐞𝐧𝐭𝐚𝐧𝐞</m:t>
                        </m:r>
                        <m:r>
                          <a:rPr lang="fr-FR" sz="20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fr-FR" sz="2000" b="1" dirty="0">
                    <a:latin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fr-FR" sz="2000" b="1" i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000" b="1" i="0" smtClean="0">
                            <a:latin typeface="Cambria Math" panose="02040503050406030204" pitchFamily="18" charset="0"/>
                          </a:rPr>
                          <m:t>𝐡𝐞𝐩𝐭𝐚𝐧𝐞</m:t>
                        </m:r>
                      </m:sub>
                    </m:sSub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𝟏𝟖𝟓</m:t>
                    </m:r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𝟓𝟕</m:t>
                    </m:r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𝐤𝐏𝐚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" y="2737613"/>
                <a:ext cx="4818755" cy="427618"/>
              </a:xfrm>
              <a:prstGeom prst="rect">
                <a:avLst/>
              </a:prstGeom>
              <a:blipFill>
                <a:blip r:embed="rId2"/>
                <a:stretch>
                  <a:fillRect t="-857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64328" y="3489674"/>
                <a:ext cx="5873403" cy="427425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𝐞𝐧</m:t>
                          </m:r>
                          <m:r>
                            <a:rPr lang="fr-FR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𝐩𝐡𝐚𝐬𝐞</m:t>
                          </m:r>
                          <m:r>
                            <a:rPr lang="fr-FR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𝐥𝐢𝐪𝐮𝐢𝐝𝐞</m:t>
                          </m:r>
                          <m:r>
                            <a:rPr lang="fr-FR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fr-FR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fr-FR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fr-FR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heptane</m:t>
                          </m:r>
                        </m:sub>
                      </m:sSub>
                      <m:r>
                        <a:rPr lang="fr-FR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sz="20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en</m:t>
                          </m:r>
                          <m:r>
                            <m:rPr>
                              <m:sty m:val="p"/>
                            </m:rPr>
                            <a:rPr lang="fr-FR" sz="20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tane</m:t>
                          </m:r>
                        </m:sub>
                      </m:sSub>
                      <m:r>
                        <a:rPr lang="fr-FR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28" y="3489674"/>
                <a:ext cx="5873403" cy="427425"/>
              </a:xfrm>
              <a:prstGeom prst="rect">
                <a:avLst/>
              </a:prstGeom>
              <a:blipFill>
                <a:blip r:embed="rId3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76736" y="4097273"/>
                <a:ext cx="5316777" cy="427425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𝐞𝐧</m:t>
                          </m:r>
                          <m:r>
                            <a:rPr lang="fr-FR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𝐩𝐡𝐚𝐬𝐞</m:t>
                          </m:r>
                          <m:r>
                            <a:rPr lang="fr-FR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𝐕𝐚𝐩𝐞𝐮𝐫</m:t>
                          </m:r>
                          <m:r>
                            <a:rPr lang="fr-FR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fr-FR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fr-FR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fr-F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pentane</m:t>
                          </m:r>
                        </m:sub>
                      </m:sSub>
                      <m:r>
                        <a:rPr lang="fr-FR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=0.8702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36" y="4097273"/>
                <a:ext cx="5316777" cy="427425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0445" y="4947864"/>
                <a:ext cx="3520579" cy="42761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000" b="1" i="0" smtClean="0">
                              <a:latin typeface="Cambria Math" panose="02040503050406030204" pitchFamily="18" charset="0"/>
                            </a:rPr>
                            <m:t>𝐩𝐞𝐧𝐭𝐚𝐧𝐞</m:t>
                          </m:r>
                          <m:r>
                            <a:rPr lang="fr-FR" sz="20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𝒑𝒆𝒏𝒕𝒂𝒏𝒆</m:t>
                              </m:r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20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000" b="1" i="0" smtClean="0">
                              <a:latin typeface="Cambria Math" panose="02040503050406030204" pitchFamily="18" charset="0"/>
                            </a:rPr>
                            <m:t>𝐓𝐨𝐭𝐚𝐥𝐞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" y="4947864"/>
                <a:ext cx="3520579" cy="427618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ccolade fermante 8"/>
          <p:cNvSpPr/>
          <p:nvPr/>
        </p:nvSpPr>
        <p:spPr>
          <a:xfrm>
            <a:off x="6093103" y="2879192"/>
            <a:ext cx="516287" cy="164550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654017" y="2716449"/>
                <a:ext cx="5178020" cy="77322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𝒑𝒆𝒏𝒕𝒂𝒏𝒆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sSubSup>
                        <m:sSub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𝒆𝒕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𝒉𝒆𝒑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𝒕𝒂𝒏𝒆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fr-FR" sz="20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𝐪𝐮𝐢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𝐩𝐞𝐮𝐯𝐞𝐧𝐭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𝐧𝐨𝐮𝐬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𝐫𝐞𝐥𝐢𝐞𝐫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 à 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𝐥𝐚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𝐭𝐞𝐦𝐩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𝐫𝐚𝐭𝐮𝐫𝐞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017" y="2716449"/>
                <a:ext cx="5178020" cy="773225"/>
              </a:xfrm>
              <a:prstGeom prst="rect">
                <a:avLst/>
              </a:prstGeom>
              <a:blipFill>
                <a:blip r:embed="rId6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73372" y="5599614"/>
                <a:ext cx="4906151" cy="42761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000" b="1" i="0" smtClean="0">
                            <a:latin typeface="Cambria Math" panose="02040503050406030204" pitchFamily="18" charset="0"/>
                          </a:rPr>
                          <m:t>𝐩𝐞𝐧𝐭𝐚𝐧𝐞</m:t>
                        </m:r>
                        <m:r>
                          <a:rPr lang="fr-FR" sz="20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b="1" dirty="0"/>
                  <a:t>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𝟖𝟕𝟎𝟐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𝟏𝟖𝟓</m:t>
                    </m:r>
                    <m:r>
                      <a:rPr lang="fr-FR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𝟓𝟕</m:t>
                    </m:r>
                  </m:oMath>
                </a14:m>
                <a:r>
                  <a:rPr lang="en-US" sz="2000" dirty="0" smtClean="0"/>
                  <a:t>= 161.483 </a:t>
                </a:r>
                <a:r>
                  <a:rPr lang="en-US" sz="2000" dirty="0" err="1" smtClean="0"/>
                  <a:t>kPa</a:t>
                </a:r>
                <a:endParaRPr lang="en-US" sz="20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2" y="5599614"/>
                <a:ext cx="4906151" cy="427618"/>
              </a:xfrm>
              <a:prstGeom prst="rect">
                <a:avLst/>
              </a:prstGeom>
              <a:blipFill>
                <a:blip r:embed="rId7"/>
                <a:stretch>
                  <a:fillRect t="-7143" r="-24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00445" y="6282321"/>
                <a:ext cx="2693238" cy="42761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000" b="1" i="0" smtClean="0">
                            <a:latin typeface="Cambria Math" panose="02040503050406030204" pitchFamily="18" charset="0"/>
                          </a:rPr>
                          <m:t>𝐩𝐞𝐧𝐭𝐚𝐧𝐞</m:t>
                        </m:r>
                        <m:r>
                          <a:rPr lang="fr-FR" sz="20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b="1" dirty="0"/>
                  <a:t> </a:t>
                </a:r>
                <a:r>
                  <a:rPr lang="en-US" sz="2000" dirty="0" smtClean="0"/>
                  <a:t>161.483 </a:t>
                </a:r>
                <a:r>
                  <a:rPr lang="en-US" sz="2000" dirty="0" err="1" smtClean="0"/>
                  <a:t>kPa</a:t>
                </a:r>
                <a:endParaRPr lang="en-US" sz="20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" y="6282321"/>
                <a:ext cx="2693238" cy="427618"/>
              </a:xfrm>
              <a:prstGeom prst="rect">
                <a:avLst/>
              </a:prstGeom>
              <a:blipFill>
                <a:blip r:embed="rId8"/>
                <a:stretch>
                  <a:fillRect t="-7143" r="-158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743272" y="3917099"/>
                <a:ext cx="5088765" cy="44826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000" b="1" i="0" smtClean="0">
                            <a:latin typeface="Cambria Math" panose="02040503050406030204" pitchFamily="18" charset="0"/>
                          </a:rPr>
                          <m:t>𝐩𝐞𝐧𝐭𝐚𝐧𝐞</m:t>
                        </m:r>
                        <m:r>
                          <a:rPr lang="fr-FR" sz="20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𝒑𝒆𝒏𝒕𝒂𝒏𝒆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𝒑𝒆𝒏𝒕𝒂𝒏𝒆</m:t>
                        </m:r>
                      </m:sub>
                      <m:sup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000" dirty="0" smtClean="0"/>
                  <a:t>= 161.483 </a:t>
                </a:r>
                <a:r>
                  <a:rPr lang="en-US" sz="2000" dirty="0" err="1" smtClean="0"/>
                  <a:t>kPa</a:t>
                </a:r>
                <a:endParaRPr lang="en-US" sz="20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272" y="3917099"/>
                <a:ext cx="5088765" cy="448264"/>
              </a:xfrm>
              <a:prstGeom prst="rect">
                <a:avLst/>
              </a:prstGeom>
              <a:blipFill>
                <a:blip r:embed="rId9"/>
                <a:stretch>
                  <a:fillRect t="-4110" r="-240" b="-17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743272" y="4723732"/>
                <a:ext cx="3286477" cy="44826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𝒑𝒆𝒏𝒕𝒂𝒏𝒆</m:t>
                        </m:r>
                      </m:sub>
                      <m:sup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000" dirty="0" smtClean="0"/>
                  <a:t>= 161.483 </a:t>
                </a:r>
                <a:r>
                  <a:rPr lang="en-US" sz="2000" dirty="0" err="1" smtClean="0"/>
                  <a:t>kPa</a:t>
                </a:r>
                <a:endParaRPr lang="en-US" sz="20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272" y="4723732"/>
                <a:ext cx="3286477" cy="448264"/>
              </a:xfrm>
              <a:prstGeom prst="rect">
                <a:avLst/>
              </a:prstGeom>
              <a:blipFill>
                <a:blip r:embed="rId10"/>
                <a:stretch>
                  <a:fillRect t="-4110" r="-1299" b="-17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743272" y="5383612"/>
                <a:ext cx="4209037" cy="44826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𝒑𝒆𝒏𝒕𝒂𝒏𝒆</m:t>
                        </m:r>
                      </m:sub>
                      <m:sup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fr-F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=322.966 </m:t>
                    </m:r>
                    <m:r>
                      <m:rPr>
                        <m:sty m:val="p"/>
                      </m:rPr>
                      <a:rPr lang="fr-F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kPa</m:t>
                    </m:r>
                  </m:oMath>
                </a14:m>
                <a:r>
                  <a:rPr lang="en-US" sz="2000" dirty="0" smtClean="0"/>
                  <a:t>   </a:t>
                </a:r>
                <a:r>
                  <a:rPr lang="en-US" sz="2000" b="1" dirty="0" err="1" smtClean="0">
                    <a:solidFill>
                      <a:srgbClr val="C00000"/>
                    </a:solidFill>
                  </a:rPr>
                  <a:t>voir</a:t>
                </a:r>
                <a:r>
                  <a:rPr lang="en-US" sz="2000" b="1" dirty="0" smtClean="0">
                    <a:solidFill>
                      <a:srgbClr val="C00000"/>
                    </a:solidFill>
                  </a:rPr>
                  <a:t> Tab 2.1</a:t>
                </a: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272" y="5383612"/>
                <a:ext cx="4209037" cy="448264"/>
              </a:xfrm>
              <a:prstGeom prst="rect">
                <a:avLst/>
              </a:prstGeom>
              <a:blipFill>
                <a:blip r:embed="rId11"/>
                <a:stretch>
                  <a:fillRect t="-2703" r="-1158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ZoneTexte 15"/>
          <p:cNvSpPr txBox="1"/>
          <p:nvPr/>
        </p:nvSpPr>
        <p:spPr>
          <a:xfrm>
            <a:off x="6743272" y="6097655"/>
            <a:ext cx="1528531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T =  75 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202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478301" y="633046"/>
            <a:ext cx="5373859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Point de Bulle d’une solution</a:t>
            </a:r>
            <a:endParaRPr lang="en-US" sz="2800" dirty="0"/>
          </a:p>
        </p:txBody>
      </p:sp>
      <p:sp>
        <p:nvSpPr>
          <p:cNvPr id="3" name="ZoneTexte 2"/>
          <p:cNvSpPr txBox="1"/>
          <p:nvPr/>
        </p:nvSpPr>
        <p:spPr>
          <a:xfrm>
            <a:off x="478301" y="1800665"/>
            <a:ext cx="7287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Pour trouver la température d’ébullition d’une solution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78301" y="2783125"/>
                <a:ext cx="8435001" cy="49487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2400" b="1">
                              <a:latin typeface="Cambria Math" panose="02040503050406030204" pitchFamily="18" charset="0"/>
                            </a:rPr>
                            <m:t>𝐬𝐚𝐭𝐮𝐫𝐚𝐭𝐢𝐨𝐧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𝐞𝐧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𝐝𝐞𝐬𝐬𝐮𝐬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𝐝𝐞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𝐥𝐚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𝐬𝐨𝐥𝐮𝐭𝐢𝐨𝐧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  <m:r>
                        <a:rPr lang="fr-FR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400" b="1" i="1" dirty="0" smtClean="0">
                              <a:latin typeface="Cambria Math" panose="02040503050406030204" pitchFamily="18" charset="0"/>
                            </a:rPr>
                            <m:t>𝒂𝒕𝒎𝒐𝒔𝒑𝒉</m:t>
                          </m:r>
                          <m:r>
                            <a:rPr lang="fr-FR" sz="2400" b="1" i="1" dirty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400" b="1" i="1" dirty="0" smtClean="0">
                              <a:latin typeface="Cambria Math" panose="02040503050406030204" pitchFamily="18" charset="0"/>
                            </a:rPr>
                            <m:t>𝒓𝒊𝒒𝒖𝒆</m:t>
                          </m:r>
                        </m:sub>
                      </m:sSub>
                      <m:r>
                        <a:rPr lang="fr-FR" sz="2400" b="0" i="1" dirty="0" smtClean="0">
                          <a:latin typeface="Cambria Math" panose="02040503050406030204" pitchFamily="18" charset="0"/>
                        </a:rPr>
                        <m:t>=101.3 </m:t>
                      </m:r>
                      <m:r>
                        <a:rPr lang="fr-FR" sz="2400" b="0" i="1" dirty="0" smtClean="0">
                          <a:latin typeface="Cambria Math" panose="02040503050406030204" pitchFamily="18" charset="0"/>
                        </a:rPr>
                        <m:t>𝑘𝑃𝑎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01" y="2783125"/>
                <a:ext cx="8435001" cy="494879"/>
              </a:xfrm>
              <a:prstGeom prst="rect">
                <a:avLst/>
              </a:prstGeom>
              <a:blipFill>
                <a:blip r:embed="rId2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78301" y="3798799"/>
                <a:ext cx="6152262" cy="55194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800" b="1">
                            <a:latin typeface="Cambria Math" panose="02040503050406030204" pitchFamily="18" charset="0"/>
                          </a:rPr>
                          <m:t>𝐬𝐚𝐭𝐮𝐫𝐚𝐭𝐢𝐨𝐧</m:t>
                        </m:r>
                        <m:r>
                          <a:rPr lang="fr-FR" sz="2800" b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sz="2800" b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sz="2800" b="1"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  <m:r>
                      <a:rPr lang="fr-FR" sz="28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8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8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𝐀</m:t>
                        </m:r>
                      </m:sub>
                      <m:sup>
                        <m:r>
                          <a:rPr lang="fr-FR" sz="28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fr-FR" sz="2800" b="1" dirty="0">
                    <a:latin typeface="Cambria Math" panose="02040503050406030204" pitchFamily="18" charset="0"/>
                  </a:rPr>
                  <a:t>   +   (1-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sz="2800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fr-FR" sz="2800" b="1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fr-FR" sz="28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8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28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𝐁</m:t>
                        </m:r>
                      </m:sub>
                      <m:sup>
                        <m:r>
                          <a:rPr lang="fr-FR" sz="28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01" y="3798799"/>
                <a:ext cx="6152262" cy="551946"/>
              </a:xfrm>
              <a:prstGeom prst="rect">
                <a:avLst/>
              </a:prstGeom>
              <a:blipFill>
                <a:blip r:embed="rId3"/>
                <a:stretch>
                  <a:fillRect t="-7692" b="-27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74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92235" y="399513"/>
            <a:ext cx="26413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b="1" dirty="0" smtClean="0"/>
              <a:t>Exercice d’application # 3: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1306286" y="854095"/>
            <a:ext cx="10175965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dirty="0" smtClean="0"/>
              <a:t>Un mélange de benzène et d’hexane contient 55,0% molaire de benzène. On fait passer 80 mol/min de ce mélange dans un distillateur fonctionnant à 70,0ºC.</a:t>
            </a:r>
          </a:p>
          <a:p>
            <a:r>
              <a:rPr lang="fr-FR" dirty="0" smtClean="0"/>
              <a:t>La fraction molaire du benzène dans la sortie liquide du distillateur est 60,0%molaire. </a:t>
            </a:r>
          </a:p>
          <a:p>
            <a:endParaRPr lang="fr-FR" dirty="0"/>
          </a:p>
          <a:p>
            <a:r>
              <a:rPr lang="fr-FR" dirty="0" smtClean="0"/>
              <a:t>	a. calculez la composition (fraction molaire) en benzène de la sortie vapeur. 	</a:t>
            </a:r>
          </a:p>
          <a:p>
            <a:r>
              <a:rPr lang="fr-FR" dirty="0"/>
              <a:t>	</a:t>
            </a:r>
            <a:r>
              <a:rPr lang="fr-FR" dirty="0" smtClean="0"/>
              <a:t>b. calculez le débit molaire total de la sortie vapeur. </a:t>
            </a:r>
          </a:p>
          <a:p>
            <a:r>
              <a:rPr lang="fr-FR" dirty="0"/>
              <a:t> </a:t>
            </a:r>
            <a:r>
              <a:rPr lang="fr-FR" dirty="0" smtClean="0"/>
              <a:t>                 c. calculez le débit molaire total de la sortie liquide. </a:t>
            </a:r>
            <a:endParaRPr lang="en-US" dirty="0"/>
          </a:p>
        </p:txBody>
      </p:sp>
      <p:grpSp>
        <p:nvGrpSpPr>
          <p:cNvPr id="6" name="Groupe 5"/>
          <p:cNvGrpSpPr/>
          <p:nvPr/>
        </p:nvGrpSpPr>
        <p:grpSpPr>
          <a:xfrm>
            <a:off x="4950822" y="4039715"/>
            <a:ext cx="1267098" cy="1864697"/>
            <a:chOff x="4950822" y="4039715"/>
            <a:chExt cx="1267098" cy="1864697"/>
          </a:xfrm>
        </p:grpSpPr>
        <p:sp>
          <p:nvSpPr>
            <p:cNvPr id="4" name="Rectangle 3"/>
            <p:cNvSpPr/>
            <p:nvPr/>
          </p:nvSpPr>
          <p:spPr>
            <a:xfrm>
              <a:off x="4950823" y="5225142"/>
              <a:ext cx="1267097" cy="6792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950822" y="4039715"/>
              <a:ext cx="1267097" cy="11854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Connecteur droit avec flèche 7"/>
          <p:cNvCxnSpPr/>
          <p:nvPr/>
        </p:nvCxnSpPr>
        <p:spPr>
          <a:xfrm>
            <a:off x="5982789" y="4454434"/>
            <a:ext cx="8229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>
            <a:off x="5982789" y="5560423"/>
            <a:ext cx="8229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6805749" y="4039715"/>
                <a:ext cx="13005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b="1" dirty="0" smtClean="0"/>
                  <a:t>Sortie vapeur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𝒃𝒆𝒏</m:t>
                          </m:r>
                        </m:sub>
                      </m:sSub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fr-FR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acc>
                        </m:e>
                        <m:sub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𝑺𝑽</m:t>
                          </m:r>
                        </m:sub>
                      </m:sSub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749" y="4039715"/>
                <a:ext cx="1300549" cy="523220"/>
              </a:xfrm>
              <a:prstGeom prst="rect">
                <a:avLst/>
              </a:prstGeom>
              <a:blipFill>
                <a:blip r:embed="rId2"/>
                <a:stretch>
                  <a:fillRect l="-140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6862471" y="5211915"/>
                <a:ext cx="18408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b="1" dirty="0" smtClean="0"/>
                  <a:t>Sortie liquide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𝒃𝒆𝒏</m:t>
                          </m:r>
                        </m:sub>
                      </m:sSub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fr-FR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acc>
                        </m:e>
                        <m:sub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𝑺𝑳</m:t>
                          </m:r>
                        </m:sub>
                      </m:sSub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471" y="5211915"/>
                <a:ext cx="1840889" cy="523220"/>
              </a:xfrm>
              <a:prstGeom prst="rect">
                <a:avLst/>
              </a:prstGeom>
              <a:blipFill>
                <a:blip r:embed="rId3"/>
                <a:stretch>
                  <a:fillRect l="-993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eur droit avec flèche 11"/>
          <p:cNvCxnSpPr/>
          <p:nvPr/>
        </p:nvCxnSpPr>
        <p:spPr>
          <a:xfrm>
            <a:off x="4127862" y="5377542"/>
            <a:ext cx="8229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6217919" y="3360445"/>
            <a:ext cx="206393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sortie</a:t>
            </a:r>
            <a:endParaRPr lang="en-US" dirty="0"/>
          </a:p>
        </p:txBody>
      </p:sp>
      <p:sp>
        <p:nvSpPr>
          <p:cNvPr id="14" name="ZoneTexte 13"/>
          <p:cNvSpPr txBox="1"/>
          <p:nvPr/>
        </p:nvSpPr>
        <p:spPr>
          <a:xfrm>
            <a:off x="2764971" y="3365383"/>
            <a:ext cx="206393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Entrée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783600" y="5108761"/>
                <a:ext cx="2099870" cy="4516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fr-FR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6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acc>
                      </m:e>
                      <m:sub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𝒕𝒐𝒕𝒂𝒍</m:t>
                        </m:r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𝑬𝒏𝒕𝒓</m:t>
                        </m:r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𝟖𝟎</m:t>
                    </m:r>
                    <m:f>
                      <m:f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𝒎𝒐𝒍</m:t>
                        </m:r>
                      </m:num>
                      <m:den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𝒎𝒊𝒏</m:t>
                        </m:r>
                      </m:den>
                    </m:f>
                  </m:oMath>
                </a14:m>
                <a:r>
                  <a:rPr lang="en-US" sz="1600" dirty="0" smtClean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600" y="5108761"/>
                <a:ext cx="2099870" cy="4516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743306" y="5565858"/>
                <a:ext cx="137531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𝒃𝒆𝒏</m:t>
                          </m:r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𝟓𝟓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306" y="5565858"/>
                <a:ext cx="137531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5148192" y="5430007"/>
            <a:ext cx="872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70,0ºC.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92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 animBg="1"/>
      <p:bldP spid="14" grpId="0" animBg="1"/>
      <p:bldP spid="15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65662" y="388503"/>
            <a:ext cx="934871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b="1" dirty="0" smtClean="0"/>
              <a:t># 3:  3.5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1176551" y="803308"/>
            <a:ext cx="1004098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b="1" dirty="0" smtClean="0"/>
              <a:t>a. calculez la composition (fraction molaire) en benzène de la sortie vapeur. 	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lum bright="-14000" contrast="25000"/>
          </a:blip>
          <a:srcRect/>
          <a:stretch>
            <a:fillRect/>
          </a:stretch>
        </p:blipFill>
        <p:spPr bwMode="auto">
          <a:xfrm>
            <a:off x="1654173" y="3987381"/>
            <a:ext cx="2527485" cy="90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536621" y="5159723"/>
                <a:ext cx="4002314" cy="70185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𝐵𝑒𝑛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0.6∗</m:t>
                          </m:r>
                          <m:sSubSup>
                            <m:sSubSup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𝐵𝑒𝑛</m:t>
                              </m:r>
                            </m:sub>
                            <m:sup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0. 6∗</m:t>
                          </m:r>
                          <m:sSubSup>
                            <m:sSubSup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𝐵𝑒𝑛</m:t>
                              </m:r>
                            </m:sub>
                            <m:sup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+(1−0.6)∗</m:t>
                          </m:r>
                          <m:sSubSup>
                            <m:sSubSup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𝐻𝑒𝑥</m:t>
                              </m:r>
                            </m:sub>
                            <m:sup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21" y="5159723"/>
                <a:ext cx="4002314" cy="7018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721041" y="4255504"/>
                <a:ext cx="3390993" cy="3498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𝑇𝑎𝑏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2.1:   →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𝑒𝑛</m:t>
                          </m:r>
                        </m:sub>
                        <m:sup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70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 smtClean="0"/>
                        <m:t>73</m:t>
                      </m:r>
                      <m:r>
                        <m:rPr>
                          <m:nor/>
                        </m:rPr>
                        <a:rPr lang="fr-FR" sz="1600" b="0" i="0" smtClean="0"/>
                        <m:t>.</m:t>
                      </m:r>
                      <m:r>
                        <m:rPr>
                          <m:nor/>
                        </m:rPr>
                        <a:rPr lang="en-US" sz="1600" smtClean="0"/>
                        <m:t>420</m:t>
                      </m:r>
                      <m:r>
                        <m:rPr>
                          <m:nor/>
                        </m:rPr>
                        <a:rPr lang="fr-FR" sz="1600" b="0" i="0" smtClean="0"/>
                        <m:t> </m:t>
                      </m:r>
                      <m:r>
                        <m:rPr>
                          <m:nor/>
                        </m:rPr>
                        <a:rPr lang="fr-FR" sz="1600" b="0" i="0" smtClean="0"/>
                        <m:t>kPa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041" y="4255504"/>
                <a:ext cx="3390993" cy="3498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753399" y="4249610"/>
                <a:ext cx="3546355" cy="34483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𝑇𝑎𝑏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2.1:   →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𝐻𝑒𝑥</m:t>
                          </m:r>
                        </m:sub>
                        <m:sup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70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 smtClean="0"/>
                        <m:t>105,369</m:t>
                      </m:r>
                      <m:r>
                        <m:rPr>
                          <m:nor/>
                        </m:rPr>
                        <a:rPr lang="fr-FR" sz="1600" b="0" i="0" smtClean="0"/>
                        <m:t>kPa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399" y="4249610"/>
                <a:ext cx="3546355" cy="344838"/>
              </a:xfrm>
              <a:prstGeom prst="rect">
                <a:avLst/>
              </a:prstGeom>
              <a:blipFill>
                <a:blip r:embed="rId5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0273" y="1281922"/>
            <a:ext cx="7376161" cy="2425235"/>
          </a:xfrm>
          <a:prstGeom prst="rect">
            <a:avLst/>
          </a:prstGeom>
          <a:ln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9751846" y="3001520"/>
                <a:ext cx="1440972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846" y="3001520"/>
                <a:ext cx="144097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9751846" y="1612019"/>
                <a:ext cx="1440972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846" y="1612019"/>
                <a:ext cx="1440972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78823" y="4258490"/>
                <a:ext cx="1075872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𝒃𝒆𝒏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23" y="4258490"/>
                <a:ext cx="1075872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36621" y="6124757"/>
                <a:ext cx="1843325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𝐻𝑒𝑥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𝐵𝑒𝑛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21" y="6124757"/>
                <a:ext cx="184332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5338353" y="5170398"/>
                <a:ext cx="4928272" cy="57092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𝐵𝑒𝑛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0.6∗</m:t>
                          </m:r>
                          <m:r>
                            <m:rPr>
                              <m:nor/>
                            </m:rPr>
                            <a:rPr lang="en-US"/>
                            <m:t>73</m:t>
                          </m:r>
                          <m:r>
                            <m:rPr>
                              <m:nor/>
                            </m:rPr>
                            <a:rPr lang="fr-FR"/>
                            <m:t>.</m:t>
                          </m:r>
                          <m:r>
                            <m:rPr>
                              <m:nor/>
                            </m:rPr>
                            <a:rPr lang="en-US"/>
                            <m:t>420</m:t>
                          </m:r>
                          <m:r>
                            <m:rPr>
                              <m:nor/>
                            </m:rPr>
                            <a:rPr lang="fr-FR"/>
                            <m:t> </m:t>
                          </m:r>
                          <m:r>
                            <m:rPr>
                              <m:nor/>
                            </m:rPr>
                            <a:rPr lang="fr-FR"/>
                            <m:t>kPa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0. 6∗</m:t>
                          </m:r>
                          <m:r>
                            <m:rPr>
                              <m:nor/>
                            </m:rPr>
                            <a:rPr lang="en-US"/>
                            <m:t>73</m:t>
                          </m:r>
                          <m:r>
                            <m:rPr>
                              <m:nor/>
                            </m:rPr>
                            <a:rPr lang="fr-FR"/>
                            <m:t>.</m:t>
                          </m:r>
                          <m:r>
                            <m:rPr>
                              <m:nor/>
                            </m:rPr>
                            <a:rPr lang="en-US"/>
                            <m:t>420</m:t>
                          </m:r>
                          <m:r>
                            <m:rPr>
                              <m:nor/>
                            </m:rPr>
                            <a:rPr lang="fr-FR"/>
                            <m:t> </m:t>
                          </m:r>
                          <m:r>
                            <m:rPr>
                              <m:nor/>
                            </m:rPr>
                            <a:rPr lang="fr-FR"/>
                            <m:t>kPa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+(1−0.6)∗</m:t>
                          </m:r>
                          <m:r>
                            <m:rPr>
                              <m:nor/>
                            </m:rPr>
                            <a:rPr lang="en-US"/>
                            <m:t>105,369</m:t>
                          </m:r>
                          <m:r>
                            <m:rPr>
                              <m:nor/>
                            </m:rPr>
                            <a:rPr lang="fr-FR"/>
                            <m:t>kPa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353" y="5170398"/>
                <a:ext cx="4928272" cy="5709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0483103" y="6263156"/>
                <a:ext cx="1549463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𝐵𝑒𝑛</m:t>
                          </m:r>
                        </m:sub>
                      </m:sSub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=0.511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3103" y="6263156"/>
                <a:ext cx="1549463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4538935" y="1445394"/>
            <a:ext cx="2325189" cy="59668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36176" y="6071943"/>
            <a:ext cx="7687001" cy="61760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920544" y="2096351"/>
            <a:ext cx="3014450" cy="59668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247321" y="2802321"/>
            <a:ext cx="2864713" cy="90483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Encre 8"/>
              <p14:cNvContentPartPr/>
              <p14:nvPr/>
            </p14:nvContentPartPr>
            <p14:xfrm>
              <a:off x="6000840" y="3375360"/>
              <a:ext cx="321840" cy="161280"/>
            </p14:xfrm>
          </p:contentPart>
        </mc:Choice>
        <mc:Fallback xmlns="">
          <p:pic>
            <p:nvPicPr>
              <p:cNvPr id="9" name="Encre 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85000" y="3312000"/>
                <a:ext cx="3535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Encre 9"/>
              <p14:cNvContentPartPr/>
              <p14:nvPr/>
            </p14:nvContentPartPr>
            <p14:xfrm>
              <a:off x="6536520" y="2964600"/>
              <a:ext cx="161280" cy="134280"/>
            </p14:xfrm>
          </p:contentPart>
        </mc:Choice>
        <mc:Fallback xmlns="">
          <p:pic>
            <p:nvPicPr>
              <p:cNvPr id="10" name="Encre 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20680" y="2901240"/>
                <a:ext cx="1929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Encre 20"/>
              <p14:cNvContentPartPr/>
              <p14:nvPr/>
            </p14:nvContentPartPr>
            <p14:xfrm>
              <a:off x="7090200" y="3438000"/>
              <a:ext cx="152280" cy="196920"/>
            </p14:xfrm>
          </p:contentPart>
        </mc:Choice>
        <mc:Fallback xmlns="">
          <p:pic>
            <p:nvPicPr>
              <p:cNvPr id="21" name="Encre 2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74360" y="3374280"/>
                <a:ext cx="18396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Encre 21"/>
              <p14:cNvContentPartPr/>
              <p14:nvPr/>
            </p14:nvContentPartPr>
            <p14:xfrm>
              <a:off x="3768480" y="3259440"/>
              <a:ext cx="6572520" cy="1697040"/>
            </p14:xfrm>
          </p:contentPart>
        </mc:Choice>
        <mc:Fallback xmlns="">
          <p:pic>
            <p:nvPicPr>
              <p:cNvPr id="22" name="Encre 21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59120" y="3250080"/>
                <a:ext cx="6591240" cy="171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793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78823" y="404948"/>
            <a:ext cx="934871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b="1" dirty="0" smtClean="0"/>
              <a:t># 3:  3.5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378823" y="980509"/>
            <a:ext cx="515493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fr-FR" b="1" dirty="0" smtClean="0"/>
              <a:t>b. calculez le débit molaire total de la sortie vapeur.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78155" y="4163663"/>
                <a:ext cx="2683555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acc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𝑺𝑽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acc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acc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𝑬𝒏𝒕𝒓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55" y="4163663"/>
                <a:ext cx="2683555" cy="369332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558802" y="4436797"/>
                <a:ext cx="2164247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   </m:t>
                          </m:r>
                          <m:acc>
                            <m:accPr>
                              <m:chr m:val="̇"/>
                              <m:ctrlP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acc>
                        </m:e>
                        <m:sub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𝑺𝑽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acc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𝟖𝟎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802" y="4436797"/>
                <a:ext cx="216424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08590" y="4766317"/>
                <a:ext cx="5212837" cy="52437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eqArr>
                              <m:eqArrPr>
                                <m:ctrlP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𝑩𝒆𝒏</m:t>
                                </m:r>
                              </m:e>
                              <m:e/>
                            </m:eqArr>
                          </m:sub>
                        </m:s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̇"/>
                            <m:ctrlPr>
                              <a:rPr lang="fr-FR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acc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𝑺𝑽</m:t>
                        </m:r>
                      </m:sub>
                    </m:sSub>
                    <m:r>
                      <a:rPr lang="fr-FR" b="1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𝑩𝒆𝒏</m:t>
                                </m:r>
                              </m:sub>
                            </m:sSub>
                            <m:r>
                              <a:rPr lang="fr-F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acc>
                              <m:accPr>
                                <m:chr m:val="̇"/>
                                <m:ctrlPr>
                                  <a:rPr lang="fr-FR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acc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𝑺𝑳</m:t>
                            </m:r>
                          </m:sub>
                        </m:sSub>
                      </m:e>
                      <m:sub/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𝑩𝒆𝒏</m:t>
                            </m:r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𝒆𝒏𝒕𝒓</m:t>
                            </m:r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sub>
                        </m:s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̇"/>
                            <m:ctrlPr>
                              <a:rPr lang="fr-FR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acc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𝒕𝒐𝒕𝒂𝒍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𝒆𝒏𝒕𝒓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90" y="4766317"/>
                <a:ext cx="5212837" cy="524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558802" y="5002828"/>
                <a:ext cx="4180760" cy="41312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𝟓𝟏𝟏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̇"/>
                            <m:ctrlPr>
                              <a:rPr lang="fr-FR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acc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𝑺𝑽</m:t>
                        </m:r>
                      </m:sub>
                    </m:sSub>
                    <m:r>
                      <a:rPr lang="fr-FR" b="1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̇"/>
                                <m:ctrlPr>
                                  <a:rPr lang="fr-FR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fr-FR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acc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𝑺𝑳</m:t>
                            </m:r>
                          </m:sub>
                        </m:sSub>
                      </m:e>
                      <m:sub/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𝟖𝟎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802" y="5002828"/>
                <a:ext cx="4180760" cy="4131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1710" y="2352936"/>
            <a:ext cx="7296150" cy="1190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449991" y="1602043"/>
                <a:ext cx="921984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acc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991" y="1602043"/>
                <a:ext cx="9219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703" y="5857139"/>
            <a:ext cx="11795058" cy="8812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267008" y="1602043"/>
            <a:ext cx="609600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fr-FR" b="1" dirty="0" smtClean="0"/>
              <a:t> c. calculez le débit molaire total de la sortie liquide. 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622392" y="976102"/>
                <a:ext cx="936410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acc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2392" y="976102"/>
                <a:ext cx="93641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409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457</Words>
  <Application>Microsoft Office PowerPoint</Application>
  <PresentationFormat>Grand écran</PresentationFormat>
  <Paragraphs>157</Paragraphs>
  <Slides>15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Thème Office</vt:lpstr>
      <vt:lpstr>Équation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Windows</dc:creator>
  <cp:lastModifiedBy>Utilisateur Windows</cp:lastModifiedBy>
  <cp:revision>173</cp:revision>
  <dcterms:created xsi:type="dcterms:W3CDTF">2020-07-19T23:52:35Z</dcterms:created>
  <dcterms:modified xsi:type="dcterms:W3CDTF">2021-11-22T00:25:55Z</dcterms:modified>
</cp:coreProperties>
</file>