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12"/>
  </p:notesMasterIdLst>
  <p:sldIdLst>
    <p:sldId id="256" r:id="rId2"/>
    <p:sldId id="275" r:id="rId3"/>
    <p:sldId id="268" r:id="rId4"/>
    <p:sldId id="269" r:id="rId5"/>
    <p:sldId id="270" r:id="rId6"/>
    <p:sldId id="273" r:id="rId7"/>
    <p:sldId id="276" r:id="rId8"/>
    <p:sldId id="271" r:id="rId9"/>
    <p:sldId id="272" r:id="rId10"/>
    <p:sldId id="27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CC66"/>
    <a:srgbClr val="FFFF99"/>
    <a:srgbClr val="00CCFF"/>
    <a:srgbClr val="66FFFF"/>
    <a:srgbClr val="99FFCC"/>
    <a:srgbClr val="99FF66"/>
    <a:srgbClr val="99CCFF"/>
    <a:srgbClr val="CCFF99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2" autoAdjust="0"/>
    <p:restoredTop sz="91971" autoAdjust="0"/>
  </p:normalViewPr>
  <p:slideViewPr>
    <p:cSldViewPr snapToGrid="0">
      <p:cViewPr>
        <p:scale>
          <a:sx n="70" d="100"/>
          <a:sy n="70" d="100"/>
        </p:scale>
        <p:origin x="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D57C0-FA8D-4F37-AFCE-767058DCD5AF}" type="datetimeFigureOut">
              <a:rPr lang="en-US" smtClean="0"/>
              <a:t>10/21/2020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AE7B05-124C-4C4B-891C-B9C3E69F1FB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9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AE7B05-124C-4C4B-891C-B9C3E69F1F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03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10/21/2020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10/21/2020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0.png"/><Relationship Id="rId7" Type="http://schemas.openxmlformats.org/officeDocument/2006/relationships/image" Target="../media/image26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0.png"/><Relationship Id="rId7" Type="http://schemas.openxmlformats.org/officeDocument/2006/relationships/image" Target="../media/image34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3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00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0.png"/><Relationship Id="rId9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 smtClean="0"/>
              <a:t>Exemples  du cours 2.6 Transformations et énergie</a:t>
            </a:r>
            <a:endParaRPr lang="en-US" sz="3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78659" y="5171188"/>
            <a:ext cx="7891272" cy="1069848"/>
          </a:xfrm>
        </p:spPr>
        <p:txBody>
          <a:bodyPr>
            <a:normAutofit/>
          </a:bodyPr>
          <a:lstStyle/>
          <a:p>
            <a:pPr algn="r"/>
            <a:r>
              <a:rPr lang="fr-FR" sz="1600" i="1" dirty="0" err="1" smtClean="0">
                <a:solidFill>
                  <a:srgbClr val="002060"/>
                </a:solidFill>
              </a:rPr>
              <a:t>Z.Hamoudi</a:t>
            </a:r>
            <a:r>
              <a:rPr lang="fr-FR" sz="1600" i="1" dirty="0" smtClean="0">
                <a:solidFill>
                  <a:srgbClr val="002060"/>
                </a:solidFill>
              </a:rPr>
              <a:t>  Aut-2020</a:t>
            </a:r>
            <a:endParaRPr lang="en-US" sz="1600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98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43891" y="1094510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Quelle quantité d’énergie (chaleur) nécessaire pour faire passer 100g de glace </a:t>
            </a:r>
            <a:r>
              <a:rPr lang="fr-FR" dirty="0" err="1"/>
              <a:t>initialenment</a:t>
            </a:r>
            <a:r>
              <a:rPr lang="fr-FR" dirty="0"/>
              <a:t> à – 20 °C jusqu’à 120 °C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949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Résumé du cours 2.6:       </a:t>
            </a:r>
            <a:r>
              <a:rPr lang="fr-FR" sz="2400" b="1" dirty="0" smtClean="0">
                <a:solidFill>
                  <a:srgbClr val="C00000"/>
                </a:solidFill>
              </a:rPr>
              <a:t>Transformations et énergie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324656"/>
            <a:ext cx="11691258" cy="5094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51780" y="2149964"/>
                <a:ext cx="10763932" cy="101566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 sz="2000" dirty="0" smtClean="0"/>
                        <m:t> 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l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′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objectif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de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ce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cours</m:t>
                      </m:r>
                      <m:r>
                        <m:rPr>
                          <m:nor/>
                        </m:rPr>
                        <a:rPr lang="fr-FR" sz="2000" b="1" i="0" dirty="0" smtClean="0">
                          <a:solidFill>
                            <a:srgbClr val="C00000"/>
                          </a:solidFill>
                        </a:rPr>
                        <m:t>: </m:t>
                      </m:r>
                    </m:oMath>
                  </m:oMathPara>
                </a14:m>
                <a:endParaRPr lang="fr-FR" sz="2000" b="1" i="0" dirty="0" smtClean="0">
                  <a:solidFill>
                    <a:srgbClr val="C00000"/>
                  </a:solidFill>
                </a:endParaRPr>
              </a:p>
              <a:p>
                <a:r>
                  <a:rPr lang="fr-FR" sz="2000" dirty="0" smtClean="0"/>
                  <a:t>C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000" i="0" dirty="0" smtClean="0"/>
                      <m:t>alculer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correctement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l</m:t>
                    </m:r>
                    <m:r>
                      <m:rPr>
                        <m:nor/>
                      </m:rPr>
                      <a:rPr lang="fr-FR" sz="2000" i="0" dirty="0" smtClean="0"/>
                      <m:t>′é</m:t>
                    </m:r>
                    <m:r>
                      <m:rPr>
                        <m:nor/>
                      </m:rPr>
                      <a:rPr lang="fr-FR" sz="2000" i="0" dirty="0" smtClean="0"/>
                      <m:t>nergie</m:t>
                    </m:r>
                    <m:r>
                      <m:rPr>
                        <m:nor/>
                      </m:rPr>
                      <a:rPr lang="fr-FR" sz="2000" i="0" dirty="0" smtClean="0"/>
                      <m:t> (</m:t>
                    </m:r>
                    <m:r>
                      <m:rPr>
                        <m:nor/>
                      </m:rPr>
                      <a:rPr lang="fr-FR" sz="2000" i="0" dirty="0" smtClean="0"/>
                      <m:t>chaleur</m:t>
                    </m:r>
                    <m:r>
                      <m:rPr>
                        <m:nor/>
                      </m:rPr>
                      <a:rPr lang="fr-FR" sz="2000" b="0" i="0" dirty="0" smtClean="0"/>
                      <m:t>) </m:t>
                    </m:r>
                    <m:r>
                      <m:rPr>
                        <m:nor/>
                      </m:rPr>
                      <a:rPr lang="fr-FR" sz="2000" i="0" dirty="0" smtClean="0"/>
                      <m:t>é</m:t>
                    </m:r>
                    <m:r>
                      <m:rPr>
                        <m:nor/>
                      </m:rPr>
                      <a:rPr lang="fr-FR" sz="2000" i="0" dirty="0" smtClean="0"/>
                      <m:t>chang</m:t>
                    </m:r>
                    <m:r>
                      <m:rPr>
                        <m:nor/>
                      </m:rPr>
                      <a:rPr lang="fr-FR" sz="2000" i="0" dirty="0" smtClean="0"/>
                      <m:t>é</m:t>
                    </m:r>
                    <m:r>
                      <m:rPr>
                        <m:nor/>
                      </m:rPr>
                      <a:rPr lang="fr-FR" sz="2000" i="0" dirty="0" smtClean="0"/>
                      <m:t>e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lors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d</m:t>
                    </m:r>
                    <m:r>
                      <m:rPr>
                        <m:nor/>
                      </m:rPr>
                      <a:rPr lang="fr-FR" sz="2000" i="0" dirty="0" smtClean="0"/>
                      <m:t>′</m:t>
                    </m:r>
                    <m:r>
                      <m:rPr>
                        <m:nor/>
                      </m:rPr>
                      <a:rPr lang="fr-FR" sz="2000" i="0" dirty="0" smtClean="0"/>
                      <m:t>une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transformation</m:t>
                    </m:r>
                    <m:r>
                      <m:rPr>
                        <m:nor/>
                      </m:rPr>
                      <a:rPr lang="fr-FR" sz="2000" i="0" dirty="0" smtClean="0"/>
                      <m:t> </m:t>
                    </m:r>
                    <m:r>
                      <m:rPr>
                        <m:nor/>
                      </m:rPr>
                      <a:rPr lang="fr-FR" sz="2000" i="0" dirty="0" smtClean="0"/>
                      <m:t>physique</m:t>
                    </m:r>
                    <m:r>
                      <m:rPr>
                        <m:nor/>
                      </m:rPr>
                      <a:rPr lang="fr-FR" sz="2000" b="0" i="0" dirty="0" smtClean="0"/>
                      <m:t> à </m:t>
                    </m:r>
                    <m:r>
                      <m:rPr>
                        <m:nor/>
                      </m:rPr>
                      <a:rPr lang="fr-FR" sz="2000" b="0" i="0" dirty="0" smtClean="0"/>
                      <m:t>pression</m:t>
                    </m:r>
                    <m:r>
                      <m:rPr>
                        <m:nor/>
                      </m:rPr>
                      <a:rPr lang="fr-FR" sz="2000" b="0" i="0" dirty="0" smtClean="0"/>
                      <m:t> </m:t>
                    </m:r>
                    <m:r>
                      <m:rPr>
                        <m:nor/>
                      </m:rPr>
                      <a:rPr lang="fr-FR" sz="2000" b="0" i="0" dirty="0" smtClean="0"/>
                      <m:t>constante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80" y="2149964"/>
                <a:ext cx="10763932" cy="1015663"/>
              </a:xfrm>
              <a:prstGeom prst="rect">
                <a:avLst/>
              </a:prstGeom>
              <a:blipFill>
                <a:blip r:embed="rId2"/>
                <a:stretch>
                  <a:fillRect l="-623" b="-6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eur droit avec flèche 5"/>
          <p:cNvCxnSpPr/>
          <p:nvPr/>
        </p:nvCxnSpPr>
        <p:spPr>
          <a:xfrm flipH="1">
            <a:off x="4180150" y="3358281"/>
            <a:ext cx="781991" cy="60389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/>
          <p:nvPr/>
        </p:nvCxnSpPr>
        <p:spPr>
          <a:xfrm>
            <a:off x="5466667" y="3358281"/>
            <a:ext cx="567079" cy="60195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ZoneTexte 26"/>
          <p:cNvSpPr txBox="1"/>
          <p:nvPr/>
        </p:nvSpPr>
        <p:spPr>
          <a:xfrm>
            <a:off x="1654622" y="4171601"/>
            <a:ext cx="2916524" cy="923330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Lors d’un </a:t>
            </a:r>
            <a:r>
              <a:rPr lang="fr-FR" b="1" u="sng" dirty="0" smtClean="0"/>
              <a:t>chauffage</a:t>
            </a:r>
            <a:r>
              <a:rPr lang="fr-FR" b="1" dirty="0" smtClean="0"/>
              <a:t> </a:t>
            </a:r>
            <a:r>
              <a:rPr lang="fr-FR" b="1" dirty="0" smtClean="0"/>
              <a:t>ou </a:t>
            </a:r>
            <a:r>
              <a:rPr lang="fr-FR" b="1" u="sng" dirty="0" smtClean="0"/>
              <a:t>refroidissement</a:t>
            </a:r>
            <a:r>
              <a:rPr lang="fr-FR" b="1" dirty="0" smtClean="0"/>
              <a:t> d’une </a:t>
            </a:r>
            <a:r>
              <a:rPr lang="fr-FR" b="1" dirty="0" smtClean="0"/>
              <a:t>substance</a:t>
            </a:r>
            <a:endParaRPr lang="en-US" b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5675733" y="4310100"/>
            <a:ext cx="3678068" cy="646331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Lors d’un </a:t>
            </a:r>
            <a:r>
              <a:rPr lang="fr-FR" b="1" u="sng" dirty="0" smtClean="0"/>
              <a:t>changement d’état </a:t>
            </a:r>
            <a:r>
              <a:rPr lang="fr-FR" b="1" dirty="0" smtClean="0"/>
              <a:t>pour une substance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149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27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Résumé du cours 2.6:       </a:t>
            </a:r>
            <a:r>
              <a:rPr lang="fr-FR" sz="2400" b="1" dirty="0" smtClean="0">
                <a:solidFill>
                  <a:srgbClr val="C00000"/>
                </a:solidFill>
              </a:rPr>
              <a:t>Transformations et énergie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324656"/>
            <a:ext cx="11691258" cy="5094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ZoneTexte 26"/>
          <p:cNvSpPr txBox="1"/>
          <p:nvPr/>
        </p:nvSpPr>
        <p:spPr>
          <a:xfrm>
            <a:off x="497333" y="1799876"/>
            <a:ext cx="924810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Lors d’un </a:t>
            </a:r>
            <a:r>
              <a:rPr lang="fr-FR" sz="2400" b="1" dirty="0" smtClean="0"/>
              <a:t>chauffage ou refroidissement  </a:t>
            </a:r>
            <a:r>
              <a:rPr lang="fr-FR" sz="2400" b="1" dirty="0" smtClean="0"/>
              <a:t>d’une substance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/>
              <p:cNvSpPr txBox="1"/>
              <p:nvPr/>
            </p:nvSpPr>
            <p:spPr>
              <a:xfrm>
                <a:off x="497334" y="2782447"/>
                <a:ext cx="6400801" cy="496674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2400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𝑪𝒑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𝒔𝒖𝒃𝒔𝒕𝒂𝒏𝒄𝒆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sSub>
                      <m:sSubPr>
                        <m:ctrlP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𝒇𝒊𝒏𝒂𝒍</m:t>
                        </m:r>
                      </m:sub>
                    </m:sSub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𝒊𝒏</m:t>
                        </m:r>
                        <m:r>
                          <a:rPr lang="fr-FR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𝒊𝒕𝒊𝒂𝒍</m:t>
                        </m:r>
                      </m:sub>
                    </m:sSub>
                    <m:r>
                      <a:rPr lang="fr-F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 smtClean="0"/>
                  <a:t>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4" name="ZoneText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34" y="2782447"/>
                <a:ext cx="6400801" cy="496674"/>
              </a:xfrm>
              <a:prstGeom prst="rect">
                <a:avLst/>
              </a:prstGeom>
              <a:blipFill>
                <a:blip r:embed="rId2"/>
                <a:stretch>
                  <a:fillRect l="-667" b="-1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eur droit 6"/>
          <p:cNvCxnSpPr/>
          <p:nvPr/>
        </p:nvCxnSpPr>
        <p:spPr>
          <a:xfrm>
            <a:off x="7081961" y="2696835"/>
            <a:ext cx="8129" cy="2411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265788" y="2696835"/>
                <a:ext cx="247965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𝑪𝒑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𝒔𝒖𝒃𝒔𝒕𝒂𝒏𝒄𝒆</m:t>
                        </m:r>
                      </m:sub>
                    </m:sSub>
                  </m:oMath>
                </a14:m>
                <a:r>
                  <a:rPr lang="en-US" dirty="0" smtClean="0"/>
                  <a:t> :  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Tab 2.3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788" y="2696835"/>
                <a:ext cx="2479653" cy="369332"/>
              </a:xfrm>
              <a:prstGeom prst="rect">
                <a:avLst/>
              </a:prstGeom>
              <a:blipFill>
                <a:blip r:embed="rId3"/>
                <a:stretch>
                  <a:fillRect l="-737" t="-8197" r="-9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265788" y="4484569"/>
                <a:ext cx="4721458" cy="62408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𝐈𝐦𝐩𝐨𝐫𝐭𝐚𝐧𝐭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𝐢𝐥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𝐟𝐚𝐮𝐭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𝐭𝐨𝐮𝐣𝐨𝐮𝐫𝐬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𝐯𝐨𝐢𝐫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à </m:t>
                          </m:r>
                        </m:e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𝐪𝐮𝐞𝐥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é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𝐭𝐚𝐭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𝐩𝐡𝐲𝐬𝐢𝐪𝐮𝐞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𝐬𝐞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𝐭𝐫𝐨𝐮𝐯𝐞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𝐥𝐚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𝐬𝐮𝐛𝐬𝐭𝐚𝐧𝐜𝐞</m:t>
                          </m:r>
                        </m:e>
                      </m:eqArr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788" y="4484569"/>
                <a:ext cx="4721458" cy="6240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285340" y="3208044"/>
                <a:ext cx="344594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en-US" dirty="0" smtClean="0"/>
                  <a:t> : masse de la substance (kg)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340" y="3208044"/>
                <a:ext cx="3445943" cy="369332"/>
              </a:xfrm>
              <a:prstGeom prst="rect">
                <a:avLst/>
              </a:prstGeom>
              <a:blipFill>
                <a:blip r:embed="rId5"/>
                <a:stretch>
                  <a:fillRect t="-8197" r="-88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65788" y="3674134"/>
                <a:ext cx="4714624" cy="39158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𝑓𝑖𝑛𝑎𝑙</m:t>
                        </m:r>
                      </m:sub>
                    </m:sSub>
                    <m:r>
                      <a:rPr lang="fr-F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𝑖𝑛𝑖𝑡𝑖𝑎𝑙</m:t>
                        </m:r>
                      </m:sub>
                    </m:sSub>
                    <m:r>
                      <a:rPr lang="fr-FR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: variation de </a:t>
                </a:r>
                <a:r>
                  <a:rPr lang="en-US" dirty="0" err="1" smtClean="0"/>
                  <a:t>température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788" y="3674134"/>
                <a:ext cx="4714624" cy="391582"/>
              </a:xfrm>
              <a:prstGeom prst="rect">
                <a:avLst/>
              </a:prstGeom>
              <a:blipFill>
                <a:blip r:embed="rId6"/>
                <a:stretch>
                  <a:fillRect l="-388" t="-9375" r="-388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97333" y="5221544"/>
                <a:ext cx="13820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𝑪𝒑</m:t>
                          </m:r>
                        </m:e>
                        <m:sub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𝒔𝒖𝒃𝒔𝒕𝒂𝒏𝒄𝒆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33" y="5221544"/>
                <a:ext cx="1382045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2643469" y="4827205"/>
                <a:ext cx="1139991" cy="3943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𝑪𝒑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𝒍𝒊𝒒𝒖𝒊𝒅𝒆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469" y="4827205"/>
                <a:ext cx="1139991" cy="394339"/>
              </a:xfrm>
              <a:prstGeom prst="rect">
                <a:avLst/>
              </a:prstGeom>
              <a:blipFill>
                <a:blip r:embed="rId8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2649114" y="5302977"/>
                <a:ext cx="10486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𝑪𝒑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𝒔𝒐𝒍𝒊𝒅𝒆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114" y="5302977"/>
                <a:ext cx="1048620" cy="369332"/>
              </a:xfrm>
              <a:prstGeom prst="rect">
                <a:avLst/>
              </a:prstGeom>
              <a:blipFill>
                <a:blip r:embed="rId9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643469" y="5759177"/>
                <a:ext cx="843436" cy="3956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𝑪𝒑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𝒈𝒂𝒛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469" y="5759177"/>
                <a:ext cx="843436" cy="395621"/>
              </a:xfrm>
              <a:prstGeom prst="rect">
                <a:avLst/>
              </a:prstGeom>
              <a:blipFill>
                <a:blip r:embed="rId10"/>
                <a:stretch>
                  <a:fillRect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droit avec flèche 7"/>
          <p:cNvCxnSpPr/>
          <p:nvPr/>
        </p:nvCxnSpPr>
        <p:spPr>
          <a:xfrm flipV="1">
            <a:off x="1936506" y="5086154"/>
            <a:ext cx="718416" cy="37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1981238" y="5533244"/>
            <a:ext cx="673684" cy="13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1981238" y="5614678"/>
            <a:ext cx="610748" cy="34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78921" y="5553499"/>
            <a:ext cx="8683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Tab 2.3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081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7" grpId="0" animBg="1"/>
      <p:bldP spid="4" grpId="0" animBg="1"/>
      <p:bldP spid="9" grpId="0" animBg="1"/>
      <p:bldP spid="15" grpId="0" animBg="1"/>
      <p:bldP spid="22" grpId="0" animBg="1"/>
      <p:bldP spid="17" grpId="0" animBg="1"/>
      <p:bldP spid="5" grpId="0"/>
      <p:bldP spid="12" grpId="0"/>
      <p:bldP spid="13" grpId="0"/>
      <p:bldP spid="14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Résumé du cours 2.6:       </a:t>
            </a:r>
            <a:r>
              <a:rPr lang="fr-FR" sz="2400" b="1" dirty="0" smtClean="0">
                <a:solidFill>
                  <a:srgbClr val="C00000"/>
                </a:solidFill>
              </a:rPr>
              <a:t>Transformations et énergie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324656"/>
            <a:ext cx="11691258" cy="5094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285340" y="2696835"/>
                <a:ext cx="230332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𝑳𝒂𝒕𝒆𝒏𝒕𝒆</m:t>
                        </m:r>
                      </m:sub>
                    </m:sSub>
                  </m:oMath>
                </a14:m>
                <a:r>
                  <a:rPr lang="en-US" dirty="0" smtClean="0"/>
                  <a:t> :  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Tab 2.3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340" y="2696835"/>
                <a:ext cx="2303323" cy="369332"/>
              </a:xfrm>
              <a:prstGeom prst="rect">
                <a:avLst/>
              </a:prstGeom>
              <a:blipFill>
                <a:blip r:embed="rId2"/>
                <a:stretch>
                  <a:fillRect t="-8197" r="-158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ZoneTexte 19"/>
          <p:cNvSpPr txBox="1"/>
          <p:nvPr/>
        </p:nvSpPr>
        <p:spPr>
          <a:xfrm>
            <a:off x="554483" y="1665100"/>
            <a:ext cx="6003480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/>
              <a:t>Lors d’un changement d’état physique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589248" y="2696835"/>
                <a:ext cx="5725827" cy="523220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1" i="0" smtClean="0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fr-FR" sz="2800" b="1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</m:t>
                      </m:r>
                      <m:r>
                        <a:rPr lang="fr-FR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sSub>
                        <m:sSubPr>
                          <m:ctrlPr>
                            <a:rPr lang="fr-F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𝐋𝐚𝐭𝐞𝐧𝐭𝐞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48" y="2696835"/>
                <a:ext cx="572582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285340" y="3208044"/>
                <a:ext cx="4606646" cy="6463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𝑳𝒂𝒕𝒆𝒏𝒕𝒆</m:t>
                        </m:r>
                      </m:sub>
                    </m:sSub>
                  </m:oMath>
                </a14:m>
                <a:r>
                  <a:rPr lang="en-US" dirty="0" smtClean="0"/>
                  <a:t>: </a:t>
                </a:r>
                <a:r>
                  <a:rPr lang="en-US" dirty="0" err="1" smtClean="0"/>
                  <a:t>chaleur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latente</a:t>
                </a:r>
                <a:r>
                  <a:rPr lang="en-US" dirty="0" smtClean="0"/>
                  <a:t> de </a:t>
                </a:r>
                <a:r>
                  <a:rPr lang="en-US" dirty="0" err="1" smtClean="0"/>
                  <a:t>changement</a:t>
                </a:r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d’état physique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340" y="3208044"/>
                <a:ext cx="4606646" cy="646331"/>
              </a:xfrm>
              <a:prstGeom prst="rect">
                <a:avLst/>
              </a:prstGeom>
              <a:blipFill>
                <a:blip r:embed="rId4"/>
                <a:stretch>
                  <a:fillRect l="-1058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99188" y="3914723"/>
                <a:ext cx="3422668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: masse de la substance (kg)</a:t>
                </a:r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188" y="3914723"/>
                <a:ext cx="3422668" cy="369332"/>
              </a:xfrm>
              <a:prstGeom prst="rect">
                <a:avLst/>
              </a:prstGeom>
              <a:blipFill>
                <a:blip r:embed="rId5"/>
                <a:stretch>
                  <a:fillRect t="-8197" r="-5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89248" y="3742496"/>
                <a:ext cx="5899244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𝐩𝐚𝐬𝐬𝐚𝐠𝐞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𝐝𝐮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𝐬𝐨𝐥𝐢𝐝𝐞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𝐥𝐢𝐪𝐮𝐢𝐝𝐞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:    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𝐅𝐮𝐬𝐢𝐨𝐧</m:t>
                        </m:r>
                      </m:sub>
                    </m:sSub>
                    <m:r>
                      <a:rPr lang="fr-FR" b="1" i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</m:t>
                    </m:r>
                    <m:r>
                      <a:rPr lang="fr-FR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𝐅𝐮𝐬𝐢𝐨𝐧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48" y="3742496"/>
                <a:ext cx="5899244" cy="369332"/>
              </a:xfrm>
              <a:prstGeom prst="rect">
                <a:avLst/>
              </a:prstGeom>
              <a:blipFill>
                <a:blip r:embed="rId6"/>
                <a:stretch>
                  <a:fillRect l="-724" t="-3279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33365" y="4953568"/>
            <a:ext cx="9034180" cy="133369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b="1" dirty="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</a:rPr>
              <a:t>Si c’est une condensation (liquide à solide</a:t>
            </a:r>
            <a:r>
              <a:rPr lang="fr-FR" b="1" dirty="0" smtClean="0">
                <a:latin typeface="Arial" panose="020B0604020202020204" pitchFamily="34" charset="0"/>
              </a:rPr>
              <a:t>):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fr-FR" b="1" dirty="0" smtClean="0">
                <a:latin typeface="Arial" panose="020B0604020202020204" pitchFamily="34" charset="0"/>
              </a:rPr>
              <a:t>Si </a:t>
            </a:r>
            <a:r>
              <a:rPr lang="fr-FR" b="1" dirty="0">
                <a:latin typeface="Arial" panose="020B0604020202020204" pitchFamily="34" charset="0"/>
              </a:rPr>
              <a:t>c’est une condensation (gaz à liquide</a:t>
            </a:r>
            <a:r>
              <a:rPr lang="fr-FR" b="1" dirty="0" smtClean="0">
                <a:latin typeface="Arial" panose="020B0604020202020204" pitchFamily="34" charset="0"/>
              </a:rPr>
              <a:t>):</a:t>
            </a:r>
            <a:endParaRPr lang="fr-FR" b="1" dirty="0">
              <a:latin typeface="Arial" panose="020B0604020202020204" pitchFamily="34" charset="0"/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7081961" y="2696835"/>
            <a:ext cx="25421" cy="1809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89248" y="4308815"/>
                <a:ext cx="6853030" cy="39421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𝐏𝐚𝐬𝐬𝐚𝐠𝐞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𝐝𝐮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𝐥𝐢𝐪𝐮𝐢𝐝𝐞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à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𝐯𝐚𝐩𝐞𝐮𝐫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 :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</a:rPr>
                          <m:t>𝐕𝐚𝐩𝐨𝐫𝐢𝐬𝐚𝐭𝐢𝐨𝐧</m:t>
                        </m:r>
                      </m:sub>
                    </m:sSub>
                    <m:r>
                      <a:rPr lang="fr-FR" b="1" i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fr-FR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</m:t>
                    </m:r>
                    <m:r>
                      <a:rPr lang="fr-FR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𝐕𝐚𝐩𝐨𝐫𝐢𝐬𝐚𝐭𝐢𝐨𝐧</m:t>
                        </m:r>
                      </m:sub>
                    </m:sSub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248" y="4308815"/>
                <a:ext cx="6853030" cy="394210"/>
              </a:xfrm>
              <a:prstGeom prst="rect">
                <a:avLst/>
              </a:prstGeom>
              <a:blipFill>
                <a:blip r:embed="rId7"/>
                <a:stretch>
                  <a:fillRect l="-623" t="-3125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729102" y="5226099"/>
                <a:ext cx="3204595" cy="369332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𝐜𝐨𝐧𝐝𝐞𝐧𝐬𝐚𝐭𝐢𝐨𝐧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𝐅𝐮𝐬𝐢𝐨𝐧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9102" y="5226099"/>
                <a:ext cx="3204595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538616" y="5810004"/>
                <a:ext cx="3807324" cy="39421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𝐜𝐨𝐧𝐝𝐞𝐧𝐬𝐚𝐭𝐢𝐨𝐧</m:t>
                          </m:r>
                          <m:r>
                            <a:rPr lang="fr-FR" b="1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</m:t>
                      </m:r>
                      <m:r>
                        <a:rPr lang="fr-FR" b="1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sSub>
                        <m:sSub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𝐕𝐚𝐩𝐨𝐫𝐢𝐬𝐚𝐭𝐢𝐨𝐧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616" y="5810004"/>
                <a:ext cx="3807324" cy="394210"/>
              </a:xfrm>
              <a:prstGeom prst="rect">
                <a:avLst/>
              </a:prstGeom>
              <a:blipFill>
                <a:blip r:embed="rId9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041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21" grpId="0" animBg="1"/>
      <p:bldP spid="22" grpId="0" animBg="1"/>
      <p:bldP spid="17" grpId="0" animBg="1"/>
      <p:bldP spid="5" grpId="0" animBg="1"/>
      <p:bldP spid="6" grpId="0" animBg="1"/>
      <p:bldP spid="14" grpId="0" animBg="1"/>
      <p:bldP spid="16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Graphique sommaire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066800"/>
            <a:ext cx="11691258" cy="53237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1057275" y="5117681"/>
            <a:ext cx="5390777" cy="3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057275" y="2978593"/>
            <a:ext cx="0" cy="217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502004" y="4958835"/>
                <a:ext cx="1285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T (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4" y="4958835"/>
                <a:ext cx="1285875" cy="369332"/>
              </a:xfrm>
              <a:prstGeom prst="rect">
                <a:avLst/>
              </a:prstGeom>
              <a:blipFill>
                <a:blip r:embed="rId2"/>
                <a:stretch>
                  <a:fillRect l="-426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59556" y="2311744"/>
                <a:ext cx="1285875" cy="666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56" y="2311744"/>
                <a:ext cx="1285875" cy="666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2807069" y="2831682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4945865" y="2834516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ZoneTexte 23"/>
              <p:cNvSpPr txBox="1"/>
              <p:nvPr/>
            </p:nvSpPr>
            <p:spPr>
              <a:xfrm>
                <a:off x="4708933" y="5230318"/>
                <a:ext cx="49492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sub>
                    </m:sSub>
                  </m:oMath>
                </a14:m>
                <a:r>
                  <a:rPr lang="fr-FR" b="1" dirty="0" smtClean="0">
                    <a:solidFill>
                      <a:srgbClr val="C00000"/>
                    </a:solidFill>
                  </a:rPr>
                  <a:t>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933" y="5230318"/>
                <a:ext cx="494925" cy="369332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/>
          <p:cNvSpPr txBox="1"/>
          <p:nvPr/>
        </p:nvSpPr>
        <p:spPr>
          <a:xfrm>
            <a:off x="1566871" y="2894740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solide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3463946" y="2894740"/>
            <a:ext cx="1073944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liquide</a:t>
            </a:r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203858" y="2886045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gaz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559606" y="5224468"/>
                <a:ext cx="49492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fr-FR" b="1" dirty="0" smtClean="0">
                    <a:solidFill>
                      <a:srgbClr val="C00000"/>
                    </a:solidFill>
                  </a:rPr>
                  <a:t>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606" y="5224468"/>
                <a:ext cx="494925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ZoneTexte 4"/>
          <p:cNvSpPr txBox="1"/>
          <p:nvPr/>
        </p:nvSpPr>
        <p:spPr>
          <a:xfrm>
            <a:off x="7398326" y="1665413"/>
            <a:ext cx="4294910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Pour chaque substance il faut faire ce graphe sommaire</a:t>
            </a:r>
            <a:endParaRPr lang="en-US" dirty="0"/>
          </a:p>
        </p:txBody>
      </p:sp>
      <p:cxnSp>
        <p:nvCxnSpPr>
          <p:cNvPr id="8" name="Connecteur en arc 7"/>
          <p:cNvCxnSpPr/>
          <p:nvPr/>
        </p:nvCxnSpPr>
        <p:spPr>
          <a:xfrm rot="5400000">
            <a:off x="4820282" y="2372239"/>
            <a:ext cx="379427" cy="14399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460373" y="1770261"/>
            <a:ext cx="1243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Changement d’état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3" name="Connecteur en arc 42"/>
          <p:cNvCxnSpPr/>
          <p:nvPr/>
        </p:nvCxnSpPr>
        <p:spPr>
          <a:xfrm rot="5400000">
            <a:off x="2716609" y="2441508"/>
            <a:ext cx="379427" cy="14399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2356700" y="1839530"/>
            <a:ext cx="1243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Changement d’état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2807068" y="3435793"/>
            <a:ext cx="0" cy="98380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4945865" y="3435793"/>
            <a:ext cx="0" cy="983807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V="1">
            <a:off x="1545431" y="3893127"/>
            <a:ext cx="811269" cy="6788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V="1">
            <a:off x="1914860" y="4097372"/>
            <a:ext cx="189241" cy="1624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en arc 30"/>
          <p:cNvCxnSpPr/>
          <p:nvPr/>
        </p:nvCxnSpPr>
        <p:spPr>
          <a:xfrm rot="16200000" flipV="1">
            <a:off x="1234260" y="4934337"/>
            <a:ext cx="774370" cy="18692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1159450" y="5550604"/>
            <a:ext cx="1243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Chauffage 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34" name="Connecteur droit 33"/>
          <p:cNvCxnSpPr/>
          <p:nvPr/>
        </p:nvCxnSpPr>
        <p:spPr>
          <a:xfrm flipV="1">
            <a:off x="3649104" y="3803353"/>
            <a:ext cx="811269" cy="6788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/>
          <p:cNvCxnSpPr/>
          <p:nvPr/>
        </p:nvCxnSpPr>
        <p:spPr>
          <a:xfrm flipH="1">
            <a:off x="3899231" y="4061762"/>
            <a:ext cx="236688" cy="1980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en arc 38"/>
          <p:cNvCxnSpPr/>
          <p:nvPr/>
        </p:nvCxnSpPr>
        <p:spPr>
          <a:xfrm rot="16200000" flipV="1">
            <a:off x="3324615" y="4865373"/>
            <a:ext cx="774370" cy="186924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/>
          <p:cNvSpPr txBox="1"/>
          <p:nvPr/>
        </p:nvSpPr>
        <p:spPr>
          <a:xfrm>
            <a:off x="3121806" y="5426045"/>
            <a:ext cx="1672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Refroidissement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153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9" grpId="0"/>
      <p:bldP spid="24" grpId="0" animBg="1"/>
      <p:bldP spid="21" grpId="0" animBg="1"/>
      <p:bldP spid="29" grpId="0" animBg="1"/>
      <p:bldP spid="30" grpId="0" animBg="1"/>
      <p:bldP spid="33" grpId="0" animBg="1"/>
      <p:bldP spid="5" grpId="0" animBg="1"/>
      <p:bldP spid="9" grpId="0"/>
      <p:bldP spid="46" grpId="0"/>
      <p:bldP spid="32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Exemple d’application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5872" y="1091055"/>
            <a:ext cx="11691258" cy="53237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634187" y="5663596"/>
            <a:ext cx="5390777" cy="3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634187" y="2789922"/>
            <a:ext cx="0" cy="29062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ZoneTexte 13"/>
              <p:cNvSpPr txBox="1"/>
              <p:nvPr/>
            </p:nvSpPr>
            <p:spPr>
              <a:xfrm>
                <a:off x="5940036" y="5465172"/>
                <a:ext cx="12858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 smtClean="0"/>
                  <a:t>T (</a:t>
                </a:r>
                <a14:m>
                  <m:oMath xmlns:m="http://schemas.openxmlformats.org/officeDocument/2006/math">
                    <m:r>
                      <a:rPr lang="fr-F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fr-F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036" y="5465172"/>
                <a:ext cx="1285875" cy="338554"/>
              </a:xfrm>
              <a:prstGeom prst="rect">
                <a:avLst/>
              </a:prstGeom>
              <a:blipFill>
                <a:blip r:embed="rId3"/>
                <a:stretch>
                  <a:fillRect l="-2370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ZoneTexte 18"/>
              <p:cNvSpPr txBox="1"/>
              <p:nvPr/>
            </p:nvSpPr>
            <p:spPr>
              <a:xfrm>
                <a:off x="69212" y="2368568"/>
                <a:ext cx="1285875" cy="6030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12" y="2368568"/>
                <a:ext cx="1285875" cy="603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2368239" y="3237900"/>
            <a:ext cx="15742" cy="2425696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 flipH="1">
            <a:off x="4522777" y="3161774"/>
            <a:ext cx="10530" cy="2504656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ZoneTexte 23"/>
              <p:cNvSpPr txBox="1"/>
              <p:nvPr/>
            </p:nvSpPr>
            <p:spPr>
              <a:xfrm>
                <a:off x="4285845" y="5776233"/>
                <a:ext cx="49492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lang="fr-FR" b="1" dirty="0" smtClean="0">
                    <a:solidFill>
                      <a:srgbClr val="C00000"/>
                    </a:solidFill>
                  </a:rPr>
                  <a:t>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4" name="ZoneTexte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5845" y="5776233"/>
                <a:ext cx="494925" cy="369332"/>
              </a:xfrm>
              <a:prstGeom prst="rect">
                <a:avLst/>
              </a:prstGeom>
              <a:blipFill>
                <a:blip r:embed="rId5"/>
                <a:stretch>
                  <a:fillRect l="-7407" r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ZoneTexte 20"/>
          <p:cNvSpPr txBox="1"/>
          <p:nvPr/>
        </p:nvSpPr>
        <p:spPr>
          <a:xfrm>
            <a:off x="1143783" y="2937222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solide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3040858" y="2937222"/>
            <a:ext cx="1073944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liquide</a:t>
            </a:r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4780770" y="2928527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gaz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ZoneTexte 32"/>
              <p:cNvSpPr txBox="1"/>
              <p:nvPr/>
            </p:nvSpPr>
            <p:spPr>
              <a:xfrm>
                <a:off x="2136518" y="5770383"/>
                <a:ext cx="49492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fr-FR" b="1" dirty="0" smtClean="0">
                    <a:solidFill>
                      <a:srgbClr val="C00000"/>
                    </a:solidFill>
                  </a:rPr>
                  <a:t> 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518" y="5770383"/>
                <a:ext cx="4949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eur en arc 7"/>
          <p:cNvCxnSpPr/>
          <p:nvPr/>
        </p:nvCxnSpPr>
        <p:spPr>
          <a:xfrm rot="5400000">
            <a:off x="4397194" y="2631546"/>
            <a:ext cx="379427" cy="14399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/>
          <p:cNvSpPr txBox="1"/>
          <p:nvPr/>
        </p:nvSpPr>
        <p:spPr>
          <a:xfrm>
            <a:off x="4037285" y="2029568"/>
            <a:ext cx="1243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Changement d’état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43" name="Connecteur en arc 42"/>
          <p:cNvCxnSpPr/>
          <p:nvPr/>
        </p:nvCxnSpPr>
        <p:spPr>
          <a:xfrm rot="5400000">
            <a:off x="2293521" y="2700815"/>
            <a:ext cx="379427" cy="14399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1933612" y="2098837"/>
            <a:ext cx="12432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>
                <a:solidFill>
                  <a:srgbClr val="0070C0"/>
                </a:solidFill>
              </a:rPr>
              <a:t>Changement d’état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6" name="Connecteur droit 5"/>
          <p:cNvCxnSpPr/>
          <p:nvPr/>
        </p:nvCxnSpPr>
        <p:spPr>
          <a:xfrm>
            <a:off x="2368239" y="4610358"/>
            <a:ext cx="0" cy="51302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/>
          <p:cNvCxnSpPr/>
          <p:nvPr/>
        </p:nvCxnSpPr>
        <p:spPr>
          <a:xfrm>
            <a:off x="4528557" y="3674366"/>
            <a:ext cx="7868" cy="500334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 flipV="1">
            <a:off x="2376236" y="4159122"/>
            <a:ext cx="2156255" cy="42239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/>
          <p:cNvCxnSpPr/>
          <p:nvPr/>
        </p:nvCxnSpPr>
        <p:spPr>
          <a:xfrm flipV="1">
            <a:off x="1330875" y="5102744"/>
            <a:ext cx="1049479" cy="402008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ZoneTexte 25"/>
              <p:cNvSpPr txBox="1"/>
              <p:nvPr/>
            </p:nvSpPr>
            <p:spPr>
              <a:xfrm>
                <a:off x="6647300" y="1903106"/>
                <a:ext cx="4425839" cy="43435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400" b="1" i="0" smtClean="0">
                        <a:latin typeface="Cambria Math" panose="02040503050406030204" pitchFamily="18" charset="0"/>
                      </a:rPr>
                      <m:t>𝐐𝟏</m:t>
                    </m:r>
                    <m:r>
                      <a:rPr lang="fr-FR" sz="1400" b="1" i="0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𝐇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𝐤𝐠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𝟎𝟗</m:t>
                    </m:r>
                    <m:f>
                      <m:fPr>
                        <m:ctrlPr>
                          <a:rPr lang="fr-FR" sz="1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𝐤𝐉</m:t>
                        </m:r>
                      </m:num>
                      <m:den>
                        <m:r>
                          <a:rPr lang="fr-FR" sz="1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𝐤𝐠</m:t>
                        </m:r>
                        <m:r>
                          <a:rPr lang="fr-FR" sz="1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sz="14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𝐊</m:t>
                        </m:r>
                      </m:den>
                    </m:f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fr-FR" sz="1400" b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fr-FR" sz="1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sz="14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𝟐𝟎</m:t>
                        </m:r>
                      </m:e>
                    </m:d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𝐤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𝐤𝐉</m:t>
                    </m:r>
                  </m:oMath>
                </a14:m>
                <a:r>
                  <a:rPr lang="en-US" sz="1400" b="1" dirty="0" smtClean="0"/>
                  <a:t> </a:t>
                </a:r>
                <a:endParaRPr lang="en-US" sz="1400" b="1" dirty="0"/>
              </a:p>
            </p:txBody>
          </p:sp>
        </mc:Choice>
        <mc:Fallback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300" y="1903106"/>
                <a:ext cx="4425839" cy="434350"/>
              </a:xfrm>
              <a:prstGeom prst="rect">
                <a:avLst/>
              </a:prstGeom>
              <a:blipFill>
                <a:blip r:embed="rId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ZoneTexte 26"/>
              <p:cNvSpPr txBox="1"/>
              <p:nvPr/>
            </p:nvSpPr>
            <p:spPr>
              <a:xfrm>
                <a:off x="6647300" y="2520265"/>
                <a:ext cx="4424634" cy="539315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𝐐𝟐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𝑭𝒖𝒔𝒊𝒐𝒏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𝒌𝒈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𝟑𝟑𝟑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𝒌𝑱</m:t>
                          </m:r>
                        </m:num>
                        <m:den>
                          <m: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𝟑𝟑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𝒌𝑱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300" y="2520265"/>
                <a:ext cx="4424634" cy="539315"/>
              </a:xfrm>
              <a:prstGeom prst="rect">
                <a:avLst/>
              </a:prstGeom>
              <a:blipFill>
                <a:blip r:embed="rId8"/>
                <a:stretch>
                  <a:fillRect b="-5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13508" y="1232443"/>
            <a:ext cx="115598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/>
              <a:t>Quelle quantité d’énergie (chaleur) nécessaire pour faire passer </a:t>
            </a:r>
            <a:r>
              <a:rPr lang="fr-FR" sz="1600" b="1" dirty="0">
                <a:solidFill>
                  <a:srgbClr val="0070C0"/>
                </a:solidFill>
              </a:rPr>
              <a:t>100g</a:t>
            </a:r>
            <a:r>
              <a:rPr lang="fr-FR" sz="1600" dirty="0"/>
              <a:t> de glace </a:t>
            </a:r>
            <a:r>
              <a:rPr lang="fr-FR" sz="1600" dirty="0" smtClean="0"/>
              <a:t>initialement </a:t>
            </a:r>
            <a:r>
              <a:rPr lang="fr-FR" sz="1600" dirty="0"/>
              <a:t>à </a:t>
            </a:r>
            <a:r>
              <a:rPr lang="fr-FR" sz="1600" b="1" dirty="0">
                <a:solidFill>
                  <a:srgbClr val="0070C0"/>
                </a:solidFill>
              </a:rPr>
              <a:t>– 20 °C </a:t>
            </a:r>
            <a:r>
              <a:rPr lang="fr-FR" sz="1600" dirty="0"/>
              <a:t>jusqu’à </a:t>
            </a:r>
            <a:r>
              <a:rPr lang="fr-FR" sz="1600" b="1" dirty="0">
                <a:solidFill>
                  <a:srgbClr val="0070C0"/>
                </a:solidFill>
              </a:rPr>
              <a:t>120 °C</a:t>
            </a:r>
            <a:endParaRPr lang="en-US" sz="16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ZoneTexte 27"/>
              <p:cNvSpPr txBox="1"/>
              <p:nvPr/>
            </p:nvSpPr>
            <p:spPr>
              <a:xfrm>
                <a:off x="924799" y="5764409"/>
                <a:ext cx="78982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8" name="ZoneTexte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799" y="5764409"/>
                <a:ext cx="78982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ZoneTexte 30"/>
              <p:cNvSpPr txBox="1"/>
              <p:nvPr/>
            </p:nvSpPr>
            <p:spPr>
              <a:xfrm>
                <a:off x="4958970" y="5773821"/>
                <a:ext cx="789829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8970" y="5773821"/>
                <a:ext cx="78982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1506625" y="4949807"/>
            <a:ext cx="57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C000"/>
                </a:solidFill>
              </a:rPr>
              <a:t>Q1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1894232" y="4656944"/>
            <a:ext cx="57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Q2</a:t>
            </a:r>
            <a:endParaRPr lang="en-US" dirty="0"/>
          </a:p>
        </p:txBody>
      </p:sp>
      <p:sp>
        <p:nvSpPr>
          <p:cNvPr id="38" name="ZoneTexte 37"/>
          <p:cNvSpPr txBox="1"/>
          <p:nvPr/>
        </p:nvSpPr>
        <p:spPr>
          <a:xfrm>
            <a:off x="3040839" y="4047972"/>
            <a:ext cx="57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F0"/>
                </a:solidFill>
              </a:rPr>
              <a:t>Q3</a:t>
            </a:r>
            <a:endParaRPr lang="en-US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ZoneTexte 38"/>
              <p:cNvSpPr txBox="1"/>
              <p:nvPr/>
            </p:nvSpPr>
            <p:spPr>
              <a:xfrm>
                <a:off x="6612499" y="3476880"/>
                <a:ext cx="4648033" cy="43435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𝒌𝒈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</m:t>
                    </m:r>
                    <m:f>
                      <m:fPr>
                        <m:ctrlP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𝒌𝑱</m:t>
                        </m:r>
                      </m:num>
                      <m:den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𝒌𝒈</m:t>
                        </m:r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den>
                    </m:f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𝟏𝟎𝟎</m:t>
                        </m:r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𝟒𝟏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𝒌𝑱</m:t>
                    </m:r>
                  </m:oMath>
                </a14:m>
                <a:r>
                  <a:rPr lang="en-US" sz="1400" b="1" dirty="0" smtClean="0"/>
                  <a:t> </a:t>
                </a:r>
                <a:endParaRPr lang="en-US" sz="1400" b="1" dirty="0"/>
              </a:p>
            </p:txBody>
          </p:sp>
        </mc:Choice>
        <mc:Fallback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2499" y="3476880"/>
                <a:ext cx="4648033" cy="434350"/>
              </a:xfrm>
              <a:prstGeom prst="rect">
                <a:avLst/>
              </a:prstGeom>
              <a:blipFill>
                <a:blip r:embed="rId11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oneTexte 41"/>
          <p:cNvSpPr txBox="1"/>
          <p:nvPr/>
        </p:nvSpPr>
        <p:spPr>
          <a:xfrm>
            <a:off x="4064028" y="3725559"/>
            <a:ext cx="57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00B050"/>
                </a:solidFill>
              </a:rPr>
              <a:t>Q4</a:t>
            </a:r>
            <a:endParaRPr lang="en-US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ZoneTexte 43"/>
              <p:cNvSpPr txBox="1"/>
              <p:nvPr/>
            </p:nvSpPr>
            <p:spPr>
              <a:xfrm>
                <a:off x="6603467" y="4161255"/>
                <a:ext cx="5269878" cy="539315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𝐐𝟒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𝐦</m:t>
                      </m:r>
                      <m:r>
                        <a:rPr lang="fr-FR" sz="1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∆</m:t>
                      </m:r>
                      <m:sSub>
                        <m:sSubPr>
                          <m:ctrlP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𝐇</m:t>
                          </m:r>
                        </m:e>
                        <m:sub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𝑽𝒂𝒑𝒐𝒓𝒊𝒔𝒂𝒕𝒊𝒐𝒏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𝒆𝒂𝒖</m:t>
                          </m:r>
                          <m:r>
                            <a:rPr lang="fr-FR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𝒌𝒈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𝟐𝟐𝟓𝟗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𝒌𝑱</m:t>
                          </m:r>
                        </m:num>
                        <m:den>
                          <m:r>
                            <a:rPr lang="fr-FR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fr-FR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𝒌𝑱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>
          <p:sp>
            <p:nvSpPr>
              <p:cNvPr id="44" name="ZoneTexte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3467" y="4161255"/>
                <a:ext cx="5269878" cy="539315"/>
              </a:xfrm>
              <a:prstGeom prst="rect">
                <a:avLst/>
              </a:prstGeom>
              <a:blipFill>
                <a:blip r:embed="rId12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necteur droit 44"/>
          <p:cNvCxnSpPr/>
          <p:nvPr/>
        </p:nvCxnSpPr>
        <p:spPr>
          <a:xfrm flipV="1">
            <a:off x="4507795" y="3574552"/>
            <a:ext cx="785684" cy="110588"/>
          </a:xfrm>
          <a:prstGeom prst="line">
            <a:avLst/>
          </a:prstGeom>
          <a:ln w="38100">
            <a:solidFill>
              <a:srgbClr val="FFCC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>
            <a:stCxn id="56" idx="4"/>
          </p:cNvCxnSpPr>
          <p:nvPr/>
        </p:nvCxnSpPr>
        <p:spPr>
          <a:xfrm flipH="1">
            <a:off x="5280527" y="3650925"/>
            <a:ext cx="30117" cy="2012671"/>
          </a:xfrm>
          <a:prstGeom prst="line">
            <a:avLst/>
          </a:prstGeom>
          <a:ln w="9525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4712039" y="3641968"/>
            <a:ext cx="57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FFC000"/>
                </a:solidFill>
              </a:rPr>
              <a:t>Q5</a:t>
            </a:r>
            <a:endParaRPr lang="en-US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ZoneTexte 48"/>
              <p:cNvSpPr txBox="1"/>
              <p:nvPr/>
            </p:nvSpPr>
            <p:spPr>
              <a:xfrm>
                <a:off x="6582974" y="4888193"/>
                <a:ext cx="5058566" cy="434350"/>
              </a:xfrm>
              <a:prstGeom prst="rect">
                <a:avLst/>
              </a:prstGeom>
              <a:solidFill>
                <a:srgbClr val="CCECFF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sz="1400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𝒌𝒈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𝟖𝟕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𝒌𝑱</m:t>
                        </m:r>
                      </m:num>
                      <m:den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𝒌𝒈</m:t>
                        </m:r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sz="1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den>
                    </m:f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𝟏𝟐𝟎</m:t>
                        </m:r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fr-FR" sz="1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𝟏𝟎𝟎</m:t>
                        </m:r>
                      </m:e>
                    </m:d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𝟑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𝟕𝟒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sz="1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𝒌𝑱</m:t>
                    </m:r>
                  </m:oMath>
                </a14:m>
                <a:r>
                  <a:rPr lang="en-US" sz="1400" b="1" dirty="0" smtClean="0"/>
                  <a:t> </a:t>
                </a:r>
                <a:endParaRPr lang="en-US" sz="1400" b="1" dirty="0"/>
              </a:p>
            </p:txBody>
          </p:sp>
        </mc:Choice>
        <mc:Fallback>
          <p:sp>
            <p:nvSpPr>
              <p:cNvPr id="49" name="ZoneTexte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2974" y="4888193"/>
                <a:ext cx="5058566" cy="434350"/>
              </a:xfrm>
              <a:prstGeom prst="rect">
                <a:avLst/>
              </a:prstGeom>
              <a:blipFill>
                <a:blip r:embed="rId13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ZoneTexte 49"/>
              <p:cNvSpPr txBox="1"/>
              <p:nvPr/>
            </p:nvSpPr>
            <p:spPr>
              <a:xfrm>
                <a:off x="7418093" y="5484888"/>
                <a:ext cx="391173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1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a:rPr lang="fr-FR" sz="1600" b="1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𝐓𝐨𝐭𝐚𝐥𝐞</m:t>
                        </m:r>
                      </m:sub>
                    </m:sSub>
                  </m:oMath>
                </a14:m>
                <a:r>
                  <a:rPr lang="fr-FR" sz="1600" b="1" dirty="0" smtClean="0">
                    <a:solidFill>
                      <a:srgbClr val="C00000"/>
                    </a:solidFill>
                  </a:rPr>
                  <a:t>= Q1 +Q2 + Q3 +Q4  +Q5 </a:t>
                </a:r>
                <a:endParaRPr lang="en-US" sz="1600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093" y="5484888"/>
                <a:ext cx="3911731" cy="338554"/>
              </a:xfrm>
              <a:prstGeom prst="rect">
                <a:avLst/>
              </a:prstGeom>
              <a:blipFill>
                <a:blip r:embed="rId14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eur droit 53"/>
          <p:cNvCxnSpPr/>
          <p:nvPr/>
        </p:nvCxnSpPr>
        <p:spPr>
          <a:xfrm flipH="1">
            <a:off x="1287128" y="5449307"/>
            <a:ext cx="19036" cy="246901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/>
          <p:cNvSpPr/>
          <p:nvPr/>
        </p:nvSpPr>
        <p:spPr>
          <a:xfrm>
            <a:off x="1235339" y="5401027"/>
            <a:ext cx="175750" cy="1856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lipse 55"/>
          <p:cNvSpPr/>
          <p:nvPr/>
        </p:nvSpPr>
        <p:spPr>
          <a:xfrm>
            <a:off x="5222769" y="3465314"/>
            <a:ext cx="175750" cy="18561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ZoneTexte 61"/>
              <p:cNvSpPr txBox="1"/>
              <p:nvPr/>
            </p:nvSpPr>
            <p:spPr>
              <a:xfrm>
                <a:off x="6533041" y="6017472"/>
                <a:ext cx="5197629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b="0" i="0" dirty="0" smtClean="0">
                            <a:latin typeface="Cambria Math" panose="02040503050406030204" pitchFamily="18" charset="0"/>
                          </a:rPr>
                          <m:t>Totale</m:t>
                        </m:r>
                      </m:sub>
                    </m:sSub>
                  </m:oMath>
                </a14:m>
                <a:r>
                  <a:rPr lang="fr-FR" dirty="0" smtClean="0"/>
                  <a:t>= 4.18+33.3+41.8+225.9+3.74=308.92 kJ</a:t>
                </a:r>
                <a:endParaRPr lang="en-US" dirty="0"/>
              </a:p>
            </p:txBody>
          </p:sp>
        </mc:Choice>
        <mc:Fallback>
          <p:sp>
            <p:nvSpPr>
              <p:cNvPr id="62" name="ZoneTexte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3041" y="6017472"/>
                <a:ext cx="5197629" cy="369332"/>
              </a:xfrm>
              <a:prstGeom prst="rect">
                <a:avLst/>
              </a:prstGeom>
              <a:blipFill>
                <a:blip r:embed="rId15"/>
                <a:stretch>
                  <a:fillRect l="-23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08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9" grpId="0"/>
      <p:bldP spid="24" grpId="0" animBg="1"/>
      <p:bldP spid="21" grpId="0" animBg="1"/>
      <p:bldP spid="29" grpId="0" animBg="1"/>
      <p:bldP spid="30" grpId="0" animBg="1"/>
      <p:bldP spid="33" grpId="0" animBg="1"/>
      <p:bldP spid="9" grpId="0"/>
      <p:bldP spid="46" grpId="0"/>
      <p:bldP spid="26" grpId="0" animBg="1"/>
      <p:bldP spid="27" grpId="0" animBg="1"/>
      <p:bldP spid="28" grpId="0" animBg="1"/>
      <p:bldP spid="31" grpId="0" animBg="1"/>
      <p:bldP spid="13" grpId="0"/>
      <p:bldP spid="34" grpId="0"/>
      <p:bldP spid="38" grpId="0"/>
      <p:bldP spid="39" grpId="0" animBg="1"/>
      <p:bldP spid="42" grpId="0"/>
      <p:bldP spid="44" grpId="0" animBg="1"/>
      <p:bldP spid="48" grpId="0"/>
      <p:bldP spid="49" grpId="0" animBg="1"/>
      <p:bldP spid="50" grpId="0"/>
      <p:bldP spid="53" grpId="0" animBg="1"/>
      <p:bldP spid="56" grpId="0" animBg="1"/>
      <p:bldP spid="6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Exemple #1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296081"/>
            <a:ext cx="11691258" cy="5094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4" name="Rectangle 3"/>
          <p:cNvSpPr/>
          <p:nvPr/>
        </p:nvSpPr>
        <p:spPr>
          <a:xfrm>
            <a:off x="533400" y="1067481"/>
            <a:ext cx="104394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</a:endParaRPr>
          </a:p>
          <a:p>
            <a:r>
              <a:rPr lang="fr-FR" sz="2000" dirty="0">
                <a:latin typeface="Arial" panose="020B0604020202020204" pitchFamily="34" charset="0"/>
              </a:rPr>
              <a:t>Combien de chaleur faut-il pour réchauffer </a:t>
            </a:r>
            <a:r>
              <a:rPr lang="fr-FR" sz="2000" b="1" dirty="0">
                <a:latin typeface="Arial" panose="020B0604020202020204" pitchFamily="34" charset="0"/>
              </a:rPr>
              <a:t>2,00 kg </a:t>
            </a:r>
            <a:r>
              <a:rPr lang="fr-FR" sz="2000" dirty="0">
                <a:latin typeface="Arial" panose="020B0604020202020204" pitchFamily="34" charset="0"/>
              </a:rPr>
              <a:t>de neige de </a:t>
            </a:r>
            <a:r>
              <a:rPr lang="fr-FR" sz="2000" b="1" dirty="0">
                <a:latin typeface="Arial" panose="020B0604020202020204" pitchFamily="34" charset="0"/>
              </a:rPr>
              <a:t>-</a:t>
            </a:r>
            <a:r>
              <a:rPr lang="fr-FR" sz="2000" b="1" dirty="0" smtClean="0">
                <a:latin typeface="Arial" panose="020B0604020202020204" pitchFamily="34" charset="0"/>
              </a:rPr>
              <a:t>25,0°C </a:t>
            </a:r>
            <a:r>
              <a:rPr lang="fr-FR" sz="2000" dirty="0">
                <a:latin typeface="Arial" panose="020B0604020202020204" pitchFamily="34" charset="0"/>
              </a:rPr>
              <a:t>à </a:t>
            </a:r>
            <a:r>
              <a:rPr lang="fr-FR" sz="2000" b="1" dirty="0">
                <a:latin typeface="Arial" panose="020B0604020202020204" pitchFamily="34" charset="0"/>
              </a:rPr>
              <a:t>0,00 °C</a:t>
            </a:r>
            <a:r>
              <a:rPr lang="fr-FR" sz="2000" dirty="0">
                <a:latin typeface="Arial" panose="020B0604020202020204" pitchFamily="34" charset="0"/>
              </a:rPr>
              <a:t> ? </a:t>
            </a:r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1057275" y="5117681"/>
            <a:ext cx="5390777" cy="3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057275" y="2978593"/>
            <a:ext cx="0" cy="217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502004" y="4958835"/>
                <a:ext cx="1285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T (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004" y="4958835"/>
                <a:ext cx="1285875" cy="369332"/>
              </a:xfrm>
              <a:prstGeom prst="rect">
                <a:avLst/>
              </a:prstGeom>
              <a:blipFill>
                <a:blip r:embed="rId2"/>
                <a:stretch>
                  <a:fillRect l="-4265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259556" y="2311744"/>
                <a:ext cx="1285875" cy="666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56" y="2311744"/>
                <a:ext cx="1285875" cy="666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3250415" y="2857502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078967" y="5213049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0 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4945865" y="2834516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708933" y="5230318"/>
            <a:ext cx="81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100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566871" y="2894740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solide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3463946" y="2894740"/>
            <a:ext cx="1073944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liquide</a:t>
            </a:r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203858" y="2886045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gaz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/>
              <p:cNvSpPr txBox="1"/>
              <p:nvPr/>
            </p:nvSpPr>
            <p:spPr>
              <a:xfrm>
                <a:off x="2879360" y="5540571"/>
                <a:ext cx="64889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0070C0"/>
                    </a:solidFill>
                  </a:rPr>
                  <a:t> 0</a:t>
                </a:r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1" name="ZoneTexte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360" y="5540571"/>
                <a:ext cx="648890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1157599" y="5466566"/>
                <a:ext cx="89951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0070C0"/>
                    </a:solidFill>
                  </a:rPr>
                  <a:t> - 25</a:t>
                </a:r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7599" y="5466566"/>
                <a:ext cx="899515" cy="369332"/>
              </a:xfrm>
              <a:prstGeom prst="rect">
                <a:avLst/>
              </a:prstGeom>
              <a:blipFill>
                <a:blip r:embed="rId5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Connecteur droit avec flèche 34"/>
          <p:cNvCxnSpPr/>
          <p:nvPr/>
        </p:nvCxnSpPr>
        <p:spPr>
          <a:xfrm flipV="1">
            <a:off x="1545431" y="4343400"/>
            <a:ext cx="1658374" cy="7742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3078967" y="4229023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1432711" y="4979486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ZoneTexte 37"/>
          <p:cNvSpPr txBox="1"/>
          <p:nvPr/>
        </p:nvSpPr>
        <p:spPr>
          <a:xfrm>
            <a:off x="1103886" y="4651058"/>
            <a:ext cx="115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État </a:t>
            </a:r>
            <a:r>
              <a:rPr lang="fr-FR" sz="1400" dirty="0" smtClean="0"/>
              <a:t>initial</a:t>
            </a:r>
            <a:endParaRPr lang="en-US" sz="1400" dirty="0"/>
          </a:p>
        </p:txBody>
      </p:sp>
      <p:sp>
        <p:nvSpPr>
          <p:cNvPr id="39" name="ZoneTexte 38"/>
          <p:cNvSpPr txBox="1"/>
          <p:nvPr/>
        </p:nvSpPr>
        <p:spPr>
          <a:xfrm>
            <a:off x="2285609" y="3945448"/>
            <a:ext cx="1158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État </a:t>
            </a:r>
            <a:r>
              <a:rPr lang="fr-FR" sz="1400" dirty="0" smtClean="0"/>
              <a:t>Final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6650850" y="2414474"/>
                <a:ext cx="5164913" cy="395558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𝑪𝒑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𝒔𝒖𝒃𝒔𝒕𝒂𝒏𝒄𝒆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𝒇𝒊𝒏𝒂𝒍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𝒊𝒏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𝒊𝒕𝒊𝒂𝒍</m:t>
                        </m:r>
                      </m:sub>
                    </m:sSub>
                    <m:r>
                      <a:rPr lang="fr-F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/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850" y="2414474"/>
                <a:ext cx="5164913" cy="395558"/>
              </a:xfrm>
              <a:prstGeom prst="rect">
                <a:avLst/>
              </a:prstGeom>
              <a:blipFill>
                <a:blip r:embed="rId6"/>
                <a:stretch>
                  <a:fillRect l="-236"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>
                <a:off x="6650850" y="3091791"/>
                <a:ext cx="5164913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𝑪𝒑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𝒆𝒂𝒖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𝒔𝒐𝒍𝒊𝒅𝒆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b="1" dirty="0" smtClean="0"/>
                  <a:t> </a:t>
                </a:r>
                <a14:m>
                  <m:oMath xmlns:m="http://schemas.openxmlformats.org/officeDocument/2006/math"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850" y="3091791"/>
                <a:ext cx="5164913" cy="369332"/>
              </a:xfrm>
              <a:prstGeom prst="rect">
                <a:avLst/>
              </a:prstGeom>
              <a:blipFill>
                <a:blip r:embed="rId7"/>
                <a:stretch>
                  <a:fillRect l="-236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/>
              <p:cNvSpPr txBox="1"/>
              <p:nvPr/>
            </p:nvSpPr>
            <p:spPr>
              <a:xfrm>
                <a:off x="6650850" y="3711741"/>
                <a:ext cx="5164913" cy="53213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= ∆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𝑯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𝒌𝒈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𝟎𝟗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𝒌𝑱</m:t>
                        </m:r>
                      </m:num>
                      <m:den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𝒌𝒈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𝑲</m:t>
                        </m:r>
                      </m:den>
                    </m:f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fr-F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𝟐𝟓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 smtClean="0"/>
                  <a:t>K</a:t>
                </a:r>
                <a:endParaRPr lang="en-US" b="1" dirty="0"/>
              </a:p>
            </p:txBody>
          </p:sp>
        </mc:Choice>
        <mc:Fallback xmlns="">
          <p:sp>
            <p:nvSpPr>
              <p:cNvPr id="42" name="ZoneTexte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850" y="3711741"/>
                <a:ext cx="5164913" cy="532133"/>
              </a:xfrm>
              <a:prstGeom prst="rect">
                <a:avLst/>
              </a:prstGeom>
              <a:blipFill>
                <a:blip r:embed="rId8"/>
                <a:stretch>
                  <a:fillRect l="-236"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eur droit avec flèche 43"/>
          <p:cNvCxnSpPr/>
          <p:nvPr/>
        </p:nvCxnSpPr>
        <p:spPr>
          <a:xfrm flipH="1">
            <a:off x="8374847" y="3801164"/>
            <a:ext cx="330999" cy="35270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/>
          <p:nvPr/>
        </p:nvCxnSpPr>
        <p:spPr>
          <a:xfrm flipH="1">
            <a:off x="9531264" y="4007836"/>
            <a:ext cx="246470" cy="2508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 flipH="1">
            <a:off x="11178793" y="3765734"/>
            <a:ext cx="330999" cy="352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/>
          <p:cNvCxnSpPr/>
          <p:nvPr/>
        </p:nvCxnSpPr>
        <p:spPr>
          <a:xfrm flipH="1">
            <a:off x="9720267" y="3956923"/>
            <a:ext cx="330999" cy="3527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ZoneTexte 49"/>
              <p:cNvSpPr txBox="1"/>
              <p:nvPr/>
            </p:nvSpPr>
            <p:spPr>
              <a:xfrm>
                <a:off x="6682254" y="4475203"/>
                <a:ext cx="1793062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𝟏𝟎𝟒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smtClean="0"/>
                  <a:t>kJ</a:t>
                </a:r>
                <a:endParaRPr lang="en-US" b="1" dirty="0"/>
              </a:p>
            </p:txBody>
          </p:sp>
        </mc:Choice>
        <mc:Fallback xmlns="">
          <p:sp>
            <p:nvSpPr>
              <p:cNvPr id="50" name="ZoneTexte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2254" y="4475203"/>
                <a:ext cx="1793062" cy="369332"/>
              </a:xfrm>
              <a:prstGeom prst="rect">
                <a:avLst/>
              </a:prstGeom>
              <a:blipFill>
                <a:blip r:embed="rId9"/>
                <a:stretch>
                  <a:fillRect l="-68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15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4" grpId="0"/>
      <p:bldP spid="19" grpId="0"/>
      <p:bldP spid="18" grpId="0"/>
      <p:bldP spid="24" grpId="0"/>
      <p:bldP spid="21" grpId="0" animBg="1"/>
      <p:bldP spid="29" grpId="0" animBg="1"/>
      <p:bldP spid="30" grpId="0" animBg="1"/>
      <p:bldP spid="31" grpId="0" animBg="1"/>
      <p:bldP spid="32" grpId="0" animBg="1"/>
      <p:bldP spid="36" grpId="0" animBg="1"/>
      <p:bldP spid="37" grpId="0" animBg="1"/>
      <p:bldP spid="38" grpId="0"/>
      <p:bldP spid="39" grpId="0"/>
      <p:bldP spid="40" grpId="0" animBg="1"/>
      <p:bldP spid="41" grpId="0" animBg="1"/>
      <p:bldP spid="42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Exemple # 2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039091"/>
            <a:ext cx="11691258" cy="53515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1181966" y="4679406"/>
            <a:ext cx="5390777" cy="3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181966" y="2540318"/>
            <a:ext cx="0" cy="217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590361" y="4467437"/>
                <a:ext cx="1285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T (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61" y="4467437"/>
                <a:ext cx="1285875" cy="369332"/>
              </a:xfrm>
              <a:prstGeom prst="rect">
                <a:avLst/>
              </a:prstGeom>
              <a:blipFill>
                <a:blip r:embed="rId2"/>
                <a:stretch>
                  <a:fillRect l="-37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384247" y="1873469"/>
                <a:ext cx="1285875" cy="666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7" y="1873469"/>
                <a:ext cx="1285875" cy="666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3375106" y="2419227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203658" y="4774774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0 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5070556" y="2396241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789868" y="4774774"/>
            <a:ext cx="81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100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691562" y="2456465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solide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3588637" y="2456465"/>
            <a:ext cx="1073944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liquide</a:t>
            </a:r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328549" y="2447770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gaz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4642766" y="5155538"/>
                <a:ext cx="899515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0070C0"/>
                    </a:solidFill>
                  </a:rPr>
                  <a:t> 100 </a:t>
                </a:r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766" y="5155538"/>
                <a:ext cx="899515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8206254" y="2553062"/>
                <a:ext cx="3144314" cy="395558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</m:t>
                    </m:r>
                    <m:r>
                      <a:rPr lang="fr-FR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∆</m:t>
                    </m:r>
                    <m:sSub>
                      <m:sSubPr>
                        <m:ctrlPr>
                          <a:rPr lang="fr-F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𝐇</m:t>
                        </m:r>
                      </m:e>
                      <m:sub>
                        <m:r>
                          <a:rPr lang="fr-F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fr-FR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𝐕𝐚𝐩𝐨𝐫𝐢𝐬𝐚𝐭𝐢𝐨𝐧</m:t>
                        </m:r>
                      </m:sub>
                    </m:sSub>
                  </m:oMath>
                </a14:m>
                <a:r>
                  <a:rPr lang="en-US" b="1" dirty="0" smtClean="0"/>
                  <a:t> </a:t>
                </a:r>
                <a:endParaRPr lang="en-US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54" y="2553062"/>
                <a:ext cx="3144314" cy="395558"/>
              </a:xfrm>
              <a:prstGeom prst="rect">
                <a:avLst/>
              </a:prstGeom>
              <a:blipFill>
                <a:blip r:embed="rId5"/>
                <a:stretch>
                  <a:fillRect l="-388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/>
              <p:cNvSpPr txBox="1"/>
              <p:nvPr/>
            </p:nvSpPr>
            <p:spPr>
              <a:xfrm>
                <a:off x="8206254" y="3279501"/>
                <a:ext cx="2881745" cy="66704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𝒌𝑱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1" name="ZoneTexte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254" y="3279501"/>
                <a:ext cx="2881745" cy="667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01190" y="1031084"/>
            <a:ext cx="10376386" cy="53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Quelle masse d’eau pourra être entièrement vaporisée </a:t>
            </a:r>
            <a:r>
              <a:rPr lang="fr-FR" dirty="0" smtClean="0">
                <a:latin typeface="Arial" panose="020B0604020202020204" pitchFamily="34" charset="0"/>
              </a:rPr>
              <a:t>à </a:t>
            </a:r>
            <a:r>
              <a:rPr lang="fr-FR" b="1" dirty="0" smtClean="0">
                <a:latin typeface="Arial" panose="020B0604020202020204" pitchFamily="34" charset="0"/>
              </a:rPr>
              <a:t>100 </a:t>
            </a:r>
            <a:r>
              <a:rPr lang="fr-FR" b="1" dirty="0">
                <a:latin typeface="Arial" panose="020B0604020202020204" pitchFamily="34" charset="0"/>
              </a:rPr>
              <a:t>°C</a:t>
            </a:r>
            <a:r>
              <a:rPr lang="fr-FR" dirty="0">
                <a:latin typeface="Arial" panose="020B0604020202020204" pitchFamily="34" charset="0"/>
              </a:rPr>
              <a:t> si l’on fournit </a:t>
            </a:r>
            <a:r>
              <a:rPr lang="fr-FR" b="1" dirty="0">
                <a:latin typeface="Arial" panose="020B0604020202020204" pitchFamily="34" charset="0"/>
              </a:rPr>
              <a:t>350 kJ </a:t>
            </a:r>
            <a:r>
              <a:rPr lang="fr-FR" dirty="0">
                <a:latin typeface="Arial" panose="020B0604020202020204" pitchFamily="34" charset="0"/>
              </a:rPr>
              <a:t>? </a:t>
            </a:r>
            <a:endParaRPr lang="en-US" dirty="0"/>
          </a:p>
        </p:txBody>
      </p:sp>
      <p:cxnSp>
        <p:nvCxnSpPr>
          <p:cNvPr id="8" name="Connecteur droit avec flèche 7"/>
          <p:cNvCxnSpPr/>
          <p:nvPr/>
        </p:nvCxnSpPr>
        <p:spPr>
          <a:xfrm flipH="1" flipV="1">
            <a:off x="5084628" y="3366124"/>
            <a:ext cx="1" cy="752059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>
                <a:off x="8252617" y="4501527"/>
                <a:ext cx="2881745" cy="66704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𝟑𝟓𝟎</m:t>
                      </m:r>
                      <m:f>
                        <m:fPr>
                          <m:ctrlP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𝒌𝑱</m:t>
                          </m:r>
                        </m:num>
                        <m:den>
                          <m:r>
                            <a:rPr lang="fr-FR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𝟐𝟐𝟓𝟗</m:t>
                      </m:r>
                      <m:r>
                        <a:rPr lang="fr-F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𝒌𝑱</m:t>
                          </m:r>
                        </m:num>
                        <m:den>
                          <m:r>
                            <a:rPr lang="fr-FR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𝒌𝒈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617" y="4501527"/>
                <a:ext cx="2881745" cy="667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6773" y="5690774"/>
            <a:ext cx="9847589" cy="543908"/>
          </a:xfrm>
          <a:prstGeom prst="rect">
            <a:avLst/>
          </a:prstGeom>
        </p:spPr>
      </p:pic>
      <p:sp>
        <p:nvSpPr>
          <p:cNvPr id="43" name="Ellipse 42"/>
          <p:cNvSpPr/>
          <p:nvPr/>
        </p:nvSpPr>
        <p:spPr>
          <a:xfrm>
            <a:off x="4921620" y="4118183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llipse 45"/>
          <p:cNvSpPr/>
          <p:nvPr/>
        </p:nvSpPr>
        <p:spPr>
          <a:xfrm>
            <a:off x="4958647" y="3120568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9" grpId="0"/>
      <p:bldP spid="18" grpId="0"/>
      <p:bldP spid="24" grpId="0"/>
      <p:bldP spid="21" grpId="0" animBg="1"/>
      <p:bldP spid="29" grpId="0" animBg="1"/>
      <p:bldP spid="30" grpId="0" animBg="1"/>
      <p:bldP spid="32" grpId="0" animBg="1"/>
      <p:bldP spid="40" grpId="0" animBg="1"/>
      <p:bldP spid="41" grpId="0" animBg="1"/>
      <p:bldP spid="5" grpId="0"/>
      <p:bldP spid="34" grpId="0" animBg="1"/>
      <p:bldP spid="43" grpId="0" animBg="1"/>
      <p:bldP spid="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313508" y="444138"/>
            <a:ext cx="847330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dirty="0" smtClean="0"/>
              <a:t>Exemple # 3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3508" y="1039091"/>
            <a:ext cx="11691258" cy="535150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V="1">
            <a:off x="1181966" y="4679406"/>
            <a:ext cx="5390777" cy="326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 flipV="1">
            <a:off x="1181966" y="2540318"/>
            <a:ext cx="0" cy="2171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590361" y="4467437"/>
                <a:ext cx="12858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T (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fr-F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361" y="4467437"/>
                <a:ext cx="1285875" cy="369332"/>
              </a:xfrm>
              <a:prstGeom prst="rect">
                <a:avLst/>
              </a:prstGeom>
              <a:blipFill>
                <a:blip r:embed="rId2"/>
                <a:stretch>
                  <a:fillRect l="-3791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384247" y="1873469"/>
                <a:ext cx="1285875" cy="666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𝑘𝐽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47" y="1873469"/>
                <a:ext cx="1285875" cy="666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cteur droit 16"/>
          <p:cNvCxnSpPr/>
          <p:nvPr/>
        </p:nvCxnSpPr>
        <p:spPr>
          <a:xfrm>
            <a:off x="3375106" y="2419227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3174521" y="4719375"/>
            <a:ext cx="4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0 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23" name="Connecteur droit 22"/>
          <p:cNvCxnSpPr/>
          <p:nvPr/>
        </p:nvCxnSpPr>
        <p:spPr>
          <a:xfrm>
            <a:off x="5070556" y="2396241"/>
            <a:ext cx="0" cy="2285999"/>
          </a:xfrm>
          <a:prstGeom prst="line">
            <a:avLst/>
          </a:prstGeom>
          <a:ln w="28575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804877" y="4730935"/>
            <a:ext cx="812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C00000"/>
                </a:solidFill>
              </a:rPr>
              <a:t>100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1691562" y="2456465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solide</a:t>
            </a:r>
            <a:endParaRPr lang="en-US" dirty="0"/>
          </a:p>
        </p:txBody>
      </p:sp>
      <p:sp>
        <p:nvSpPr>
          <p:cNvPr id="29" name="ZoneTexte 28"/>
          <p:cNvSpPr txBox="1"/>
          <p:nvPr/>
        </p:nvSpPr>
        <p:spPr>
          <a:xfrm>
            <a:off x="3588637" y="2456465"/>
            <a:ext cx="1073944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liquide</a:t>
            </a:r>
            <a:endParaRPr lang="en-US" dirty="0"/>
          </a:p>
        </p:txBody>
      </p:sp>
      <p:sp>
        <p:nvSpPr>
          <p:cNvPr id="30" name="ZoneTexte 29"/>
          <p:cNvSpPr txBox="1"/>
          <p:nvPr/>
        </p:nvSpPr>
        <p:spPr>
          <a:xfrm>
            <a:off x="5328549" y="2447770"/>
            <a:ext cx="835820" cy="369332"/>
          </a:xfrm>
          <a:prstGeom prst="rect">
            <a:avLst/>
          </a:prstGeom>
          <a:solidFill>
            <a:srgbClr val="99FFCC"/>
          </a:solidFill>
        </p:spPr>
        <p:txBody>
          <a:bodyPr wrap="square" rtlCol="0">
            <a:spAutoFit/>
          </a:bodyPr>
          <a:lstStyle/>
          <a:p>
            <a:r>
              <a:rPr lang="fr-FR" dirty="0" smtClean="0"/>
              <a:t>gaz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/>
              <p:cNvSpPr txBox="1"/>
              <p:nvPr/>
            </p:nvSpPr>
            <p:spPr>
              <a:xfrm>
                <a:off x="3588638" y="4824499"/>
                <a:ext cx="761690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0070C0"/>
                    </a:solidFill>
                  </a:rPr>
                  <a:t> 20 </a:t>
                </a:r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ZoneTexte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638" y="4824499"/>
                <a:ext cx="761690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/>
              <p:cNvSpPr txBox="1"/>
              <p:nvPr/>
            </p:nvSpPr>
            <p:spPr>
              <a:xfrm>
                <a:off x="7819959" y="2249991"/>
                <a:ext cx="3144314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0" name="ZoneTexte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959" y="2249991"/>
                <a:ext cx="3144314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01189" y="1031084"/>
            <a:ext cx="11399866" cy="530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0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Quelle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quantité d’énergie est libérée lorsque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250 g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d’eau passent de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20,0°C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-15,0°C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dans un congélateur?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1797146" y="4824499"/>
                <a:ext cx="818443" cy="3693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>
                    <a:solidFill>
                      <a:srgbClr val="0070C0"/>
                    </a:solidFill>
                  </a:rPr>
                  <a:t> -15</a:t>
                </a:r>
                <a14:m>
                  <m:oMath xmlns:m="http://schemas.openxmlformats.org/officeDocument/2006/math">
                    <m:r>
                      <a:rPr lang="fr-FR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</m:oMath>
                </a14:m>
                <a:r>
                  <a:rPr lang="fr-FR" b="1" dirty="0" smtClean="0">
                    <a:solidFill>
                      <a:srgbClr val="0070C0"/>
                    </a:solidFill>
                  </a:rPr>
                  <a:t> 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146" y="4824499"/>
                <a:ext cx="818443" cy="369332"/>
              </a:xfrm>
              <a:prstGeom prst="rect">
                <a:avLst/>
              </a:prstGeom>
              <a:blipFill>
                <a:blip r:embed="rId6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cteur droit avec flèche 5"/>
          <p:cNvCxnSpPr/>
          <p:nvPr/>
        </p:nvCxnSpPr>
        <p:spPr>
          <a:xfrm flipH="1">
            <a:off x="3375106" y="3144982"/>
            <a:ext cx="797623" cy="37407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3376406" y="3512134"/>
            <a:ext cx="4767" cy="5605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 flipH="1">
            <a:off x="2270345" y="4015058"/>
            <a:ext cx="1061559" cy="4986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 flipH="1">
            <a:off x="4171442" y="3249785"/>
            <a:ext cx="6900" cy="1429621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 flipH="1">
            <a:off x="2189874" y="4480591"/>
            <a:ext cx="19036" cy="246901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/>
              <p:cNvSpPr txBox="1"/>
              <p:nvPr/>
            </p:nvSpPr>
            <p:spPr>
              <a:xfrm>
                <a:off x="3494365" y="2921599"/>
                <a:ext cx="2887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365" y="2921599"/>
                <a:ext cx="288717" cy="369332"/>
              </a:xfrm>
              <a:prstGeom prst="rect">
                <a:avLst/>
              </a:prstGeom>
              <a:blipFill>
                <a:blip r:embed="rId7"/>
                <a:stretch>
                  <a:fillRect l="-4167" r="-43750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/>
              <p:cNvSpPr txBox="1"/>
              <p:nvPr/>
            </p:nvSpPr>
            <p:spPr>
              <a:xfrm>
                <a:off x="3417409" y="3512134"/>
                <a:ext cx="496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ZoneTexte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409" y="3512134"/>
                <a:ext cx="496041" cy="369332"/>
              </a:xfrm>
              <a:prstGeom prst="rect">
                <a:avLst/>
              </a:prstGeom>
              <a:blipFill>
                <a:blip r:embed="rId8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/>
              <p:cNvSpPr txBox="1"/>
              <p:nvPr/>
            </p:nvSpPr>
            <p:spPr>
              <a:xfrm>
                <a:off x="2517809" y="3845164"/>
                <a:ext cx="4960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𝐐</m:t>
                          </m:r>
                        </m:e>
                        <m:sub>
                          <m:r>
                            <a:rPr lang="fr-FR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809" y="3845164"/>
                <a:ext cx="496041" cy="369332"/>
              </a:xfrm>
              <a:prstGeom prst="rect">
                <a:avLst/>
              </a:prstGeom>
              <a:blipFill>
                <a:blip r:embed="rId9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ZoneTexte 43"/>
              <p:cNvSpPr txBox="1"/>
              <p:nvPr/>
            </p:nvSpPr>
            <p:spPr>
              <a:xfrm>
                <a:off x="7819959" y="2880453"/>
                <a:ext cx="3144314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4" name="ZoneTexte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959" y="2880453"/>
                <a:ext cx="3144314" cy="369332"/>
              </a:xfrm>
              <a:prstGeom prst="rect">
                <a:avLst/>
              </a:prstGeom>
              <a:blipFill>
                <a:blip r:embed="rId10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7832484" y="3673945"/>
                <a:ext cx="3144314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484" y="3673945"/>
                <a:ext cx="3144314" cy="369332"/>
              </a:xfrm>
              <a:prstGeom prst="rect">
                <a:avLst/>
              </a:prstGeom>
              <a:blipFill>
                <a:blip r:embed="rId11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ZoneTexte 45"/>
              <p:cNvSpPr txBox="1"/>
              <p:nvPr/>
            </p:nvSpPr>
            <p:spPr>
              <a:xfrm>
                <a:off x="7876236" y="4404847"/>
                <a:ext cx="3144314" cy="369332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fr-FR" b="1" i="1" smtClean="0">
                              <a:latin typeface="Cambria Math" panose="02040503050406030204" pitchFamily="18" charset="0"/>
                            </a:rPr>
                            <m:t>𝒕𝑻𝒐𝒕𝒂𝒍𝒆</m:t>
                          </m:r>
                        </m:sub>
                      </m:sSub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46" name="ZoneTexte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236" y="4404847"/>
                <a:ext cx="3144314" cy="369332"/>
              </a:xfrm>
              <a:prstGeom prst="rect">
                <a:avLst/>
              </a:prstGeom>
              <a:blipFill>
                <a:blip r:embed="rId12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lipse 46"/>
          <p:cNvSpPr/>
          <p:nvPr/>
        </p:nvSpPr>
        <p:spPr>
          <a:xfrm>
            <a:off x="4071951" y="3065148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lipse 47"/>
          <p:cNvSpPr/>
          <p:nvPr/>
        </p:nvSpPr>
        <p:spPr>
          <a:xfrm>
            <a:off x="2075154" y="4372548"/>
            <a:ext cx="242887" cy="228600"/>
          </a:xfrm>
          <a:prstGeom prst="ellipse">
            <a:avLst/>
          </a:prstGeom>
          <a:solidFill>
            <a:schemeClr val="tx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52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9" grpId="0"/>
      <p:bldP spid="18" grpId="0"/>
      <p:bldP spid="24" grpId="0"/>
      <p:bldP spid="21" grpId="0" animBg="1"/>
      <p:bldP spid="29" grpId="0" animBg="1"/>
      <p:bldP spid="30" grpId="0" animBg="1"/>
      <p:bldP spid="32" grpId="0" animBg="1"/>
      <p:bldP spid="40" grpId="0" animBg="1"/>
      <p:bldP spid="5" grpId="0"/>
      <p:bldP spid="22" grpId="0" animBg="1"/>
      <p:bldP spid="36" grpId="0"/>
      <p:bldP spid="42" grpId="0"/>
      <p:bldP spid="43" grpId="0"/>
      <p:bldP spid="44" grpId="0" animBg="1"/>
      <p:bldP spid="45" grpId="0" animBg="1"/>
      <p:bldP spid="46" grpId="0" animBg="1"/>
      <p:bldP spid="47" grpId="0" animBg="1"/>
      <p:bldP spid="48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2765</TotalTime>
  <Words>452</Words>
  <Application>Microsoft Office PowerPoint</Application>
  <PresentationFormat>Grand écran</PresentationFormat>
  <Paragraphs>125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Cambria Math</vt:lpstr>
      <vt:lpstr>Rockwell</vt:lpstr>
      <vt:lpstr>Rockwell Condensed</vt:lpstr>
      <vt:lpstr>Wingdings</vt:lpstr>
      <vt:lpstr>Type de bois</vt:lpstr>
      <vt:lpstr>Exemples  du cours 2.6 Transformations et énergie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Exemples  du cours 2.5</dc:title>
  <dc:creator>Utilisateur Windows</dc:creator>
  <cp:lastModifiedBy>Utilisateur Windows</cp:lastModifiedBy>
  <cp:revision>114</cp:revision>
  <dcterms:created xsi:type="dcterms:W3CDTF">2020-10-14T16:37:09Z</dcterms:created>
  <dcterms:modified xsi:type="dcterms:W3CDTF">2020-10-22T15:23:38Z</dcterms:modified>
</cp:coreProperties>
</file>