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bin" ContentType="application/vnd.openxmlformats-officedocument.oleObject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4252" r:id="rId1"/>
  </p:sldMasterIdLst>
  <p:notesMasterIdLst>
    <p:notesMasterId r:id="rId31"/>
  </p:notesMasterIdLst>
  <p:sldIdLst>
    <p:sldId id="256" r:id="rId2"/>
    <p:sldId id="488" r:id="rId3"/>
    <p:sldId id="512" r:id="rId4"/>
    <p:sldId id="643" r:id="rId5"/>
    <p:sldId id="649" r:id="rId6"/>
    <p:sldId id="668" r:id="rId7"/>
    <p:sldId id="650" r:id="rId8"/>
    <p:sldId id="652" r:id="rId9"/>
    <p:sldId id="656" r:id="rId10"/>
    <p:sldId id="669" r:id="rId11"/>
    <p:sldId id="670" r:id="rId12"/>
    <p:sldId id="671" r:id="rId13"/>
    <p:sldId id="672" r:id="rId14"/>
    <p:sldId id="673" r:id="rId15"/>
    <p:sldId id="674" r:id="rId16"/>
    <p:sldId id="675" r:id="rId17"/>
    <p:sldId id="679" r:id="rId18"/>
    <p:sldId id="680" r:id="rId19"/>
    <p:sldId id="681" r:id="rId20"/>
    <p:sldId id="682" r:id="rId21"/>
    <p:sldId id="683" r:id="rId22"/>
    <p:sldId id="684" r:id="rId23"/>
    <p:sldId id="685" r:id="rId24"/>
    <p:sldId id="686" r:id="rId25"/>
    <p:sldId id="687" r:id="rId26"/>
    <p:sldId id="688" r:id="rId27"/>
    <p:sldId id="691" r:id="rId28"/>
    <p:sldId id="689" r:id="rId29"/>
    <p:sldId id="692" r:id="rId30"/>
  </p:sldIdLst>
  <p:sldSz cx="10080625" cy="7559675"/>
  <p:notesSz cx="7099300" cy="10234613"/>
  <p:defaultTextStyle>
    <a:defPPr>
      <a:defRPr lang="en-GB"/>
    </a:defPPr>
    <a:lvl1pPr algn="l" defTabSz="446842" rtl="0" fontAlgn="base" hangingPunct="0">
      <a:lnSpc>
        <a:spcPct val="93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8" charset="0"/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739983" indent="-283632" algn="l" defTabSz="446842" rtl="0" fontAlgn="base" hangingPunct="0">
      <a:lnSpc>
        <a:spcPct val="93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8" charset="0"/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1139284" indent="-226591" algn="l" defTabSz="446842" rtl="0" fontAlgn="base" hangingPunct="0">
      <a:lnSpc>
        <a:spcPct val="93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8" charset="0"/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595633" indent="-226591" algn="l" defTabSz="446842" rtl="0" fontAlgn="base" hangingPunct="0">
      <a:lnSpc>
        <a:spcPct val="93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8" charset="0"/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2051980" indent="-226591" algn="l" defTabSz="446842" rtl="0" fontAlgn="base" hangingPunct="0">
      <a:lnSpc>
        <a:spcPct val="93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8" charset="0"/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1739" algn="l" defTabSz="912694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38086" algn="l" defTabSz="912694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194432" algn="l" defTabSz="912694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0783" algn="l" defTabSz="912694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2930">
          <p15:clr>
            <a:srgbClr val="A4A3A4"/>
          </p15:clr>
        </p15:guide>
        <p15:guide id="2" pos="1973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EAEAEA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Style léger 1 - Accentuation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20009" autoAdjust="0"/>
    <p:restoredTop sz="95391" autoAdjust="0"/>
  </p:normalViewPr>
  <p:slideViewPr>
    <p:cSldViewPr>
      <p:cViewPr varScale="1">
        <p:scale>
          <a:sx n="66" d="100"/>
          <a:sy n="66" d="100"/>
        </p:scale>
        <p:origin x="-1134" y="-114"/>
      </p:cViewPr>
      <p:guideLst>
        <p:guide orient="horz" pos="2161"/>
        <p:guide pos="2880"/>
      </p:guideLst>
    </p:cSldViewPr>
  </p:slideViewPr>
  <p:outlineViewPr>
    <p:cViewPr varScale="1">
      <p:scale>
        <a:sx n="170" d="200"/>
        <a:sy n="170" d="200"/>
      </p:scale>
      <p:origin x="0" y="77046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9" d="100"/>
          <a:sy n="59" d="100"/>
        </p:scale>
        <p:origin x="-1752" y="-72"/>
      </p:cViewPr>
      <p:guideLst>
        <p:guide orient="horz" pos="2930"/>
        <p:guide pos="1973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image" Target="../media/image5.wmf"/><Relationship Id="rId4" Type="http://schemas.openxmlformats.org/officeDocument/2006/relationships/image" Target="../media/image8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image" Target="../media/image14.wmf"/><Relationship Id="rId1" Type="http://schemas.openxmlformats.org/officeDocument/2006/relationships/image" Target="../media/image13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image" Target="../media/image24.wmf"/><Relationship Id="rId1" Type="http://schemas.openxmlformats.org/officeDocument/2006/relationships/image" Target="../media/image23.wmf"/><Relationship Id="rId5" Type="http://schemas.openxmlformats.org/officeDocument/2006/relationships/image" Target="../media/image27.wmf"/><Relationship Id="rId4" Type="http://schemas.openxmlformats.org/officeDocument/2006/relationships/image" Target="../media/image26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image" Target="../media/image29.wmf"/><Relationship Id="rId1" Type="http://schemas.openxmlformats.org/officeDocument/2006/relationships/image" Target="../media/image28.w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31.wmf"/><Relationship Id="rId1" Type="http://schemas.openxmlformats.org/officeDocument/2006/relationships/image" Target="../media/image29.w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32.wmf"/><Relationship Id="rId1" Type="http://schemas.openxmlformats.org/officeDocument/2006/relationships/image" Target="../media/image26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w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5.wmf"/><Relationship Id="rId2" Type="http://schemas.openxmlformats.org/officeDocument/2006/relationships/image" Target="../media/image34.wmf"/><Relationship Id="rId1" Type="http://schemas.openxmlformats.org/officeDocument/2006/relationships/image" Target="../media/image33.wmf"/><Relationship Id="rId4" Type="http://schemas.openxmlformats.org/officeDocument/2006/relationships/image" Target="../media/image36.w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7.w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40.wmf"/><Relationship Id="rId2" Type="http://schemas.openxmlformats.org/officeDocument/2006/relationships/image" Target="../media/image39.wmf"/><Relationship Id="rId1" Type="http://schemas.openxmlformats.org/officeDocument/2006/relationships/image" Target="../media/image38.wmf"/><Relationship Id="rId5" Type="http://schemas.openxmlformats.org/officeDocument/2006/relationships/image" Target="../media/image42.wmf"/><Relationship Id="rId4" Type="http://schemas.openxmlformats.org/officeDocument/2006/relationships/image" Target="../media/image41.w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4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1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990600" y="776288"/>
            <a:ext cx="5116513" cy="3836987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sp>
      <p:sp>
        <p:nvSpPr>
          <p:cNvPr id="2050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710510" y="4860473"/>
            <a:ext cx="5678280" cy="460363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fr-FR" noProof="0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hdr"/>
          </p:nvPr>
        </p:nvSpPr>
        <p:spPr bwMode="auto">
          <a:xfrm>
            <a:off x="0" y="0"/>
            <a:ext cx="3079843" cy="5104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defTabSz="449170">
              <a:buFont typeface="Times New Roman" pitchFamily="16" charset="0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  <a:defRPr sz="1400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defRPr>
            </a:lvl1pPr>
          </a:lstStyle>
          <a:p>
            <a:pPr>
              <a:defRPr/>
            </a:pPr>
            <a:endParaRPr lang="fr-CA" dirty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dt"/>
          </p:nvPr>
        </p:nvSpPr>
        <p:spPr bwMode="auto">
          <a:xfrm>
            <a:off x="4018007" y="0"/>
            <a:ext cx="3079843" cy="5104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 defTabSz="449170">
              <a:buFont typeface="Times New Roman" pitchFamily="16" charset="0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  <a:defRPr sz="1400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defRPr>
            </a:lvl1pPr>
          </a:lstStyle>
          <a:p>
            <a:pPr>
              <a:defRPr/>
            </a:pPr>
            <a:endParaRPr lang="fr-CA" dirty="0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ftr"/>
          </p:nvPr>
        </p:nvSpPr>
        <p:spPr bwMode="auto">
          <a:xfrm>
            <a:off x="0" y="9722560"/>
            <a:ext cx="3079843" cy="5104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defTabSz="449170">
              <a:buFont typeface="Times New Roman" pitchFamily="16" charset="0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  <a:defRPr sz="1400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defRPr>
            </a:lvl1pPr>
          </a:lstStyle>
          <a:p>
            <a:pPr>
              <a:defRPr/>
            </a:pPr>
            <a:endParaRPr lang="fr-CA" dirty="0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sldNum"/>
          </p:nvPr>
        </p:nvSpPr>
        <p:spPr bwMode="auto">
          <a:xfrm>
            <a:off x="4018007" y="9722560"/>
            <a:ext cx="3079843" cy="5104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defTabSz="449170">
              <a:buFont typeface="Times New Roman" pitchFamily="16" charset="0"/>
              <a:buNone/>
              <a:tabLst>
                <a:tab pos="723900" algn="l"/>
                <a:tab pos="1447800" algn="l"/>
                <a:tab pos="2171700" algn="l"/>
                <a:tab pos="2895600" algn="l"/>
              </a:tabLst>
              <a:defRPr sz="1400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defRPr>
            </a:lvl1pPr>
          </a:lstStyle>
          <a:p>
            <a:pPr>
              <a:defRPr/>
            </a:pPr>
            <a:fld id="{F3C752DE-243B-4F07-8278-8DA2CD0A3177}" type="slidenum">
              <a:rPr lang="fr-CA"/>
              <a:pPr>
                <a:defRPr/>
              </a:pPr>
              <a:t>‹N°›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xmlns="" val="318590982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46842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1pPr>
    <a:lvl2pPr marL="741565" indent="-285218" algn="l" defTabSz="446842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2pPr>
    <a:lvl3pPr marL="1140866" indent="-228175" algn="l" defTabSz="446842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3pPr>
    <a:lvl4pPr marL="1597216" indent="-228175" algn="l" defTabSz="446842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4pPr>
    <a:lvl5pPr marL="2053565" indent="-228175" algn="l" defTabSz="446842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5pPr>
    <a:lvl6pPr marL="2281265" algn="l" defTabSz="91250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37518" algn="l" defTabSz="91250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3770" algn="l" defTabSz="91250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0025" algn="l" defTabSz="91250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6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pPr defTabSz="447675">
              <a:buFont typeface="Times New Roman" pitchFamily="18" charset="0"/>
              <a:buNone/>
            </a:pPr>
            <a:fld id="{546272A0-FE2F-4F32-842C-D629C898BF81}" type="slidenum">
              <a:rPr lang="fr-CA" smtClean="0">
                <a:latin typeface="Times New Roman" pitchFamily="18" charset="0"/>
              </a:rPr>
              <a:pPr defTabSz="447675">
                <a:buFont typeface="Times New Roman" pitchFamily="18" charset="0"/>
                <a:buNone/>
              </a:pPr>
              <a:t>1</a:t>
            </a:fld>
            <a:endParaRPr lang="fr-CA" dirty="0">
              <a:latin typeface="Times New Roman" pitchFamily="18" charset="0"/>
            </a:endParaRPr>
          </a:p>
        </p:txBody>
      </p:sp>
      <p:sp>
        <p:nvSpPr>
          <p:cNvPr id="27651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0600" y="776288"/>
            <a:ext cx="5118100" cy="3838575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2765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10510" y="4860473"/>
            <a:ext cx="5679730" cy="4605252"/>
          </a:xfrm>
          <a:noFill/>
          <a:ln/>
        </p:spPr>
        <p:txBody>
          <a:bodyPr wrap="none" anchor="ctr"/>
          <a:lstStyle/>
          <a:p>
            <a:endParaRPr lang="fr-FR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8869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re 7"/>
          <p:cNvSpPr>
            <a:spLocks noGrp="1"/>
          </p:cNvSpPr>
          <p:nvPr>
            <p:ph type="ctrTitle"/>
          </p:nvPr>
        </p:nvSpPr>
        <p:spPr>
          <a:xfrm>
            <a:off x="2520156" y="3443852"/>
            <a:ext cx="6804422" cy="2088183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fr-FR"/>
              <a:t>Modifiez le style du titre</a:t>
            </a:r>
            <a:endParaRPr kumimoji="0" lang="en-US"/>
          </a:p>
        </p:txBody>
      </p:sp>
      <p:sp>
        <p:nvSpPr>
          <p:cNvPr id="9" name="Sous-titre 8"/>
          <p:cNvSpPr>
            <a:spLocks noGrp="1"/>
          </p:cNvSpPr>
          <p:nvPr>
            <p:ph type="subTitle" idx="1"/>
          </p:nvPr>
        </p:nvSpPr>
        <p:spPr>
          <a:xfrm>
            <a:off x="2520156" y="5515236"/>
            <a:ext cx="6804422" cy="1511935"/>
          </a:xfrm>
        </p:spPr>
        <p:txBody>
          <a:bodyPr/>
          <a:lstStyle>
            <a:lvl1pPr marL="0" indent="0" algn="l">
              <a:buNone/>
              <a:defRPr sz="2000" b="1">
                <a:solidFill>
                  <a:schemeClr val="tx2"/>
                </a:solidFill>
              </a:defRPr>
            </a:lvl1pPr>
            <a:lvl2pPr marL="503972" indent="0" algn="ctr">
              <a:buNone/>
            </a:lvl2pPr>
            <a:lvl3pPr marL="1007943" indent="0" algn="ctr">
              <a:buNone/>
            </a:lvl3pPr>
            <a:lvl4pPr marL="1511915" indent="0" algn="ctr">
              <a:buNone/>
            </a:lvl4pPr>
            <a:lvl5pPr marL="2015886" indent="0" algn="ctr">
              <a:buNone/>
            </a:lvl5pPr>
            <a:lvl6pPr marL="2519858" indent="0" algn="ctr">
              <a:buNone/>
            </a:lvl6pPr>
            <a:lvl7pPr marL="3023829" indent="0" algn="ctr">
              <a:buNone/>
            </a:lvl7pPr>
            <a:lvl8pPr marL="3527801" indent="0" algn="ctr">
              <a:buNone/>
            </a:lvl8pPr>
            <a:lvl9pPr marL="4031772" indent="0" algn="ctr">
              <a:buNone/>
            </a:lvl9pPr>
          </a:lstStyle>
          <a:p>
            <a:r>
              <a:rPr kumimoji="0" lang="fr-FR"/>
              <a:t>Modifiez le style des sous-titres du masque</a:t>
            </a:r>
            <a:endParaRPr kumimoji="0" lang="en-US"/>
          </a:p>
        </p:txBody>
      </p:sp>
      <p:sp>
        <p:nvSpPr>
          <p:cNvPr id="28" name="Espace réservé de la date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8560088" y="1294202"/>
            <a:ext cx="2519892" cy="420026"/>
          </a:xfrm>
        </p:spPr>
        <p:txBody>
          <a:bodyPr/>
          <a:lstStyle/>
          <a:p>
            <a:pPr>
              <a:defRPr/>
            </a:pPr>
            <a:endParaRPr lang="fr-CA" dirty="0"/>
          </a:p>
        </p:txBody>
      </p:sp>
      <p:sp>
        <p:nvSpPr>
          <p:cNvPr id="17" name="Espace réservé du pied de page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802409" y="4609494"/>
            <a:ext cx="4031827" cy="423386"/>
          </a:xfrm>
        </p:spPr>
        <p:txBody>
          <a:bodyPr/>
          <a:lstStyle/>
          <a:p>
            <a:pPr>
              <a:defRPr/>
            </a:pPr>
            <a:r>
              <a:rPr lang="fr-CA"/>
              <a:t>K. Amoura &amp; I. Ndiaye</a:t>
            </a:r>
            <a:endParaRPr lang="fr-CA" dirty="0"/>
          </a:p>
        </p:txBody>
      </p:sp>
      <p:sp>
        <p:nvSpPr>
          <p:cNvPr id="10" name="Rectangle 9"/>
          <p:cNvSpPr/>
          <p:nvPr/>
        </p:nvSpPr>
        <p:spPr bwMode="auto">
          <a:xfrm>
            <a:off x="420026" y="0"/>
            <a:ext cx="672042" cy="7559675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0794" tIns="50397" rIns="100794" bIns="50397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304641" y="0"/>
            <a:ext cx="115385" cy="7559675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0794" tIns="50397" rIns="100794" bIns="50397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ctangle 13"/>
          <p:cNvSpPr/>
          <p:nvPr/>
        </p:nvSpPr>
        <p:spPr bwMode="auto">
          <a:xfrm>
            <a:off x="1092068" y="0"/>
            <a:ext cx="200501" cy="7559675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0794" tIns="50397" rIns="100794" bIns="50397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 bwMode="auto">
          <a:xfrm>
            <a:off x="1258226" y="0"/>
            <a:ext cx="253868" cy="7559675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0794" tIns="50397" rIns="100794" bIns="50397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Connecteur droit 10"/>
          <p:cNvSpPr>
            <a:spLocks noChangeShapeType="1"/>
          </p:cNvSpPr>
          <p:nvPr/>
        </p:nvSpPr>
        <p:spPr bwMode="auto">
          <a:xfrm>
            <a:off x="117237" y="0"/>
            <a:ext cx="0" cy="7559675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0794" tIns="50397" rIns="100794" bIns="50397" anchor="t" compatLnSpc="1"/>
          <a:lstStyle/>
          <a:p>
            <a:endParaRPr kumimoji="0" lang="en-US"/>
          </a:p>
        </p:txBody>
      </p:sp>
      <p:sp>
        <p:nvSpPr>
          <p:cNvPr id="18" name="Connecteur droit 17"/>
          <p:cNvSpPr>
            <a:spLocks noChangeShapeType="1"/>
          </p:cNvSpPr>
          <p:nvPr/>
        </p:nvSpPr>
        <p:spPr bwMode="auto">
          <a:xfrm>
            <a:off x="1008063" y="0"/>
            <a:ext cx="0" cy="7559675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0794" tIns="50397" rIns="100794" bIns="50397" anchor="t" compatLnSpc="1"/>
          <a:lstStyle/>
          <a:p>
            <a:endParaRPr kumimoji="0" lang="en-US"/>
          </a:p>
        </p:txBody>
      </p:sp>
      <p:sp>
        <p:nvSpPr>
          <p:cNvPr id="20" name="Connecteur droit 19"/>
          <p:cNvSpPr>
            <a:spLocks noChangeShapeType="1"/>
          </p:cNvSpPr>
          <p:nvPr/>
        </p:nvSpPr>
        <p:spPr bwMode="auto">
          <a:xfrm>
            <a:off x="941599" y="0"/>
            <a:ext cx="0" cy="7559675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0794" tIns="50397" rIns="100794" bIns="50397" anchor="t" compatLnSpc="1"/>
          <a:lstStyle/>
          <a:p>
            <a:endParaRPr kumimoji="0" lang="en-US"/>
          </a:p>
        </p:txBody>
      </p:sp>
      <p:sp>
        <p:nvSpPr>
          <p:cNvPr id="16" name="Connecteur droit 15"/>
          <p:cNvSpPr>
            <a:spLocks noChangeShapeType="1"/>
          </p:cNvSpPr>
          <p:nvPr/>
        </p:nvSpPr>
        <p:spPr bwMode="auto">
          <a:xfrm>
            <a:off x="1903501" y="0"/>
            <a:ext cx="0" cy="7559675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0794" tIns="50397" rIns="100794" bIns="50397" anchor="t" compatLnSpc="1"/>
          <a:lstStyle/>
          <a:p>
            <a:endParaRPr kumimoji="0" lang="en-US"/>
          </a:p>
        </p:txBody>
      </p:sp>
      <p:sp>
        <p:nvSpPr>
          <p:cNvPr id="15" name="Connecteur droit 14"/>
          <p:cNvSpPr>
            <a:spLocks noChangeShapeType="1"/>
          </p:cNvSpPr>
          <p:nvPr/>
        </p:nvSpPr>
        <p:spPr bwMode="auto">
          <a:xfrm>
            <a:off x="1176073" y="0"/>
            <a:ext cx="0" cy="7559675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0794" tIns="50397" rIns="100794" bIns="50397" anchor="t" compatLnSpc="1"/>
          <a:lstStyle/>
          <a:p>
            <a:endParaRPr kumimoji="0" lang="en-US"/>
          </a:p>
        </p:txBody>
      </p:sp>
      <p:sp>
        <p:nvSpPr>
          <p:cNvPr id="22" name="Connecteur droit 21"/>
          <p:cNvSpPr>
            <a:spLocks noChangeShapeType="1"/>
          </p:cNvSpPr>
          <p:nvPr/>
        </p:nvSpPr>
        <p:spPr bwMode="auto">
          <a:xfrm>
            <a:off x="10047393" y="0"/>
            <a:ext cx="0" cy="7559675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0794" tIns="50397" rIns="100794" bIns="50397" anchor="t" compatLnSpc="1"/>
          <a:lstStyle/>
          <a:p>
            <a:endParaRPr kumimoji="0" lang="en-US"/>
          </a:p>
        </p:txBody>
      </p:sp>
      <p:sp>
        <p:nvSpPr>
          <p:cNvPr id="27" name="Rectangle 26"/>
          <p:cNvSpPr/>
          <p:nvPr/>
        </p:nvSpPr>
        <p:spPr bwMode="auto">
          <a:xfrm>
            <a:off x="1344083" y="0"/>
            <a:ext cx="84005" cy="7559675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0794" tIns="50397" rIns="100794" bIns="50397"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Ellipse 20"/>
          <p:cNvSpPr/>
          <p:nvPr/>
        </p:nvSpPr>
        <p:spPr bwMode="auto">
          <a:xfrm>
            <a:off x="672041" y="3779837"/>
            <a:ext cx="1428089" cy="1427939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0794" tIns="50397" rIns="100794" bIns="50397"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Ellipse 22"/>
          <p:cNvSpPr/>
          <p:nvPr/>
        </p:nvSpPr>
        <p:spPr bwMode="auto">
          <a:xfrm>
            <a:off x="1443779" y="5364693"/>
            <a:ext cx="707125" cy="707051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0794" tIns="50397" rIns="100794" bIns="50397"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Ellipse 23"/>
          <p:cNvSpPr/>
          <p:nvPr/>
        </p:nvSpPr>
        <p:spPr bwMode="auto">
          <a:xfrm>
            <a:off x="1202840" y="6063428"/>
            <a:ext cx="151209" cy="151194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0794" tIns="50397" rIns="100794" bIns="50397"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Ellipse 25"/>
          <p:cNvSpPr/>
          <p:nvPr/>
        </p:nvSpPr>
        <p:spPr bwMode="auto">
          <a:xfrm>
            <a:off x="1834674" y="6380366"/>
            <a:ext cx="302419" cy="302387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0794" tIns="50397" rIns="100794" bIns="50397"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Ellipse 24"/>
          <p:cNvSpPr/>
          <p:nvPr/>
        </p:nvSpPr>
        <p:spPr>
          <a:xfrm>
            <a:off x="2100130" y="4955787"/>
            <a:ext cx="403225" cy="403183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0794" tIns="50397" rIns="100794" bIns="50397"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Espace réservé du numéro de diapositive 28"/>
          <p:cNvSpPr>
            <a:spLocks noGrp="1"/>
          </p:cNvSpPr>
          <p:nvPr>
            <p:ph type="sldNum" sz="quarter" idx="12"/>
          </p:nvPr>
        </p:nvSpPr>
        <p:spPr bwMode="auto">
          <a:xfrm>
            <a:off x="1461320" y="5432981"/>
            <a:ext cx="672042" cy="570474"/>
          </a:xfrm>
        </p:spPr>
        <p:txBody>
          <a:bodyPr/>
          <a:lstStyle/>
          <a:p>
            <a:pPr>
              <a:defRPr/>
            </a:pPr>
            <a:fld id="{729A8005-3758-4093-8CCB-F980ED511ABC}" type="slidenum">
              <a:rPr lang="fr-CA" smtClean="0"/>
              <a:pPr>
                <a:defRPr/>
              </a:pPr>
              <a:t>‹N°›</a:t>
            </a:fld>
            <a:endParaRPr lang="fr-CA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/>
              <a:t>Modifiez le style du titre</a:t>
            </a:r>
            <a:endParaRPr kumimoji="0" lang="en-US"/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1"/>
          </p:nvPr>
        </p:nvSpPr>
        <p:spPr>
          <a:xfrm>
            <a:off x="504031" y="1763924"/>
            <a:ext cx="8232510" cy="5372409"/>
          </a:xfrm>
        </p:spPr>
        <p:txBody>
          <a:bodyPr/>
          <a:lstStyle/>
          <a:p>
            <a:pPr lvl="0" eaLnBrk="1" latinLnBrk="0" hangingPunct="1"/>
            <a:r>
              <a:rPr lang="fr-FR"/>
              <a:t>Modifiez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>
              <a:defRPr/>
            </a:pPr>
            <a:endParaRPr lang="fr-CA" dirty="0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pPr>
              <a:defRPr/>
            </a:pPr>
            <a:fld id="{218D9FF6-9B92-4F02-9E90-23F8F054E0DF}" type="slidenum">
              <a:rPr lang="fr-CA" smtClean="0"/>
              <a:pPr>
                <a:defRPr/>
              </a:pPr>
              <a:t>‹N°›</a:t>
            </a:fld>
            <a:endParaRPr lang="fr-CA" dirty="0"/>
          </a:p>
        </p:txBody>
      </p:sp>
      <p:sp>
        <p:nvSpPr>
          <p:cNvPr id="10" name="Espace réservé du pied de page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pPr>
              <a:defRPr/>
            </a:pPr>
            <a:r>
              <a:rPr lang="fr-CA"/>
              <a:t>K. Amoura &amp; I. Ndiaye</a:t>
            </a:r>
            <a:endParaRPr lang="fr-CA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520156" y="3191863"/>
            <a:ext cx="6804422" cy="2263703"/>
          </a:xfrm>
        </p:spPr>
        <p:txBody>
          <a:bodyPr/>
          <a:lstStyle>
            <a:lvl1pPr algn="l">
              <a:buNone/>
              <a:defRPr sz="3300" b="1" cap="small" baseline="0"/>
            </a:lvl1pPr>
          </a:lstStyle>
          <a:p>
            <a:r>
              <a:rPr kumimoji="0" lang="fr-FR"/>
              <a:t>Modifiez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2520156" y="5522763"/>
            <a:ext cx="6804422" cy="1511935"/>
          </a:xfrm>
        </p:spPr>
        <p:txBody>
          <a:bodyPr anchor="t"/>
          <a:lstStyle>
            <a:lvl1pPr marL="0" indent="0">
              <a:buNone/>
              <a:defRPr sz="2000" b="1">
                <a:solidFill>
                  <a:schemeClr val="tx2"/>
                </a:solidFill>
              </a:defRPr>
            </a:lvl1pPr>
            <a:lvl2pPr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8558583" y="1290163"/>
            <a:ext cx="2519892" cy="420026"/>
          </a:xfrm>
        </p:spPr>
        <p:txBody>
          <a:bodyPr/>
          <a:lstStyle/>
          <a:p>
            <a:pPr>
              <a:defRPr/>
            </a:pPr>
            <a:endParaRPr lang="fr-CA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802615" y="4606340"/>
            <a:ext cx="4031827" cy="423386"/>
          </a:xfrm>
        </p:spPr>
        <p:txBody>
          <a:bodyPr/>
          <a:lstStyle/>
          <a:p>
            <a:pPr>
              <a:defRPr/>
            </a:pPr>
            <a:r>
              <a:rPr lang="fr-CA"/>
              <a:t>K. Amoura &amp; I. Ndiaye</a:t>
            </a:r>
            <a:endParaRPr lang="fr-CA" dirty="0"/>
          </a:p>
        </p:txBody>
      </p:sp>
      <p:sp>
        <p:nvSpPr>
          <p:cNvPr id="9" name="Rectangle 8"/>
          <p:cNvSpPr/>
          <p:nvPr/>
        </p:nvSpPr>
        <p:spPr bwMode="auto">
          <a:xfrm>
            <a:off x="420026" y="0"/>
            <a:ext cx="672042" cy="7559675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0794" tIns="50397" rIns="100794" bIns="50397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304641" y="0"/>
            <a:ext cx="115385" cy="7559675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0794" tIns="50397" rIns="100794" bIns="50397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1092068" y="0"/>
            <a:ext cx="200501" cy="7559675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0794" tIns="50397" rIns="100794" bIns="50397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1258226" y="0"/>
            <a:ext cx="253868" cy="7559675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0794" tIns="50397" rIns="100794" bIns="50397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Connecteur droit 12"/>
          <p:cNvSpPr>
            <a:spLocks noChangeShapeType="1"/>
          </p:cNvSpPr>
          <p:nvPr/>
        </p:nvSpPr>
        <p:spPr bwMode="auto">
          <a:xfrm>
            <a:off x="117237" y="0"/>
            <a:ext cx="0" cy="7559675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0794" tIns="50397" rIns="100794" bIns="50397" anchor="t" compatLnSpc="1"/>
          <a:lstStyle/>
          <a:p>
            <a:endParaRPr kumimoji="0" lang="en-US"/>
          </a:p>
        </p:txBody>
      </p:sp>
      <p:sp>
        <p:nvSpPr>
          <p:cNvPr id="14" name="Connecteur droit 13"/>
          <p:cNvSpPr>
            <a:spLocks noChangeShapeType="1"/>
          </p:cNvSpPr>
          <p:nvPr/>
        </p:nvSpPr>
        <p:spPr bwMode="auto">
          <a:xfrm>
            <a:off x="1008063" y="0"/>
            <a:ext cx="0" cy="7559675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0794" tIns="50397" rIns="100794" bIns="50397" anchor="t" compatLnSpc="1"/>
          <a:lstStyle/>
          <a:p>
            <a:endParaRPr kumimoji="0" lang="en-US"/>
          </a:p>
        </p:txBody>
      </p:sp>
      <p:sp>
        <p:nvSpPr>
          <p:cNvPr id="15" name="Connecteur droit 14"/>
          <p:cNvSpPr>
            <a:spLocks noChangeShapeType="1"/>
          </p:cNvSpPr>
          <p:nvPr/>
        </p:nvSpPr>
        <p:spPr bwMode="auto">
          <a:xfrm>
            <a:off x="941599" y="0"/>
            <a:ext cx="0" cy="7559675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0794" tIns="50397" rIns="100794" bIns="50397" anchor="t" compatLnSpc="1"/>
          <a:lstStyle/>
          <a:p>
            <a:endParaRPr kumimoji="0" lang="en-US"/>
          </a:p>
        </p:txBody>
      </p:sp>
      <p:sp>
        <p:nvSpPr>
          <p:cNvPr id="16" name="Connecteur droit 15"/>
          <p:cNvSpPr>
            <a:spLocks noChangeShapeType="1"/>
          </p:cNvSpPr>
          <p:nvPr/>
        </p:nvSpPr>
        <p:spPr bwMode="auto">
          <a:xfrm>
            <a:off x="1903501" y="0"/>
            <a:ext cx="0" cy="7559675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0794" tIns="50397" rIns="100794" bIns="50397" anchor="t" compatLnSpc="1"/>
          <a:lstStyle/>
          <a:p>
            <a:endParaRPr kumimoji="0" lang="en-US"/>
          </a:p>
        </p:txBody>
      </p:sp>
      <p:sp>
        <p:nvSpPr>
          <p:cNvPr id="17" name="Connecteur droit 16"/>
          <p:cNvSpPr>
            <a:spLocks noChangeShapeType="1"/>
          </p:cNvSpPr>
          <p:nvPr/>
        </p:nvSpPr>
        <p:spPr bwMode="auto">
          <a:xfrm>
            <a:off x="1176073" y="0"/>
            <a:ext cx="0" cy="7559675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0794" tIns="50397" rIns="100794" bIns="50397" anchor="t" compatLnSpc="1"/>
          <a:lstStyle/>
          <a:p>
            <a:endParaRPr kumimoji="0" lang="en-US"/>
          </a:p>
        </p:txBody>
      </p:sp>
      <p:sp>
        <p:nvSpPr>
          <p:cNvPr id="18" name="Rectangle 17"/>
          <p:cNvSpPr/>
          <p:nvPr/>
        </p:nvSpPr>
        <p:spPr bwMode="auto">
          <a:xfrm>
            <a:off x="1344083" y="0"/>
            <a:ext cx="84005" cy="7559675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0794" tIns="50397" rIns="100794" bIns="50397"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Ellipse 18"/>
          <p:cNvSpPr/>
          <p:nvPr/>
        </p:nvSpPr>
        <p:spPr bwMode="auto">
          <a:xfrm>
            <a:off x="672041" y="3779837"/>
            <a:ext cx="1428089" cy="1427939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0794" tIns="50397" rIns="100794" bIns="50397"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Ellipse 19"/>
          <p:cNvSpPr/>
          <p:nvPr/>
        </p:nvSpPr>
        <p:spPr bwMode="auto">
          <a:xfrm>
            <a:off x="1460394" y="5364693"/>
            <a:ext cx="707125" cy="707051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0794" tIns="50397" rIns="100794" bIns="50397"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Ellipse 20"/>
          <p:cNvSpPr/>
          <p:nvPr/>
        </p:nvSpPr>
        <p:spPr bwMode="auto">
          <a:xfrm>
            <a:off x="1202840" y="6063428"/>
            <a:ext cx="151209" cy="151194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0794" tIns="50397" rIns="100794" bIns="50397"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Ellipse 21"/>
          <p:cNvSpPr/>
          <p:nvPr/>
        </p:nvSpPr>
        <p:spPr bwMode="auto">
          <a:xfrm>
            <a:off x="1834674" y="6383726"/>
            <a:ext cx="302419" cy="302387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0794" tIns="50397" rIns="100794" bIns="50397"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Ellipse 22"/>
          <p:cNvSpPr/>
          <p:nvPr/>
        </p:nvSpPr>
        <p:spPr bwMode="auto">
          <a:xfrm>
            <a:off x="2071511" y="4938247"/>
            <a:ext cx="403225" cy="403183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0794" tIns="50397" rIns="100794" bIns="50397"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Connecteur droit 25"/>
          <p:cNvSpPr>
            <a:spLocks noChangeShapeType="1"/>
          </p:cNvSpPr>
          <p:nvPr/>
        </p:nvSpPr>
        <p:spPr bwMode="auto">
          <a:xfrm>
            <a:off x="10029851" y="0"/>
            <a:ext cx="0" cy="7559675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0794" tIns="50397" rIns="100794" bIns="50397" anchor="t" compatLnSpc="1"/>
          <a:lstStyle/>
          <a:p>
            <a:endParaRPr kumimoji="0"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>
          <a:xfrm>
            <a:off x="1477936" y="5432981"/>
            <a:ext cx="672042" cy="570474"/>
          </a:xfrm>
        </p:spPr>
        <p:txBody>
          <a:bodyPr/>
          <a:lstStyle/>
          <a:p>
            <a:pPr>
              <a:defRPr/>
            </a:pPr>
            <a:fld id="{FC2DD7CC-7C0E-417B-BBB8-0CA69B49BFE6}" type="slidenum">
              <a:rPr lang="fr-CA" smtClean="0"/>
              <a:pPr>
                <a:defRPr/>
              </a:pPr>
              <a:t>‹N°›</a:t>
            </a:fld>
            <a:endParaRPr lang="fr-CA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/>
              <a:t>Modifiez le style du titre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fr-CA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CA"/>
              <a:t>K. Amoura &amp; I. Ndiaye</a:t>
            </a:r>
            <a:endParaRPr lang="fr-CA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6688F9F-EA6B-4BC5-98D8-BD614BE94D05}" type="slidenum">
              <a:rPr lang="fr-CA" smtClean="0"/>
              <a:pPr>
                <a:defRPr/>
              </a:pPr>
              <a:t>‹N°›</a:t>
            </a:fld>
            <a:endParaRPr lang="fr-CA" dirty="0"/>
          </a:p>
        </p:txBody>
      </p:sp>
      <p:sp>
        <p:nvSpPr>
          <p:cNvPr id="9" name="Espace réservé du contenu 8"/>
          <p:cNvSpPr>
            <a:spLocks noGrp="1"/>
          </p:cNvSpPr>
          <p:nvPr>
            <p:ph sz="quarter" idx="1"/>
          </p:nvPr>
        </p:nvSpPr>
        <p:spPr>
          <a:xfrm>
            <a:off x="504031" y="1763924"/>
            <a:ext cx="4032250" cy="5039783"/>
          </a:xfrm>
        </p:spPr>
        <p:txBody>
          <a:bodyPr/>
          <a:lstStyle/>
          <a:p>
            <a:pPr lvl="0" eaLnBrk="1" latinLnBrk="0" hangingPunct="1"/>
            <a:r>
              <a:rPr lang="fr-FR"/>
              <a:t>Modifiez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11" name="Espace réservé du contenu 10"/>
          <p:cNvSpPr>
            <a:spLocks noGrp="1"/>
          </p:cNvSpPr>
          <p:nvPr>
            <p:ph sz="quarter" idx="2"/>
          </p:nvPr>
        </p:nvSpPr>
        <p:spPr>
          <a:xfrm>
            <a:off x="4707652" y="1763924"/>
            <a:ext cx="4032250" cy="5039783"/>
          </a:xfrm>
        </p:spPr>
        <p:txBody>
          <a:bodyPr/>
          <a:lstStyle/>
          <a:p>
            <a:pPr lvl="0" eaLnBrk="1" latinLnBrk="0" hangingPunct="1"/>
            <a:r>
              <a:rPr lang="fr-FR"/>
              <a:t>Modifiez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4031" y="300987"/>
            <a:ext cx="8316516" cy="1259946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fr-FR"/>
              <a:t>Modifiez le style du titre</a:t>
            </a:r>
            <a:endParaRPr kumimoji="0" lang="en-US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fr-CA" dirty="0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CA"/>
              <a:t>K. Amoura &amp; I. Ndiaye</a:t>
            </a:r>
            <a:endParaRPr lang="fr-CA" dirty="0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5790B6-AA77-42D7-AFC9-9ADFCF507B37}" type="slidenum">
              <a:rPr lang="fr-CA" smtClean="0"/>
              <a:pPr>
                <a:defRPr/>
              </a:pPr>
              <a:t>‹N°›</a:t>
            </a:fld>
            <a:endParaRPr lang="fr-CA" dirty="0"/>
          </a:p>
        </p:txBody>
      </p:sp>
      <p:sp>
        <p:nvSpPr>
          <p:cNvPr id="11" name="Espace réservé du contenu 10"/>
          <p:cNvSpPr>
            <a:spLocks noGrp="1"/>
          </p:cNvSpPr>
          <p:nvPr>
            <p:ph sz="quarter" idx="2"/>
          </p:nvPr>
        </p:nvSpPr>
        <p:spPr>
          <a:xfrm>
            <a:off x="504031" y="2603888"/>
            <a:ext cx="4032250" cy="4283816"/>
          </a:xfrm>
        </p:spPr>
        <p:txBody>
          <a:bodyPr/>
          <a:lstStyle/>
          <a:p>
            <a:pPr lvl="0" eaLnBrk="1" latinLnBrk="0" hangingPunct="1"/>
            <a:r>
              <a:rPr lang="fr-FR"/>
              <a:t>Modifiez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13" name="Espace réservé du contenu 12"/>
          <p:cNvSpPr>
            <a:spLocks noGrp="1"/>
          </p:cNvSpPr>
          <p:nvPr>
            <p:ph sz="quarter" idx="4"/>
          </p:nvPr>
        </p:nvSpPr>
        <p:spPr>
          <a:xfrm>
            <a:off x="4819799" y="2603888"/>
            <a:ext cx="4032250" cy="4283816"/>
          </a:xfrm>
        </p:spPr>
        <p:txBody>
          <a:bodyPr/>
          <a:lstStyle/>
          <a:p>
            <a:pPr lvl="0" eaLnBrk="1" latinLnBrk="0" hangingPunct="1"/>
            <a:r>
              <a:rPr lang="fr-FR"/>
              <a:t>Modifiez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12" name="Espace réservé du texte 11"/>
          <p:cNvSpPr>
            <a:spLocks noGrp="1"/>
          </p:cNvSpPr>
          <p:nvPr>
            <p:ph type="body" sz="quarter" idx="1"/>
          </p:nvPr>
        </p:nvSpPr>
        <p:spPr>
          <a:xfrm>
            <a:off x="504031" y="1730326"/>
            <a:ext cx="4032250" cy="725729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fr-FR"/>
              <a:t>Modifiez les styles du texte du masque</a:t>
            </a:r>
          </a:p>
        </p:txBody>
      </p:sp>
      <p:sp>
        <p:nvSpPr>
          <p:cNvPr id="14" name="Espace réservé du texte 13"/>
          <p:cNvSpPr>
            <a:spLocks noGrp="1"/>
          </p:cNvSpPr>
          <p:nvPr>
            <p:ph type="body" sz="quarter" idx="3"/>
          </p:nvPr>
        </p:nvSpPr>
        <p:spPr>
          <a:xfrm>
            <a:off x="4788297" y="1730326"/>
            <a:ext cx="4032250" cy="725729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fr-FR"/>
              <a:t>Modifiez les styles du texte du masque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/>
              <a:t>Modifiez le style du titre</a:t>
            </a:r>
            <a:endParaRPr kumimoji="0" lang="en-US"/>
          </a:p>
        </p:txBody>
      </p:sp>
      <p:sp>
        <p:nvSpPr>
          <p:cNvPr id="6" name="Espace réservé de la date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>
              <a:defRPr/>
            </a:pPr>
            <a:endParaRPr lang="fr-CA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>
              <a:defRPr/>
            </a:pPr>
            <a:fld id="{EDF17C5A-C09D-4B46-A8A8-04BC7B2569F2}" type="slidenum">
              <a:rPr lang="fr-CA" smtClean="0"/>
              <a:pPr>
                <a:defRPr/>
              </a:pPr>
              <a:t>‹N°›</a:t>
            </a:fld>
            <a:endParaRPr lang="fr-CA" dirty="0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>
              <a:defRPr/>
            </a:pPr>
            <a:r>
              <a:rPr lang="fr-CA"/>
              <a:t>K. Amoura &amp; I. Ndiaye</a:t>
            </a:r>
            <a:endParaRPr lang="fr-CA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fr-CA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CA"/>
              <a:t>K. Amoura &amp; I. Ndiaye</a:t>
            </a:r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F4775CE-F241-4693-BB8F-C04D6B0CFBA6}" type="slidenum">
              <a:rPr lang="fr-CA" smtClean="0"/>
              <a:pPr>
                <a:defRPr/>
              </a:pPr>
              <a:t>‹N°›</a:t>
            </a:fld>
            <a:endParaRPr lang="fr-CA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necteur droit 9"/>
          <p:cNvSpPr>
            <a:spLocks noChangeShapeType="1"/>
          </p:cNvSpPr>
          <p:nvPr/>
        </p:nvSpPr>
        <p:spPr bwMode="auto">
          <a:xfrm>
            <a:off x="9660599" y="0"/>
            <a:ext cx="0" cy="7559675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0794" tIns="50397" rIns="100794" bIns="50397" anchor="t" compatLnSpc="1"/>
          <a:lstStyle/>
          <a:p>
            <a:endParaRPr kumimoji="0" lang="en-US" dirty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 rot="5400000">
            <a:off x="3717596" y="3527822"/>
            <a:ext cx="6954901" cy="504031"/>
          </a:xfrm>
        </p:spPr>
        <p:txBody>
          <a:bodyPr anchor="b"/>
          <a:lstStyle>
            <a:lvl1pPr algn="l">
              <a:buNone/>
              <a:defRPr sz="2200" b="1" cap="small" baseline="0"/>
            </a:lvl1pPr>
          </a:lstStyle>
          <a:p>
            <a:r>
              <a:rPr kumimoji="0" lang="fr-FR"/>
              <a:t>Modifiez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7510066" y="302387"/>
            <a:ext cx="1683464" cy="5493364"/>
          </a:xfrm>
        </p:spPr>
        <p:txBody>
          <a:bodyPr/>
          <a:lstStyle>
            <a:lvl1pPr marL="0" indent="0">
              <a:spcBef>
                <a:spcPts val="441"/>
              </a:spcBef>
              <a:spcAft>
                <a:spcPts val="1102"/>
              </a:spcAft>
              <a:buNone/>
              <a:defRPr sz="1300"/>
            </a:lvl1pPr>
            <a:lvl2pPr>
              <a:buNone/>
              <a:defRPr sz="1300"/>
            </a:lvl2pPr>
            <a:lvl3pPr>
              <a:buNone/>
              <a:defRPr sz="1100"/>
            </a:lvl3pPr>
            <a:lvl4pPr>
              <a:buNone/>
              <a:defRPr sz="1000"/>
            </a:lvl4pPr>
            <a:lvl5pPr>
              <a:buNone/>
              <a:defRPr sz="1000"/>
            </a:lvl5pPr>
          </a:lstStyle>
          <a:p>
            <a:pPr lvl="0" eaLnBrk="1" latinLnBrk="0" hangingPunct="1"/>
            <a:r>
              <a:rPr kumimoji="0" lang="fr-FR"/>
              <a:t>Modifiez les styles du texte du masque</a:t>
            </a:r>
          </a:p>
        </p:txBody>
      </p:sp>
      <p:sp>
        <p:nvSpPr>
          <p:cNvPr id="8" name="Connecteur droit 7"/>
          <p:cNvSpPr>
            <a:spLocks noChangeShapeType="1"/>
          </p:cNvSpPr>
          <p:nvPr/>
        </p:nvSpPr>
        <p:spPr bwMode="auto">
          <a:xfrm>
            <a:off x="6888427" y="0"/>
            <a:ext cx="0" cy="7559675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0794" tIns="50397" rIns="100794" bIns="50397" anchor="t" compatLnSpc="1"/>
          <a:lstStyle/>
          <a:p>
            <a:endParaRPr kumimoji="0" lang="en-US" dirty="0"/>
          </a:p>
        </p:txBody>
      </p:sp>
      <p:sp>
        <p:nvSpPr>
          <p:cNvPr id="9" name="Connecteur droit 8"/>
          <p:cNvSpPr>
            <a:spLocks noChangeShapeType="1"/>
          </p:cNvSpPr>
          <p:nvPr/>
        </p:nvSpPr>
        <p:spPr bwMode="auto">
          <a:xfrm>
            <a:off x="6826576" y="0"/>
            <a:ext cx="0" cy="7559675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0794" tIns="50397" rIns="100794" bIns="50397" anchor="t" compatLnSpc="1"/>
          <a:lstStyle/>
          <a:p>
            <a:endParaRPr kumimoji="0" lang="en-US" dirty="0"/>
          </a:p>
        </p:txBody>
      </p:sp>
      <p:sp>
        <p:nvSpPr>
          <p:cNvPr id="11" name="Connecteur droit 10"/>
          <p:cNvSpPr>
            <a:spLocks noChangeShapeType="1"/>
          </p:cNvSpPr>
          <p:nvPr/>
        </p:nvSpPr>
        <p:spPr bwMode="auto">
          <a:xfrm>
            <a:off x="9912615" y="0"/>
            <a:ext cx="0" cy="7559675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0794" tIns="50397" rIns="100794" bIns="50397" anchor="t" compatLnSpc="1"/>
          <a:lstStyle/>
          <a:p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9744604" y="0"/>
            <a:ext cx="336021" cy="7559675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0794" tIns="50397" rIns="100794" bIns="50397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Connecteur droit 12"/>
          <p:cNvSpPr>
            <a:spLocks noChangeShapeType="1"/>
          </p:cNvSpPr>
          <p:nvPr/>
        </p:nvSpPr>
        <p:spPr bwMode="auto">
          <a:xfrm>
            <a:off x="9828609" y="0"/>
            <a:ext cx="0" cy="7559675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0794" tIns="50397" rIns="100794" bIns="50397" anchor="t" compatLnSpc="1"/>
          <a:lstStyle/>
          <a:p>
            <a:endParaRPr kumimoji="0" lang="en-US"/>
          </a:p>
        </p:txBody>
      </p:sp>
      <p:sp>
        <p:nvSpPr>
          <p:cNvPr id="14" name="Ellipse 13"/>
          <p:cNvSpPr/>
          <p:nvPr/>
        </p:nvSpPr>
        <p:spPr>
          <a:xfrm>
            <a:off x="8991917" y="6299729"/>
            <a:ext cx="604838" cy="604774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0794" tIns="50397" rIns="100794" bIns="50397"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Espace réservé du contenu 17"/>
          <p:cNvSpPr>
            <a:spLocks noGrp="1"/>
          </p:cNvSpPr>
          <p:nvPr>
            <p:ph sz="quarter" idx="1"/>
          </p:nvPr>
        </p:nvSpPr>
        <p:spPr>
          <a:xfrm>
            <a:off x="336021" y="302387"/>
            <a:ext cx="6216385" cy="6975060"/>
          </a:xfrm>
        </p:spPr>
        <p:txBody>
          <a:bodyPr/>
          <a:lstStyle/>
          <a:p>
            <a:pPr lvl="0" eaLnBrk="1" latinLnBrk="0" hangingPunct="1"/>
            <a:r>
              <a:rPr lang="fr-FR"/>
              <a:t>Modifiez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21" name="Espace réservé de la date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>
              <a:defRPr/>
            </a:pPr>
            <a:endParaRPr lang="fr-CA" dirty="0"/>
          </a:p>
        </p:txBody>
      </p:sp>
      <p:sp>
        <p:nvSpPr>
          <p:cNvPr id="22" name="Espace réservé du numéro de diapositive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pPr>
              <a:defRPr/>
            </a:pPr>
            <a:fld id="{B624066D-6800-47E2-B3B4-8CF456A91E40}" type="slidenum">
              <a:rPr lang="fr-CA" smtClean="0"/>
              <a:pPr>
                <a:defRPr/>
              </a:pPr>
              <a:t>‹N°›</a:t>
            </a:fld>
            <a:endParaRPr lang="fr-CA" dirty="0"/>
          </a:p>
        </p:txBody>
      </p:sp>
      <p:sp>
        <p:nvSpPr>
          <p:cNvPr id="23" name="Espace réservé du pied de page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pPr>
              <a:defRPr/>
            </a:pPr>
            <a:r>
              <a:rPr lang="fr-CA"/>
              <a:t>K. Amoura &amp; I. Ndiaye</a:t>
            </a:r>
            <a:endParaRPr lang="fr-CA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necteur droit 8"/>
          <p:cNvSpPr>
            <a:spLocks noChangeShapeType="1"/>
          </p:cNvSpPr>
          <p:nvPr/>
        </p:nvSpPr>
        <p:spPr bwMode="auto">
          <a:xfrm>
            <a:off x="9660599" y="0"/>
            <a:ext cx="0" cy="7559675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0794" tIns="50397" rIns="100794" bIns="50397" anchor="t" compatLnSpc="1"/>
          <a:lstStyle/>
          <a:p>
            <a:endParaRPr kumimoji="0" lang="en-US"/>
          </a:p>
        </p:txBody>
      </p:sp>
      <p:sp>
        <p:nvSpPr>
          <p:cNvPr id="13" name="Ellipse 12"/>
          <p:cNvSpPr/>
          <p:nvPr/>
        </p:nvSpPr>
        <p:spPr>
          <a:xfrm>
            <a:off x="8991917" y="6299729"/>
            <a:ext cx="604838" cy="604774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0794" tIns="50397" rIns="100794" bIns="50397"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 rot="5400000">
            <a:off x="3693654" y="3527822"/>
            <a:ext cx="6954901" cy="504031"/>
          </a:xfrm>
        </p:spPr>
        <p:txBody>
          <a:bodyPr anchor="b"/>
          <a:lstStyle>
            <a:lvl1pPr algn="l">
              <a:buNone/>
              <a:defRPr sz="2200" b="1"/>
            </a:lvl1pPr>
          </a:lstStyle>
          <a:p>
            <a:r>
              <a:rPr kumimoji="0" lang="fr-FR"/>
              <a:t>Modifiez le style du titre</a:t>
            </a:r>
            <a:endParaRPr kumimoji="0"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0" y="0"/>
            <a:ext cx="6804422" cy="7559675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500"/>
            </a:lvl1pPr>
          </a:lstStyle>
          <a:p>
            <a:pPr algn="ctr" eaLnBrk="1" latinLnBrk="0" hangingPunct="1">
              <a:buFontTx/>
              <a:buNone/>
            </a:pPr>
            <a:r>
              <a:rPr kumimoji="0" lang="fr-FR"/>
              <a:t>Cliquez sur l'icône pour ajouter une image</a:t>
            </a:r>
            <a:endParaRPr kumimoji="0" lang="en-US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7458823" y="291888"/>
            <a:ext cx="1680104" cy="5463125"/>
          </a:xfrm>
        </p:spPr>
        <p:txBody>
          <a:bodyPr rot="0" spcFirstLastPara="0" vertOverflow="overflow" horzOverflow="overflow" vert="horz" wrap="square" lIns="100794" tIns="50397" rIns="100794" bIns="50397" numCol="1" spcCol="302383" rtlCol="0" fromWordArt="0" anchor="t" anchorCtr="0" forceAA="0" compatLnSpc="1">
            <a:normAutofit/>
          </a:bodyPr>
          <a:lstStyle>
            <a:lvl1pPr marL="0" indent="0">
              <a:spcBef>
                <a:spcPts val="110"/>
              </a:spcBef>
              <a:spcAft>
                <a:spcPts val="441"/>
              </a:spcAft>
              <a:buFontTx/>
              <a:buNone/>
              <a:defRPr sz="1300"/>
            </a:lvl1pPr>
            <a:lvl2pPr>
              <a:defRPr sz="1300"/>
            </a:lvl2pPr>
            <a:lvl3pPr>
              <a:defRPr sz="1100"/>
            </a:lvl3pPr>
            <a:lvl4pPr>
              <a:defRPr sz="1000"/>
            </a:lvl4pPr>
            <a:lvl5pPr>
              <a:defRPr sz="1000"/>
            </a:lvl5pPr>
          </a:lstStyle>
          <a:p>
            <a:pPr lvl="0" eaLnBrk="1" latinLnBrk="0" hangingPunct="1"/>
            <a:r>
              <a:rPr kumimoji="0" lang="fr-FR"/>
              <a:t>Modifiez les styles du texte du masque</a:t>
            </a:r>
          </a:p>
        </p:txBody>
      </p:sp>
      <p:sp>
        <p:nvSpPr>
          <p:cNvPr id="10" name="Connecteur droit 9"/>
          <p:cNvSpPr>
            <a:spLocks noChangeShapeType="1"/>
          </p:cNvSpPr>
          <p:nvPr/>
        </p:nvSpPr>
        <p:spPr bwMode="auto">
          <a:xfrm>
            <a:off x="9912615" y="0"/>
            <a:ext cx="0" cy="7559675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0794" tIns="50397" rIns="100794" bIns="50397" anchor="t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9744604" y="0"/>
            <a:ext cx="336021" cy="7559675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0794" tIns="50397" rIns="100794" bIns="50397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necteur droit 11"/>
          <p:cNvSpPr>
            <a:spLocks noChangeShapeType="1"/>
          </p:cNvSpPr>
          <p:nvPr/>
        </p:nvSpPr>
        <p:spPr bwMode="auto">
          <a:xfrm>
            <a:off x="9828609" y="0"/>
            <a:ext cx="0" cy="7559675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0794" tIns="50397" rIns="100794" bIns="50397" anchor="t" compatLnSpc="1"/>
          <a:lstStyle/>
          <a:p>
            <a:endParaRPr kumimoji="0" lang="en-US"/>
          </a:p>
        </p:txBody>
      </p:sp>
      <p:sp>
        <p:nvSpPr>
          <p:cNvPr id="19" name="Connecteur droit 18"/>
          <p:cNvSpPr>
            <a:spLocks noChangeShapeType="1"/>
          </p:cNvSpPr>
          <p:nvPr/>
        </p:nvSpPr>
        <p:spPr bwMode="auto">
          <a:xfrm>
            <a:off x="6888427" y="0"/>
            <a:ext cx="0" cy="7559675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0794" tIns="50397" rIns="100794" bIns="50397" anchor="t" compatLnSpc="1"/>
          <a:lstStyle/>
          <a:p>
            <a:endParaRPr kumimoji="0" lang="en-US" dirty="0"/>
          </a:p>
        </p:txBody>
      </p:sp>
      <p:sp>
        <p:nvSpPr>
          <p:cNvPr id="20" name="Connecteur droit 19"/>
          <p:cNvSpPr>
            <a:spLocks noChangeShapeType="1"/>
          </p:cNvSpPr>
          <p:nvPr/>
        </p:nvSpPr>
        <p:spPr bwMode="auto">
          <a:xfrm>
            <a:off x="6826576" y="0"/>
            <a:ext cx="0" cy="7559675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0794" tIns="50397" rIns="100794" bIns="50397" anchor="t" compatLnSpc="1"/>
          <a:lstStyle/>
          <a:p>
            <a:endParaRPr kumimoji="0" lang="en-US" dirty="0"/>
          </a:p>
        </p:txBody>
      </p:sp>
      <p:sp>
        <p:nvSpPr>
          <p:cNvPr id="17" name="Espace réservé de la date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>
              <a:defRPr/>
            </a:pPr>
            <a:endParaRPr lang="fr-CA" dirty="0"/>
          </a:p>
        </p:txBody>
      </p:sp>
      <p:sp>
        <p:nvSpPr>
          <p:cNvPr id="18" name="Espace réservé du numéro de diapositive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>
              <a:defRPr/>
            </a:pPr>
            <a:fld id="{880893D8-46FC-476A-B292-1FBAB5761443}" type="slidenum">
              <a:rPr lang="fr-CA" smtClean="0"/>
              <a:pPr>
                <a:defRPr/>
              </a:pPr>
              <a:t>‹N°›</a:t>
            </a:fld>
            <a:endParaRPr lang="fr-CA" dirty="0"/>
          </a:p>
        </p:txBody>
      </p:sp>
      <p:sp>
        <p:nvSpPr>
          <p:cNvPr id="21" name="Espace réservé du pied de page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>
              <a:defRPr/>
            </a:pPr>
            <a:r>
              <a:rPr lang="fr-CA"/>
              <a:t>K. Amoura &amp; I. Ndiaye</a:t>
            </a:r>
            <a:endParaRPr lang="fr-CA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/>
              <a:t>Modifiez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fr-FR"/>
              <a:t>Modifiez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fr-CA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CA"/>
              <a:t>K. Amoura &amp; I. Ndiaye</a:t>
            </a:r>
            <a:endParaRPr lang="fr-CA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554752-A5E4-4C17-8242-00F7B42D5A37}" type="slidenum">
              <a:rPr lang="fr-CA" smtClean="0"/>
              <a:pPr>
                <a:defRPr/>
              </a:pPr>
              <a:t>‹N°›</a:t>
            </a:fld>
            <a:endParaRPr lang="fr-CA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308453" y="302739"/>
            <a:ext cx="1848115" cy="6450223"/>
          </a:xfrm>
        </p:spPr>
        <p:txBody>
          <a:bodyPr vert="eaVert"/>
          <a:lstStyle/>
          <a:p>
            <a:r>
              <a:rPr kumimoji="0" lang="fr-FR"/>
              <a:t>Modifiez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504031" y="302738"/>
            <a:ext cx="6636411" cy="6450223"/>
          </a:xfrm>
        </p:spPr>
        <p:txBody>
          <a:bodyPr vert="eaVert"/>
          <a:lstStyle/>
          <a:p>
            <a:pPr lvl="0" eaLnBrk="1" latinLnBrk="0" hangingPunct="1"/>
            <a:r>
              <a:rPr lang="fr-FR"/>
              <a:t>Modifiez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fr-CA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fr-CA"/>
              <a:t>K. Amoura &amp; I. Ndiaye</a:t>
            </a:r>
            <a:endParaRPr lang="fr-CA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AD4920C-306A-46F0-A93A-0C91226A1B7A}" type="slidenum">
              <a:rPr lang="fr-CA" smtClean="0"/>
              <a:pPr>
                <a:defRPr/>
              </a:pPr>
              <a:t>‹N°›</a:t>
            </a:fld>
            <a:endParaRPr lang="fr-CA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necteur droit 15"/>
          <p:cNvSpPr>
            <a:spLocks noChangeShapeType="1"/>
          </p:cNvSpPr>
          <p:nvPr/>
        </p:nvSpPr>
        <p:spPr bwMode="auto">
          <a:xfrm>
            <a:off x="9660599" y="0"/>
            <a:ext cx="0" cy="7559675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0794" tIns="50397" rIns="100794" bIns="50397" anchor="t" compatLnSpc="1"/>
          <a:lstStyle/>
          <a:p>
            <a:endParaRPr kumimoji="0" lang="en-US" dirty="0"/>
          </a:p>
        </p:txBody>
      </p:sp>
      <p:sp>
        <p:nvSpPr>
          <p:cNvPr id="22" name="Espace réservé du titre 21"/>
          <p:cNvSpPr>
            <a:spLocks noGrp="1"/>
          </p:cNvSpPr>
          <p:nvPr>
            <p:ph type="title"/>
          </p:nvPr>
        </p:nvSpPr>
        <p:spPr>
          <a:xfrm>
            <a:off x="504031" y="302737"/>
            <a:ext cx="8232510" cy="1259946"/>
          </a:xfrm>
          <a:prstGeom prst="rect">
            <a:avLst/>
          </a:prstGeom>
        </p:spPr>
        <p:txBody>
          <a:bodyPr vert="horz" lIns="100794" tIns="50397" rIns="100794" bIns="50397" anchor="b">
            <a:normAutofit/>
          </a:bodyPr>
          <a:lstStyle/>
          <a:p>
            <a:r>
              <a:rPr kumimoji="0" lang="fr-FR"/>
              <a:t>Modifiez le style du titre</a:t>
            </a:r>
            <a:endParaRPr kumimoji="0" lang="en-US"/>
          </a:p>
        </p:txBody>
      </p:sp>
      <p:sp>
        <p:nvSpPr>
          <p:cNvPr id="13" name="Espace réservé du texte 12"/>
          <p:cNvSpPr>
            <a:spLocks noGrp="1"/>
          </p:cNvSpPr>
          <p:nvPr>
            <p:ph type="body" idx="1"/>
          </p:nvPr>
        </p:nvSpPr>
        <p:spPr>
          <a:xfrm>
            <a:off x="504031" y="1763924"/>
            <a:ext cx="8232510" cy="5372409"/>
          </a:xfrm>
          <a:prstGeom prst="rect">
            <a:avLst/>
          </a:prstGeom>
        </p:spPr>
        <p:txBody>
          <a:bodyPr vert="horz" lIns="100794" tIns="50397" rIns="100794" bIns="50397">
            <a:normAutofit/>
          </a:bodyPr>
          <a:lstStyle/>
          <a:p>
            <a:pPr lvl="0" eaLnBrk="1" latinLnBrk="0" hangingPunct="1"/>
            <a:r>
              <a:rPr kumimoji="0" lang="fr-FR"/>
              <a:t>Modifiez les styles du texte du masque</a:t>
            </a:r>
          </a:p>
          <a:p>
            <a:pPr lvl="1" eaLnBrk="1" latinLnBrk="0" hangingPunct="1"/>
            <a:r>
              <a:rPr kumimoji="0" lang="fr-FR"/>
              <a:t>Deuxième niveau</a:t>
            </a:r>
          </a:p>
          <a:p>
            <a:pPr lvl="2" eaLnBrk="1" latinLnBrk="0" hangingPunct="1"/>
            <a:r>
              <a:rPr kumimoji="0" lang="fr-FR"/>
              <a:t>Troisième niveau</a:t>
            </a:r>
          </a:p>
          <a:p>
            <a:pPr lvl="3" eaLnBrk="1" latinLnBrk="0" hangingPunct="1"/>
            <a:r>
              <a:rPr kumimoji="0" lang="fr-FR"/>
              <a:t>Quatrième niveau</a:t>
            </a:r>
          </a:p>
          <a:p>
            <a:pPr lvl="4" eaLnBrk="1" latinLnBrk="0" hangingPunct="1"/>
            <a:r>
              <a:rPr kumimoji="0" lang="fr-FR"/>
              <a:t>Cinquième niveau</a:t>
            </a:r>
            <a:endParaRPr kumimoji="0" lang="en-US"/>
          </a:p>
        </p:txBody>
      </p:sp>
      <p:sp>
        <p:nvSpPr>
          <p:cNvPr id="14" name="Espace réservé de la date 13"/>
          <p:cNvSpPr>
            <a:spLocks noGrp="1"/>
          </p:cNvSpPr>
          <p:nvPr>
            <p:ph type="dt" sz="half" idx="2"/>
          </p:nvPr>
        </p:nvSpPr>
        <p:spPr>
          <a:xfrm rot="5400000">
            <a:off x="8367035" y="1192518"/>
            <a:ext cx="2217505" cy="423386"/>
          </a:xfrm>
          <a:prstGeom prst="rect">
            <a:avLst/>
          </a:prstGeom>
        </p:spPr>
        <p:txBody>
          <a:bodyPr vert="horz" lIns="100794" tIns="50397" rIns="100794" bIns="50397" anchor="ctr" anchorCtr="0"/>
          <a:lstStyle>
            <a:lvl1pPr algn="r" eaLnBrk="1" latinLnBrk="0" hangingPunct="1">
              <a:defRPr kumimoji="0" sz="13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fr-CA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 rot="5400000">
            <a:off x="7706380" y="4119594"/>
            <a:ext cx="3527848" cy="403225"/>
          </a:xfrm>
          <a:prstGeom prst="rect">
            <a:avLst/>
          </a:prstGeom>
        </p:spPr>
        <p:txBody>
          <a:bodyPr vert="horz" lIns="100794" tIns="50397" rIns="100794" bIns="50397" anchor="ctr" anchorCtr="0"/>
          <a:lstStyle>
            <a:lvl1pPr algn="l" eaLnBrk="1" latinLnBrk="0" hangingPunct="1">
              <a:defRPr kumimoji="0" sz="13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fr-CA"/>
              <a:t>K. Amoura &amp; I. Ndiaye</a:t>
            </a:r>
            <a:endParaRPr lang="fr-CA" dirty="0"/>
          </a:p>
        </p:txBody>
      </p:sp>
      <p:sp>
        <p:nvSpPr>
          <p:cNvPr id="7" name="Connecteur droit 6"/>
          <p:cNvSpPr>
            <a:spLocks noChangeShapeType="1"/>
          </p:cNvSpPr>
          <p:nvPr/>
        </p:nvSpPr>
        <p:spPr bwMode="auto">
          <a:xfrm>
            <a:off x="84005" y="0"/>
            <a:ext cx="0" cy="7559675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0794" tIns="50397" rIns="100794" bIns="50397" anchor="t" compatLnSpc="1"/>
          <a:lstStyle/>
          <a:p>
            <a:endParaRPr kumimoji="0" lang="en-US"/>
          </a:p>
        </p:txBody>
      </p:sp>
      <p:sp>
        <p:nvSpPr>
          <p:cNvPr id="9" name="Connecteur droit 8"/>
          <p:cNvSpPr>
            <a:spLocks noChangeShapeType="1"/>
          </p:cNvSpPr>
          <p:nvPr/>
        </p:nvSpPr>
        <p:spPr bwMode="auto">
          <a:xfrm>
            <a:off x="9912615" y="0"/>
            <a:ext cx="0" cy="7559675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0794" tIns="50397" rIns="100794" bIns="50397" anchor="t" compatLnSpc="1"/>
          <a:lstStyle/>
          <a:p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9744604" y="0"/>
            <a:ext cx="336021" cy="7559675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0794" tIns="50397" rIns="100794" bIns="50397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Connecteur droit 10"/>
          <p:cNvSpPr>
            <a:spLocks noChangeShapeType="1"/>
          </p:cNvSpPr>
          <p:nvPr/>
        </p:nvSpPr>
        <p:spPr bwMode="auto">
          <a:xfrm>
            <a:off x="9828609" y="0"/>
            <a:ext cx="0" cy="7559675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0794" tIns="50397" rIns="100794" bIns="50397" anchor="t" compatLnSpc="1"/>
          <a:lstStyle/>
          <a:p>
            <a:endParaRPr kumimoji="0" lang="en-US"/>
          </a:p>
        </p:txBody>
      </p:sp>
      <p:sp>
        <p:nvSpPr>
          <p:cNvPr id="12" name="Ellipse 11"/>
          <p:cNvSpPr/>
          <p:nvPr/>
        </p:nvSpPr>
        <p:spPr>
          <a:xfrm>
            <a:off x="8991917" y="6299729"/>
            <a:ext cx="604838" cy="604774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0794" tIns="50397" rIns="100794" bIns="50397"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4"/>
          </p:nvPr>
        </p:nvSpPr>
        <p:spPr>
          <a:xfrm>
            <a:off x="8961675" y="6320728"/>
            <a:ext cx="672042" cy="574535"/>
          </a:xfrm>
          <a:prstGeom prst="rect">
            <a:avLst/>
          </a:prstGeom>
        </p:spPr>
        <p:txBody>
          <a:bodyPr vert="horz" lIns="100794" tIns="50397" rIns="100794" bIns="50397" anchor="ctr"/>
          <a:lstStyle>
            <a:lvl1pPr algn="ctr" eaLnBrk="1" latinLnBrk="0" hangingPunct="1">
              <a:defRPr kumimoji="0" sz="1500" b="1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47B54195-1CF5-4B6C-83E3-FE61C5847EDD}" type="slidenum">
              <a:rPr lang="fr-CA" smtClean="0"/>
              <a:pPr>
                <a:defRPr/>
              </a:pPr>
              <a:t>‹N°›</a:t>
            </a:fld>
            <a:endParaRPr lang="fr-CA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53" r:id="rId1"/>
    <p:sldLayoutId id="2147484254" r:id="rId2"/>
    <p:sldLayoutId id="2147484255" r:id="rId3"/>
    <p:sldLayoutId id="2147484256" r:id="rId4"/>
    <p:sldLayoutId id="2147484257" r:id="rId5"/>
    <p:sldLayoutId id="2147484258" r:id="rId6"/>
    <p:sldLayoutId id="2147484259" r:id="rId7"/>
    <p:sldLayoutId id="2147484260" r:id="rId8"/>
    <p:sldLayoutId id="2147484261" r:id="rId9"/>
    <p:sldLayoutId id="2147484262" r:id="rId10"/>
    <p:sldLayoutId id="2147484263" r:id="rId11"/>
  </p:sldLayoutIdLst>
  <p:hf hdr="0" dt="0"/>
  <p:txStyles>
    <p:titleStyle>
      <a:lvl1pPr algn="l" rtl="0" eaLnBrk="1" latinLnBrk="0" hangingPunct="1">
        <a:spcBef>
          <a:spcPct val="0"/>
        </a:spcBef>
        <a:buNone/>
        <a:defRPr kumimoji="0" sz="33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02383" indent="-302383" algn="l" rtl="0" eaLnBrk="1" latinLnBrk="0" hangingPunct="1">
        <a:spcBef>
          <a:spcPts val="661"/>
        </a:spcBef>
        <a:buClr>
          <a:schemeClr val="accent1"/>
        </a:buClr>
        <a:buSzPct val="70000"/>
        <a:buFont typeface="Wingdings"/>
        <a:buChar char="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705560" indent="-302383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indent="-201589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10326" indent="-201589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612709" indent="-201589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915092" indent="-201589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6pPr>
      <a:lvl7pPr marL="2217475" indent="-201589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5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519858" indent="-201589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5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822241" indent="-201589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5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4.png"/><Relationship Id="rId4" Type="http://schemas.openxmlformats.org/officeDocument/2006/relationships/oleObject" Target="../embeddings/oleObject2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6.bin"/><Relationship Id="rId5" Type="http://schemas.openxmlformats.org/officeDocument/2006/relationships/oleObject" Target="../embeddings/oleObject5.bin"/><Relationship Id="rId4" Type="http://schemas.openxmlformats.org/officeDocument/2006/relationships/oleObject" Target="../embeddings/oleObject4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6.png"/><Relationship Id="rId5" Type="http://schemas.openxmlformats.org/officeDocument/2006/relationships/oleObject" Target="../embeddings/oleObject12.bin"/><Relationship Id="rId4" Type="http://schemas.openxmlformats.org/officeDocument/2006/relationships/oleObject" Target="../embeddings/oleObject11.bin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7" Type="http://schemas.openxmlformats.org/officeDocument/2006/relationships/oleObject" Target="../embeddings/oleObject2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20.bin"/><Relationship Id="rId5" Type="http://schemas.openxmlformats.org/officeDocument/2006/relationships/oleObject" Target="../embeddings/oleObject19.bin"/><Relationship Id="rId4" Type="http://schemas.openxmlformats.org/officeDocument/2006/relationships/oleObject" Target="../embeddings/oleObject18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5" Type="http://schemas.openxmlformats.org/officeDocument/2006/relationships/oleObject" Target="../embeddings/oleObject24.bin"/><Relationship Id="rId4" Type="http://schemas.openxmlformats.org/officeDocument/2006/relationships/oleObject" Target="../embeddings/oleObject23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4" Type="http://schemas.openxmlformats.org/officeDocument/2006/relationships/oleObject" Target="../embeddings/oleObject26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4" Type="http://schemas.openxmlformats.org/officeDocument/2006/relationships/oleObject" Target="../embeddings/oleObject28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34.bin"/><Relationship Id="rId5" Type="http://schemas.openxmlformats.org/officeDocument/2006/relationships/oleObject" Target="../embeddings/oleObject33.bin"/><Relationship Id="rId4" Type="http://schemas.openxmlformats.org/officeDocument/2006/relationships/oleObject" Target="../embeddings/oleObject32.bin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6.bin"/><Relationship Id="rId7" Type="http://schemas.openxmlformats.org/officeDocument/2006/relationships/oleObject" Target="../embeddings/oleObject4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39.bin"/><Relationship Id="rId5" Type="http://schemas.openxmlformats.org/officeDocument/2006/relationships/oleObject" Target="../embeddings/oleObject38.bin"/><Relationship Id="rId4" Type="http://schemas.openxmlformats.org/officeDocument/2006/relationships/oleObject" Target="../embeddings/oleObject37.bin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1"/>
          <p:cNvSpPr txBox="1">
            <a:spLocks noChangeArrowheads="1"/>
          </p:cNvSpPr>
          <p:nvPr/>
        </p:nvSpPr>
        <p:spPr bwMode="auto">
          <a:xfrm>
            <a:off x="647825" y="3923853"/>
            <a:ext cx="8847138" cy="2376264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89812" tIns="76592" rIns="89812" bIns="44905"/>
          <a:lstStyle/>
          <a:p>
            <a:pPr>
              <a:tabLst>
                <a:tab pos="720965" algn="l"/>
                <a:tab pos="1443516" algn="l"/>
                <a:tab pos="2166067" algn="l"/>
                <a:tab pos="2888618" algn="l"/>
                <a:tab pos="3611168" algn="l"/>
                <a:tab pos="4333719" algn="l"/>
                <a:tab pos="5056268" algn="l"/>
                <a:tab pos="5778817" algn="l"/>
                <a:tab pos="6501370" algn="l"/>
                <a:tab pos="7223919" algn="l"/>
                <a:tab pos="7944886" algn="l"/>
                <a:tab pos="8667433" algn="l"/>
              </a:tabLst>
            </a:pPr>
            <a:endParaRPr lang="fr-CA" dirty="0">
              <a:solidFill>
                <a:schemeClr val="accent3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tabLst>
                <a:tab pos="720965" algn="l"/>
                <a:tab pos="1443516" algn="l"/>
                <a:tab pos="2166067" algn="l"/>
                <a:tab pos="2888618" algn="l"/>
                <a:tab pos="3611168" algn="l"/>
                <a:tab pos="4333719" algn="l"/>
                <a:tab pos="5056268" algn="l"/>
                <a:tab pos="5778817" algn="l"/>
                <a:tab pos="6501370" algn="l"/>
                <a:tab pos="7223919" algn="l"/>
                <a:tab pos="7944886" algn="l"/>
                <a:tab pos="8667433" algn="l"/>
              </a:tabLst>
            </a:pPr>
            <a:r>
              <a:rPr lang="fr-CA" dirty="0"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</a:t>
            </a:r>
          </a:p>
          <a:p>
            <a:pPr>
              <a:tabLst>
                <a:tab pos="720965" algn="l"/>
                <a:tab pos="1443516" algn="l"/>
                <a:tab pos="2166067" algn="l"/>
                <a:tab pos="2888618" algn="l"/>
                <a:tab pos="3611168" algn="l"/>
                <a:tab pos="4333719" algn="l"/>
                <a:tab pos="5056268" algn="l"/>
                <a:tab pos="5778817" algn="l"/>
                <a:tab pos="6501370" algn="l"/>
                <a:tab pos="7223919" algn="l"/>
                <a:tab pos="7944886" algn="l"/>
                <a:tab pos="8667433" algn="l"/>
              </a:tabLst>
            </a:pPr>
            <a:r>
              <a:rPr lang="fr-CA" dirty="0"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</a:t>
            </a:r>
          </a:p>
          <a:p>
            <a:pPr>
              <a:tabLst>
                <a:tab pos="720965" algn="l"/>
                <a:tab pos="1443516" algn="l"/>
                <a:tab pos="2166067" algn="l"/>
                <a:tab pos="2888618" algn="l"/>
                <a:tab pos="3611168" algn="l"/>
                <a:tab pos="4333719" algn="l"/>
                <a:tab pos="5056268" algn="l"/>
                <a:tab pos="5778817" algn="l"/>
                <a:tab pos="6501370" algn="l"/>
                <a:tab pos="7223919" algn="l"/>
                <a:tab pos="7944886" algn="l"/>
                <a:tab pos="8667433" algn="l"/>
              </a:tabLst>
            </a:pPr>
            <a:endParaRPr lang="fr-CA" dirty="0">
              <a:solidFill>
                <a:schemeClr val="tx1">
                  <a:lumMod val="50000"/>
                  <a:lumOff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tabLst>
                <a:tab pos="720965" algn="l"/>
                <a:tab pos="1443516" algn="l"/>
                <a:tab pos="2166067" algn="l"/>
                <a:tab pos="2888618" algn="l"/>
                <a:tab pos="3611168" algn="l"/>
                <a:tab pos="4333719" algn="l"/>
                <a:tab pos="5056268" algn="l"/>
                <a:tab pos="5778817" algn="l"/>
                <a:tab pos="6501370" algn="l"/>
                <a:tab pos="7223919" algn="l"/>
                <a:tab pos="7944886" algn="l"/>
                <a:tab pos="8667433" algn="l"/>
              </a:tabLst>
            </a:pPr>
            <a:endParaRPr lang="fr-CA" dirty="0">
              <a:solidFill>
                <a:schemeClr val="tx1">
                  <a:lumMod val="50000"/>
                  <a:lumOff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tabLst>
                <a:tab pos="720965" algn="l"/>
                <a:tab pos="1443516" algn="l"/>
                <a:tab pos="2166067" algn="l"/>
                <a:tab pos="2888618" algn="l"/>
                <a:tab pos="3611168" algn="l"/>
                <a:tab pos="4333719" algn="l"/>
                <a:tab pos="5056268" algn="l"/>
                <a:tab pos="5778817" algn="l"/>
                <a:tab pos="6501370" algn="l"/>
                <a:tab pos="7223919" algn="l"/>
                <a:tab pos="7944886" algn="l"/>
                <a:tab pos="8667433" algn="l"/>
              </a:tabLst>
            </a:pPr>
            <a:endParaRPr lang="fr-CA" dirty="0">
              <a:solidFill>
                <a:schemeClr val="tx1">
                  <a:lumMod val="50000"/>
                  <a:lumOff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tabLst>
                <a:tab pos="720965" algn="l"/>
                <a:tab pos="1443516" algn="l"/>
                <a:tab pos="2166067" algn="l"/>
                <a:tab pos="2888618" algn="l"/>
                <a:tab pos="3611168" algn="l"/>
                <a:tab pos="4333719" algn="l"/>
                <a:tab pos="5056268" algn="l"/>
                <a:tab pos="5778817" algn="l"/>
                <a:tab pos="6501370" algn="l"/>
                <a:tab pos="7223919" algn="l"/>
                <a:tab pos="7944886" algn="l"/>
                <a:tab pos="8667433" algn="l"/>
              </a:tabLst>
            </a:pPr>
            <a:r>
              <a:rPr lang="fr-CA" dirty="0"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</a:t>
            </a:r>
          </a:p>
          <a:p>
            <a:pPr algn="ctr">
              <a:tabLst>
                <a:tab pos="720965" algn="l"/>
                <a:tab pos="1443516" algn="l"/>
                <a:tab pos="2166067" algn="l"/>
                <a:tab pos="2888618" algn="l"/>
                <a:tab pos="3611168" algn="l"/>
                <a:tab pos="4333719" algn="l"/>
                <a:tab pos="5056268" algn="l"/>
                <a:tab pos="5778817" algn="l"/>
                <a:tab pos="6501370" algn="l"/>
                <a:tab pos="7223919" algn="l"/>
                <a:tab pos="7944886" algn="l"/>
                <a:tab pos="8667433" algn="l"/>
              </a:tabLst>
            </a:pPr>
            <a:endParaRPr lang="fr-CA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>
              <a:tabLst>
                <a:tab pos="720965" algn="l"/>
                <a:tab pos="1443516" algn="l"/>
                <a:tab pos="2166067" algn="l"/>
                <a:tab pos="2888618" algn="l"/>
                <a:tab pos="3611168" algn="l"/>
                <a:tab pos="4333719" algn="l"/>
                <a:tab pos="5056268" algn="l"/>
                <a:tab pos="5778817" algn="l"/>
                <a:tab pos="6501370" algn="l"/>
                <a:tab pos="7223919" algn="l"/>
                <a:tab pos="7944886" algn="l"/>
                <a:tab pos="8667433" algn="l"/>
              </a:tabLst>
            </a:pPr>
            <a:endParaRPr lang="fr-CA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>
              <a:tabLst>
                <a:tab pos="720965" algn="l"/>
                <a:tab pos="1443516" algn="l"/>
                <a:tab pos="2166067" algn="l"/>
                <a:tab pos="2888618" algn="l"/>
                <a:tab pos="3611168" algn="l"/>
                <a:tab pos="4333719" algn="l"/>
                <a:tab pos="5056268" algn="l"/>
                <a:tab pos="5778817" algn="l"/>
                <a:tab pos="6501370" algn="l"/>
                <a:tab pos="7223919" algn="l"/>
                <a:tab pos="7944886" algn="l"/>
                <a:tab pos="8667433" algn="l"/>
              </a:tabLst>
            </a:pPr>
            <a:r>
              <a:rPr lang="fr-CA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fr-CA" sz="3600" b="1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  <p:sp>
        <p:nvSpPr>
          <p:cNvPr id="7173" name="Text Box 4"/>
          <p:cNvSpPr txBox="1">
            <a:spLocks noChangeArrowheads="1"/>
          </p:cNvSpPr>
          <p:nvPr/>
        </p:nvSpPr>
        <p:spPr bwMode="auto">
          <a:xfrm>
            <a:off x="325407" y="422252"/>
            <a:ext cx="9136797" cy="683346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89812" tIns="64272" rIns="89812" bIns="44905"/>
          <a:lstStyle/>
          <a:p>
            <a:pPr algn="ctr"/>
            <a:r>
              <a:rPr lang="fr-CA" sz="3600" b="1" i="1" dirty="0">
                <a:latin typeface="Times New Roman" pitchFamily="18" charset="0"/>
                <a:cs typeface="Times New Roman" pitchFamily="18" charset="0"/>
              </a:rPr>
              <a:t>École de Technologie Supérieure</a:t>
            </a:r>
          </a:p>
          <a:p>
            <a:pPr algn="ctr"/>
            <a:r>
              <a:rPr lang="fr-CA" sz="2400" b="1" dirty="0">
                <a:latin typeface="Times New Roman" pitchFamily="18" charset="0"/>
                <a:cs typeface="Times New Roman" pitchFamily="18" charset="0"/>
              </a:rPr>
              <a:t>Mat144</a:t>
            </a:r>
            <a:r>
              <a:rPr lang="fr-CA" sz="2400" b="1" i="1" dirty="0">
                <a:latin typeface="Times New Roman" pitchFamily="18" charset="0"/>
                <a:cs typeface="Times New Roman" pitchFamily="18" charset="0"/>
              </a:rPr>
              <a:t> – Introduction aux mathématiques du génie</a:t>
            </a:r>
          </a:p>
          <a:p>
            <a:pPr algn="ctr"/>
            <a:endParaRPr lang="fr-FR" sz="2400" i="1" dirty="0">
              <a:latin typeface="Times New Roman" pitchFamily="18" charset="0"/>
              <a:cs typeface="Times New Roman" pitchFamily="18" charset="0"/>
            </a:endParaRPr>
          </a:p>
          <a:p>
            <a:endParaRPr lang="fr-CA" sz="3600" b="1" dirty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fr-CA" sz="3600" b="1" dirty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fr-CA" sz="3600" b="1" dirty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fr-CA" sz="3600" b="1" dirty="0">
                <a:latin typeface="Times New Roman" pitchFamily="18" charset="0"/>
                <a:cs typeface="Times New Roman" pitchFamily="18" charset="0"/>
              </a:rPr>
              <a:t>Chapitre 6</a:t>
            </a:r>
          </a:p>
          <a:p>
            <a:pPr algn="ctr"/>
            <a:endParaRPr lang="fr-CA" sz="3600" b="1" i="1" dirty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fr-CA" sz="3800" b="1" i="1" smtClean="0">
                <a:latin typeface="Times New Roman" pitchFamily="18" charset="0"/>
                <a:cs typeface="Times New Roman" pitchFamily="18" charset="0"/>
              </a:rPr>
              <a:t>Fonctions </a:t>
            </a:r>
            <a:r>
              <a:rPr lang="fr-CA" sz="3800" b="1" i="1" dirty="0">
                <a:latin typeface="Times New Roman" pitchFamily="18" charset="0"/>
                <a:cs typeface="Times New Roman" pitchFamily="18" charset="0"/>
              </a:rPr>
              <a:t>polynomiales et </a:t>
            </a:r>
          </a:p>
          <a:p>
            <a:pPr algn="ctr"/>
            <a:r>
              <a:rPr lang="fr-CA" sz="3800" b="1" i="1" dirty="0">
                <a:latin typeface="Times New Roman" pitchFamily="18" charset="0"/>
                <a:cs typeface="Times New Roman" pitchFamily="18" charset="0"/>
              </a:rPr>
              <a:t>rationnelles</a:t>
            </a:r>
            <a:endParaRPr lang="fr-CA" sz="3800" b="1" dirty="0"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fr-CA" sz="3800" b="1" i="1" dirty="0">
              <a:solidFill>
                <a:schemeClr val="bg2">
                  <a:lumMod val="2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fr-CA" sz="4000" b="1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  <a:p>
            <a:pPr algn="ctr"/>
            <a:endParaRPr lang="fr-CA" sz="4000" b="1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  <a:p>
            <a:pPr algn="ctr"/>
            <a:endParaRPr lang="fr-CA" sz="4000" b="1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  <a:p>
            <a:pPr algn="ctr"/>
            <a:endParaRPr lang="fr-CA" sz="2800" b="1" dirty="0">
              <a:latin typeface="+mj-lt"/>
            </a:endParaRPr>
          </a:p>
          <a:p>
            <a:pPr algn="ctr"/>
            <a:endParaRPr lang="fr-CA" sz="2800" b="1" dirty="0">
              <a:latin typeface="+mj-lt"/>
            </a:endParaRPr>
          </a:p>
          <a:p>
            <a:pPr algn="ctr"/>
            <a:r>
              <a:rPr lang="fr-CA" sz="2800" b="1" dirty="0">
                <a:latin typeface="+mj-lt"/>
              </a:rPr>
              <a:t> </a:t>
            </a:r>
          </a:p>
          <a:p>
            <a:pPr algn="ctr"/>
            <a:endParaRPr lang="fr-CA" sz="2800" b="1" dirty="0">
              <a:latin typeface="+mj-lt"/>
            </a:endParaRPr>
          </a:p>
          <a:p>
            <a:pPr algn="ctr"/>
            <a:endParaRPr lang="fr-CA" sz="2800" b="1" dirty="0">
              <a:latin typeface="+mj-lt"/>
            </a:endParaRPr>
          </a:p>
          <a:p>
            <a:pPr algn="ctr"/>
            <a:endParaRPr lang="fr-CA" sz="2800" b="1" dirty="0">
              <a:latin typeface="+mj-lt"/>
            </a:endParaRPr>
          </a:p>
          <a:p>
            <a:pPr algn="ctr"/>
            <a:endParaRPr lang="fr-CA" sz="2800" b="1" dirty="0">
              <a:latin typeface="+mj-lt"/>
            </a:endParaRPr>
          </a:p>
          <a:p>
            <a:pPr algn="ctr"/>
            <a:r>
              <a:rPr lang="fr-CA" sz="2800" b="1" dirty="0">
                <a:latin typeface="+mj-lt"/>
              </a:rPr>
              <a:t> </a:t>
            </a:r>
          </a:p>
          <a:p>
            <a:pPr algn="ctr"/>
            <a:endParaRPr lang="fr-CA" sz="2800" dirty="0">
              <a:latin typeface="+mj-lt"/>
            </a:endParaRPr>
          </a:p>
          <a:p>
            <a:pPr algn="ctr"/>
            <a:endParaRPr lang="fr-CA" sz="2800" dirty="0">
              <a:latin typeface="+mj-lt"/>
            </a:endParaRPr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FB357D-18D7-4764-9D03-3E1CB6297520}" type="slidenum">
              <a:rPr lang="fr-CA" smtClean="0"/>
              <a:pPr/>
              <a:t>1</a:t>
            </a:fld>
            <a:endParaRPr lang="fr-CA" dirty="0"/>
          </a:p>
        </p:txBody>
      </p:sp>
      <p:sp>
        <p:nvSpPr>
          <p:cNvPr id="9" name="Rectangle 8"/>
          <p:cNvSpPr/>
          <p:nvPr/>
        </p:nvSpPr>
        <p:spPr>
          <a:xfrm>
            <a:off x="503808" y="6804173"/>
            <a:ext cx="3492981" cy="349794"/>
          </a:xfrm>
          <a:prstGeom prst="rect">
            <a:avLst/>
          </a:prstGeom>
        </p:spPr>
        <p:txBody>
          <a:bodyPr wrap="none" lIns="91268" tIns="45634" rIns="91268" bIns="45634">
            <a:spAutoFit/>
          </a:bodyPr>
          <a:lstStyle/>
          <a:p>
            <a:r>
              <a:rPr lang="fr-CA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K. Amoura, </a:t>
            </a:r>
            <a:r>
              <a:rPr lang="fr-CA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K.Mahni</a:t>
            </a:r>
            <a:r>
              <a:rPr lang="fr-CA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&amp; I. Ndiaye</a:t>
            </a:r>
            <a:endParaRPr lang="fr-CA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59793" y="539478"/>
            <a:ext cx="9433048" cy="882908"/>
          </a:xfrm>
        </p:spPr>
        <p:txBody>
          <a:bodyPr>
            <a:normAutofit/>
          </a:bodyPr>
          <a:lstStyle/>
          <a:p>
            <a:pPr algn="ctr"/>
            <a:r>
              <a:rPr lang="fr-CA" sz="4400" b="1" i="1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Times New Roman" pitchFamily="18" charset="0"/>
                <a:cs typeface="Times New Roman" pitchFamily="18" charset="0"/>
              </a:rPr>
              <a:t>Plan</a:t>
            </a:r>
            <a:endParaRPr lang="fr-FR" sz="4400" b="1" i="1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503238" y="1493842"/>
            <a:ext cx="9074150" cy="5478479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fr-CA" sz="2200" dirty="0">
                <a:latin typeface="Times New Roman" pitchFamily="18" charset="0"/>
                <a:cs typeface="Times New Roman" pitchFamily="18" charset="0"/>
              </a:rPr>
              <a:t>6.1 - Fonctions linéaires</a:t>
            </a:r>
          </a:p>
          <a:p>
            <a:pPr algn="just">
              <a:lnSpc>
                <a:spcPct val="150000"/>
              </a:lnSpc>
            </a:pPr>
            <a:r>
              <a:rPr lang="fr-CA" sz="2000" dirty="0">
                <a:latin typeface="Times New Roman" pitchFamily="18" charset="0"/>
                <a:cs typeface="Times New Roman" pitchFamily="18" charset="0"/>
              </a:rPr>
              <a:t>6.2 - Fonctions quadratiques</a:t>
            </a:r>
          </a:p>
          <a:p>
            <a:pPr algn="just">
              <a:lnSpc>
                <a:spcPct val="150000"/>
              </a:lnSpc>
            </a:pPr>
            <a:r>
              <a:rPr lang="fr-CA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18" charset="0"/>
                <a:cs typeface="Times New Roman" pitchFamily="18" charset="0"/>
              </a:rPr>
              <a:t>6.3 -</a:t>
            </a:r>
            <a:r>
              <a:rPr lang="fr-CA" sz="2000" dirty="0">
                <a:latin typeface="Times New Roman" pitchFamily="18" charset="0"/>
                <a:cs typeface="Times New Roman" pitchFamily="18" charset="0"/>
              </a:rPr>
              <a:t> Fonctions polynomiales </a:t>
            </a:r>
          </a:p>
          <a:p>
            <a:pPr algn="just">
              <a:lnSpc>
                <a:spcPct val="150000"/>
              </a:lnSpc>
            </a:pPr>
            <a:r>
              <a:rPr lang="fr-CA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18" charset="0"/>
                <a:cs typeface="Times New Roman" pitchFamily="18" charset="0"/>
              </a:rPr>
              <a:t>6.4 – </a:t>
            </a:r>
            <a:r>
              <a:rPr lang="fr-CA" sz="2000" dirty="0">
                <a:latin typeface="Times New Roman" pitchFamily="18" charset="0"/>
                <a:cs typeface="Times New Roman" pitchFamily="18" charset="0"/>
              </a:rPr>
              <a:t>Fonctions rationnelles</a:t>
            </a:r>
            <a:endParaRPr lang="fr-CA" sz="2000" dirty="0">
              <a:solidFill>
                <a:schemeClr val="tx1">
                  <a:lumMod val="85000"/>
                  <a:lumOff val="1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5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218D9FF6-9B92-4F02-9E90-23F8F054E0DF}" type="slidenum">
              <a:rPr lang="fr-CA" smtClean="0"/>
              <a:pPr>
                <a:defRPr/>
              </a:pPr>
              <a:t>2</a:t>
            </a:fld>
            <a:endParaRPr lang="fr-CA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15776" y="179437"/>
            <a:ext cx="9382199" cy="7200800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fr-CA" sz="28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18" charset="0"/>
                <a:cs typeface="Times New Roman" pitchFamily="18" charset="0"/>
              </a:rPr>
              <a:t>6.1-</a:t>
            </a:r>
            <a:r>
              <a:rPr lang="fr-CA" sz="2800" dirty="0">
                <a:latin typeface="Times New Roman" pitchFamily="18" charset="0"/>
                <a:cs typeface="Times New Roman" pitchFamily="18" charset="0"/>
              </a:rPr>
              <a:t> F</a:t>
            </a:r>
            <a:r>
              <a:rPr lang="fr-CA" sz="2800" b="1" i="1" dirty="0">
                <a:latin typeface="Times New Roman" pitchFamily="18" charset="0"/>
                <a:cs typeface="Times New Roman" pitchFamily="18" charset="0"/>
              </a:rPr>
              <a:t>onction linéaire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fr-FR" sz="2400" b="1" i="1" u="sng" dirty="0">
                <a:latin typeface="Times New Roman" pitchFamily="18" charset="0"/>
                <a:cs typeface="Times New Roman" pitchFamily="18" charset="0"/>
              </a:rPr>
              <a:t>Définition</a:t>
            </a:r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Une </a:t>
            </a:r>
            <a:r>
              <a:rPr lang="fr-FR" sz="2200" b="1" dirty="0">
                <a:latin typeface="Times New Roman" pitchFamily="18" charset="0"/>
                <a:cs typeface="Times New Roman" pitchFamily="18" charset="0"/>
              </a:rPr>
              <a:t>fonction linéaire </a:t>
            </a:r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est une fonction de la forme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                    où </a:t>
            </a:r>
            <a:r>
              <a:rPr lang="fr-FR" sz="2200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 et </a:t>
            </a:r>
            <a:r>
              <a:rPr lang="fr-FR" sz="2200" i="1" dirty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 sont des nombres réels. On l’écrit aussi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fr-FR" sz="2400" b="1" i="1" u="sng" dirty="0">
                <a:latin typeface="Times New Roman" pitchFamily="18" charset="0"/>
                <a:cs typeface="Times New Roman" pitchFamily="18" charset="0"/>
              </a:rPr>
              <a:t>Exemple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fr-FR" sz="20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fr-FR" sz="22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fr-FR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fr-FR" sz="2400" b="1" i="1" u="sng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fr-CA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218D9FF6-9B92-4F02-9E90-23F8F054E0DF}" type="slidenum">
              <a:rPr lang="fr-CA" smtClean="0"/>
              <a:pPr>
                <a:defRPr/>
              </a:pPr>
              <a:t>3</a:t>
            </a:fld>
            <a:endParaRPr lang="fr-CA" dirty="0"/>
          </a:p>
        </p:txBody>
      </p:sp>
      <p:graphicFrame>
        <p:nvGraphicFramePr>
          <p:cNvPr id="5" name="Obje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226998903"/>
              </p:ext>
            </p:extLst>
          </p:nvPr>
        </p:nvGraphicFramePr>
        <p:xfrm>
          <a:off x="7560592" y="1200497"/>
          <a:ext cx="1836738" cy="419100"/>
        </p:xfrm>
        <a:graphic>
          <a:graphicData uri="http://schemas.openxmlformats.org/presentationml/2006/ole">
            <p:oleObj spid="_x0000_s160097" name="Equation" r:id="rId3" imgW="888840" imgH="203040" progId="Equation.DSMT4">
              <p:embed/>
            </p:oleObj>
          </a:graphicData>
        </a:graphic>
      </p:graphicFrame>
      <p:graphicFrame>
        <p:nvGraphicFramePr>
          <p:cNvPr id="6" name="Obje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2676900313"/>
              </p:ext>
            </p:extLst>
          </p:nvPr>
        </p:nvGraphicFramePr>
        <p:xfrm>
          <a:off x="7272560" y="1763613"/>
          <a:ext cx="1390650" cy="419100"/>
        </p:xfrm>
        <a:graphic>
          <a:graphicData uri="http://schemas.openxmlformats.org/presentationml/2006/ole">
            <p:oleObj spid="_x0000_s160098" name="Equation" r:id="rId4" imgW="672840" imgH="203040" progId="Equation.DSMT4">
              <p:embed/>
            </p:oleObj>
          </a:graphicData>
        </a:graphic>
      </p:graphicFrame>
      <p:pic>
        <p:nvPicPr>
          <p:cNvPr id="2" name="Imag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55936" y="2483692"/>
            <a:ext cx="7061042" cy="5075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277459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87784" y="187601"/>
            <a:ext cx="9382199" cy="7344816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fr-FR" sz="2400" b="1" i="1" u="sng" dirty="0">
                <a:latin typeface="Times New Roman" pitchFamily="18" charset="0"/>
                <a:cs typeface="Times New Roman" pitchFamily="18" charset="0"/>
              </a:rPr>
              <a:t>Propriétés de la fonction linéaire  f</a:t>
            </a:r>
            <a:r>
              <a:rPr lang="fr-FR" sz="2400" b="1" u="sng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fr-FR" sz="2400" b="1" i="1" u="sng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fr-FR" sz="2400" b="1" u="sng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fr-FR" sz="2400" b="1" i="1" u="sng" dirty="0">
                <a:latin typeface="Times New Roman" pitchFamily="18" charset="0"/>
                <a:cs typeface="Times New Roman" pitchFamily="18" charset="0"/>
              </a:rPr>
              <a:t>= a x + b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1)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2) Sa représentation graphique est une droite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3) </a:t>
            </a:r>
            <a:r>
              <a:rPr lang="fr-FR" sz="2200" b="1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 est appelé la </a:t>
            </a:r>
            <a:r>
              <a:rPr lang="fr-FR" sz="2200" b="1" dirty="0">
                <a:latin typeface="Times New Roman" pitchFamily="18" charset="0"/>
                <a:cs typeface="Times New Roman" pitchFamily="18" charset="0"/>
              </a:rPr>
              <a:t>pente</a:t>
            </a:r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 de la droite et </a:t>
            </a:r>
            <a:r>
              <a:rPr lang="fr-FR" sz="2200" b="1" i="1" dirty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 son </a:t>
            </a:r>
            <a:r>
              <a:rPr lang="fr-FR" sz="2200" b="1" dirty="0">
                <a:latin typeface="Times New Roman" pitchFamily="18" charset="0"/>
                <a:cs typeface="Times New Roman" pitchFamily="18" charset="0"/>
              </a:rPr>
              <a:t>ordonnée à l’origine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4) La fonction possède un seul </a:t>
            </a:r>
            <a:r>
              <a:rPr lang="fr-FR" sz="2200" b="1" dirty="0">
                <a:latin typeface="Times New Roman" pitchFamily="18" charset="0"/>
                <a:cs typeface="Times New Roman" pitchFamily="18" charset="0"/>
              </a:rPr>
              <a:t>zéro</a:t>
            </a:r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: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5) Si </a:t>
            </a:r>
            <a:r>
              <a:rPr lang="fr-FR" sz="2200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 &gt; 0, alors la fonction </a:t>
            </a:r>
            <a:r>
              <a:rPr lang="fr-FR" sz="2200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 est </a:t>
            </a:r>
            <a:r>
              <a:rPr lang="fr-FR" sz="2200" b="1" dirty="0">
                <a:latin typeface="Times New Roman" pitchFamily="18" charset="0"/>
                <a:cs typeface="Times New Roman" pitchFamily="18" charset="0"/>
              </a:rPr>
              <a:t>croissante</a:t>
            </a:r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 sur      , elle est </a:t>
            </a:r>
            <a:r>
              <a:rPr lang="fr-FR" sz="2200" b="1" dirty="0">
                <a:latin typeface="Times New Roman" pitchFamily="18" charset="0"/>
                <a:cs typeface="Times New Roman" pitchFamily="18" charset="0"/>
              </a:rPr>
              <a:t>décroissante</a:t>
            </a:r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 sur        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     si </a:t>
            </a:r>
            <a:r>
              <a:rPr lang="fr-FR" sz="2200" i="1" dirty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&lt; 0.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6) La fonction linéaire n’a ni minimum ni maximum.        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fr-FR" sz="22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fr-FR" sz="22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fr-FR" sz="2400" b="1" i="1" u="sng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fr-CA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218D9FF6-9B92-4F02-9E90-23F8F054E0DF}" type="slidenum">
              <a:rPr lang="fr-CA" smtClean="0"/>
              <a:pPr>
                <a:defRPr/>
              </a:pPr>
              <a:t>4</a:t>
            </a:fld>
            <a:endParaRPr lang="fr-CA" dirty="0"/>
          </a:p>
        </p:txBody>
      </p:sp>
      <p:graphicFrame>
        <p:nvGraphicFramePr>
          <p:cNvPr id="5" name="Obje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1260211813"/>
              </p:ext>
            </p:extLst>
          </p:nvPr>
        </p:nvGraphicFramePr>
        <p:xfrm>
          <a:off x="666576" y="827509"/>
          <a:ext cx="3149600" cy="498475"/>
        </p:xfrm>
        <a:graphic>
          <a:graphicData uri="http://schemas.openxmlformats.org/presentationml/2006/ole">
            <p:oleObj spid="_x0000_s161765" name="Equation" r:id="rId3" imgW="1523880" imgH="241200" progId="Equation.DSMT4">
              <p:embed/>
            </p:oleObj>
          </a:graphicData>
        </a:graphic>
      </p:graphicFrame>
      <p:graphicFrame>
        <p:nvGraphicFramePr>
          <p:cNvPr id="8" name="Obje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614132220"/>
              </p:ext>
            </p:extLst>
          </p:nvPr>
        </p:nvGraphicFramePr>
        <p:xfrm>
          <a:off x="4502397" y="2536577"/>
          <a:ext cx="969963" cy="811212"/>
        </p:xfrm>
        <a:graphic>
          <a:graphicData uri="http://schemas.openxmlformats.org/presentationml/2006/ole">
            <p:oleObj spid="_x0000_s161766" name="Equation" r:id="rId4" imgW="469800" imgH="393480" progId="Equation.DSMT4">
              <p:embed/>
            </p:oleObj>
          </a:graphicData>
        </a:graphic>
      </p:graphicFrame>
      <p:graphicFrame>
        <p:nvGraphicFramePr>
          <p:cNvPr id="10" name="Obje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2379365050"/>
              </p:ext>
            </p:extLst>
          </p:nvPr>
        </p:nvGraphicFramePr>
        <p:xfrm>
          <a:off x="9144768" y="3347789"/>
          <a:ext cx="341313" cy="341312"/>
        </p:xfrm>
        <a:graphic>
          <a:graphicData uri="http://schemas.openxmlformats.org/presentationml/2006/ole">
            <p:oleObj spid="_x0000_s161767" name="Equation" r:id="rId5" imgW="164880" imgH="164880" progId="Equation.DSMT4">
              <p:embed/>
            </p:oleObj>
          </a:graphicData>
        </a:graphic>
      </p:graphicFrame>
      <p:graphicFrame>
        <p:nvGraphicFramePr>
          <p:cNvPr id="11" name="Obje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4160516900"/>
              </p:ext>
            </p:extLst>
          </p:nvPr>
        </p:nvGraphicFramePr>
        <p:xfrm>
          <a:off x="5832400" y="3347789"/>
          <a:ext cx="341313" cy="341312"/>
        </p:xfrm>
        <a:graphic>
          <a:graphicData uri="http://schemas.openxmlformats.org/presentationml/2006/ole">
            <p:oleObj spid="_x0000_s161768" name="Equation" r:id="rId6" imgW="164880" imgH="164880" progId="Equation.DSMT4">
              <p:embed/>
            </p:oleObj>
          </a:graphicData>
        </a:graphic>
      </p:graphicFrame>
    </p:spTree>
    <p:extLst>
      <p:ext uri="{BB962C8B-B14F-4D97-AF65-F5344CB8AC3E}">
        <p14:creationId xmlns:p14="http://schemas.microsoft.com/office/powerpoint/2010/main" xmlns="" val="12245386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43768" y="107429"/>
            <a:ext cx="9454207" cy="7344816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fr-FR" sz="2400" b="1" i="1" u="sng" dirty="0">
                <a:latin typeface="Times New Roman" pitchFamily="18" charset="0"/>
                <a:cs typeface="Times New Roman" pitchFamily="18" charset="0"/>
              </a:rPr>
              <a:t>Représentation graphique</a:t>
            </a:r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Pour tracer le graphique d’une fonction linéaire, c’est-à-dire tracer la droite correspondante, il suffit de déterminer les valeurs de </a:t>
            </a:r>
            <a:r>
              <a:rPr lang="fr-FR" sz="2200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fr-FR" sz="2200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fr-FR" sz="22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pour deux valeurs distinctes de </a:t>
            </a:r>
            <a:r>
              <a:rPr lang="fr-FR" sz="2200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; on place les deux points obtenus dans le plan cartésien et ensuite on trace la droite qui les relie.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fr-FR" sz="2400" b="1" i="1" u="sng" dirty="0">
                <a:latin typeface="Times New Roman" pitchFamily="18" charset="0"/>
                <a:cs typeface="Times New Roman" pitchFamily="18" charset="0"/>
              </a:rPr>
              <a:t>Exemple</a:t>
            </a:r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Tracez le graphique de la fonction linéaire: 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fr-FR" sz="2400" b="1" i="1" u="sng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fr-CA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218D9FF6-9B92-4F02-9E90-23F8F054E0DF}" type="slidenum">
              <a:rPr lang="fr-CA" smtClean="0"/>
              <a:pPr>
                <a:defRPr/>
              </a:pPr>
              <a:t>5</a:t>
            </a:fld>
            <a:endParaRPr lang="fr-CA" dirty="0"/>
          </a:p>
        </p:txBody>
      </p:sp>
      <p:graphicFrame>
        <p:nvGraphicFramePr>
          <p:cNvPr id="8" name="Obje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119141155"/>
              </p:ext>
            </p:extLst>
          </p:nvPr>
        </p:nvGraphicFramePr>
        <p:xfrm>
          <a:off x="215776" y="3059757"/>
          <a:ext cx="2230438" cy="1362075"/>
        </p:xfrm>
        <a:graphic>
          <a:graphicData uri="http://schemas.openxmlformats.org/presentationml/2006/ole">
            <p:oleObj spid="_x0000_s165091" name="Equation" r:id="rId3" imgW="1079280" imgH="660240" progId="Equation.DSMT4">
              <p:embed/>
            </p:oleObj>
          </a:graphicData>
        </a:graphic>
      </p:graphicFrame>
    </p:spTree>
    <p:extLst>
      <p:ext uri="{BB962C8B-B14F-4D97-AF65-F5344CB8AC3E}">
        <p14:creationId xmlns:p14="http://schemas.microsoft.com/office/powerpoint/2010/main" xmlns="" val="22926187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143768" y="179437"/>
            <a:ext cx="9145016" cy="6956897"/>
          </a:xfrm>
        </p:spPr>
        <p:txBody>
          <a:bodyPr/>
          <a:lstStyle/>
          <a:p>
            <a:pPr marL="0" indent="0" algn="ctr">
              <a:buNone/>
            </a:pPr>
            <a:r>
              <a:rPr lang="fr-CA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Signe d’une fonction</a:t>
            </a:r>
          </a:p>
          <a:p>
            <a:pPr marL="0" indent="0">
              <a:buNone/>
            </a:pPr>
            <a:endParaRPr lang="fr-CA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fr-C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</a:t>
            </a:r>
            <a:r>
              <a:rPr lang="fr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fonction </a:t>
            </a:r>
            <a:r>
              <a:rPr lang="fr-CA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fr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fr-CA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fr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est </a:t>
            </a:r>
            <a:r>
              <a:rPr lang="fr-CA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positive</a:t>
            </a:r>
            <a:r>
              <a:rPr lang="fr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dans un intervalle I si </a:t>
            </a:r>
            <a:r>
              <a:rPr lang="fr-CA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fr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fr-CA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fr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&gt; 0 pour tout </a:t>
            </a:r>
            <a:r>
              <a:rPr lang="fr-CA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fr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CA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 I.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CA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</a:t>
            </a:r>
            <a:r>
              <a:rPr lang="fr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fonction </a:t>
            </a:r>
            <a:r>
              <a:rPr lang="fr-CA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fr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fr-CA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fr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est </a:t>
            </a:r>
            <a:r>
              <a:rPr lang="fr-CA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négative</a:t>
            </a:r>
            <a:r>
              <a:rPr lang="fr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dans un intervalle J si </a:t>
            </a:r>
            <a:r>
              <a:rPr lang="fr-CA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fr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fr-CA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fr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&lt; 0 pour tout </a:t>
            </a:r>
            <a:r>
              <a:rPr lang="fr-CA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fr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CA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 J.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fr-CA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Exemple. </a:t>
            </a:r>
            <a:r>
              <a:rPr lang="fr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Déterminez le signe de la fonction </a:t>
            </a:r>
            <a:r>
              <a:rPr lang="fr-CA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fr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fr-CA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fr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2</a:t>
            </a:r>
            <a:r>
              <a:rPr lang="fr-CA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fr-CA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-1 (c’est-à-dire </a:t>
            </a:r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déterminer les valeurs de </a:t>
            </a:r>
            <a:r>
              <a:rPr lang="fr-FR" sz="2400" i="1" dirty="0">
                <a:latin typeface="Times New Roman" pitchFamily="18" charset="0"/>
                <a:cs typeface="Times New Roman" pitchFamily="18" charset="0"/>
              </a:rPr>
              <a:t>x </a:t>
            </a:r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pour lesquelles la fonction est positive et celles pour lesquelles elle est négative)</a:t>
            </a:r>
            <a:r>
              <a:rPr lang="fr-FR" sz="28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0" indent="0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218D9FF6-9B92-4F02-9E90-23F8F054E0DF}" type="slidenum">
              <a:rPr lang="fr-CA" smtClean="0"/>
              <a:pPr>
                <a:defRPr/>
              </a:pPr>
              <a:t>6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xmlns="" val="28237925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43768" y="179437"/>
            <a:ext cx="9454207" cy="7272808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fr-FR" sz="2400" b="1" dirty="0">
                <a:latin typeface="Times New Roman" pitchFamily="18" charset="0"/>
                <a:cs typeface="Times New Roman" pitchFamily="18" charset="0"/>
              </a:rPr>
              <a:t>Remarque 1: </a:t>
            </a:r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l’équation d’une droite horizontale est de la forme </a:t>
            </a:r>
            <a:r>
              <a:rPr lang="fr-FR" sz="2400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fr-FR" sz="2400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) = </a:t>
            </a:r>
            <a:r>
              <a:rPr lang="fr-FR" sz="2400" i="1" dirty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 ou </a:t>
            </a:r>
            <a:r>
              <a:rPr lang="fr-FR" sz="2400" i="1" dirty="0">
                <a:latin typeface="Times New Roman" pitchFamily="18" charset="0"/>
                <a:cs typeface="Times New Roman" pitchFamily="18" charset="0"/>
              </a:rPr>
              <a:t>y</a:t>
            </a:r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fr-FR" sz="2400" i="1" dirty="0">
                <a:latin typeface="Times New Roman" pitchFamily="18" charset="0"/>
                <a:cs typeface="Times New Roman" pitchFamily="18" charset="0"/>
              </a:rPr>
              <a:t>b</a:t>
            </a:r>
            <a:endParaRPr lang="fr-FR" sz="2400" b="1" i="1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fr-FR" sz="2400" b="1" dirty="0">
                <a:latin typeface="Times New Roman" pitchFamily="18" charset="0"/>
                <a:cs typeface="Times New Roman" pitchFamily="18" charset="0"/>
              </a:rPr>
              <a:t>Remarque</a:t>
            </a:r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2200" b="1" dirty="0">
                <a:latin typeface="Times New Roman" pitchFamily="18" charset="0"/>
                <a:cs typeface="Times New Roman" pitchFamily="18" charset="0"/>
              </a:rPr>
              <a:t>2:</a:t>
            </a:r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 l’équation d’une droite verticale est de la forme </a:t>
            </a:r>
            <a:r>
              <a:rPr lang="fr-FR" sz="2200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fr-FR" sz="2200" i="1" dirty="0">
                <a:latin typeface="Times New Roman" pitchFamily="18" charset="0"/>
                <a:cs typeface="Times New Roman" pitchFamily="18" charset="0"/>
              </a:rPr>
              <a:t>c. </a:t>
            </a:r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Mais</a:t>
            </a:r>
            <a:r>
              <a:rPr lang="fr-FR" sz="2200" i="1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la droite verticale </a:t>
            </a:r>
            <a:r>
              <a:rPr lang="fr-FR" sz="2200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fr-FR" sz="2200" i="1" dirty="0">
                <a:latin typeface="Times New Roman" pitchFamily="18" charset="0"/>
                <a:cs typeface="Times New Roman" pitchFamily="18" charset="0"/>
              </a:rPr>
              <a:t>c </a:t>
            </a:r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n’est pas le graphe d’une fonction.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fr-FR" sz="2200" b="1" dirty="0">
                <a:latin typeface="Times New Roman" pitchFamily="18" charset="0"/>
                <a:cs typeface="Times New Roman" pitchFamily="18" charset="0"/>
              </a:rPr>
              <a:t>TI: </a:t>
            </a:r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pour tracer une droite verticale d’équation </a:t>
            </a:r>
            <a:r>
              <a:rPr lang="fr-FR" sz="2200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fr-FR" sz="2200" i="1" dirty="0">
                <a:latin typeface="Times New Roman" pitchFamily="18" charset="0"/>
                <a:cs typeface="Times New Roman" pitchFamily="18" charset="0"/>
              </a:rPr>
              <a:t>c,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Menu – [3] – [2] – [1]</a:t>
            </a:r>
            <a:endParaRPr lang="fr-FR" sz="2200" b="1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fr-FR" sz="2400" b="1" i="1" u="sng" dirty="0">
                <a:latin typeface="Times New Roman" pitchFamily="18" charset="0"/>
                <a:cs typeface="Times New Roman" pitchFamily="18" charset="0"/>
              </a:rPr>
              <a:t>Exemple</a:t>
            </a:r>
            <a:r>
              <a:rPr lang="fr-FR" sz="2400" b="1" dirty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fr-FR" sz="2400" b="1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tracez les droites d’équations </a:t>
            </a:r>
            <a:r>
              <a:rPr lang="fr-FR" sz="2400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 = 3</a:t>
            </a:r>
            <a:r>
              <a:rPr lang="fr-FR" sz="2400" i="1" dirty="0">
                <a:latin typeface="Times New Roman" pitchFamily="18" charset="0"/>
                <a:cs typeface="Times New Roman" pitchFamily="18" charset="0"/>
              </a:rPr>
              <a:t> , x</a:t>
            </a:r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 = – 2</a:t>
            </a:r>
            <a:r>
              <a:rPr lang="fr-FR" sz="2400" i="1" dirty="0"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et</a:t>
            </a:r>
            <a:r>
              <a:rPr lang="fr-FR" sz="2400" i="1" dirty="0">
                <a:latin typeface="Times New Roman" pitchFamily="18" charset="0"/>
                <a:cs typeface="Times New Roman" pitchFamily="18" charset="0"/>
              </a:rPr>
              <a:t> x</a:t>
            </a:r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 = 0</a:t>
            </a:r>
            <a:r>
              <a:rPr lang="fr-FR" sz="2400" i="1" dirty="0">
                <a:latin typeface="Times New Roman" pitchFamily="18" charset="0"/>
                <a:cs typeface="Times New Roman" pitchFamily="18" charset="0"/>
              </a:rPr>
              <a:t>. </a:t>
            </a:r>
            <a:endParaRPr lang="fr-FR" sz="2400" b="1" i="1" u="sng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fr-CA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218D9FF6-9B92-4F02-9E90-23F8F054E0DF}" type="slidenum">
              <a:rPr lang="fr-CA" smtClean="0"/>
              <a:pPr>
                <a:defRPr/>
              </a:pPr>
              <a:t>7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xmlns="" val="33929281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43768" y="179437"/>
            <a:ext cx="9454207" cy="7200800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fr-FR" sz="2400" b="1" i="1" u="sng" dirty="0">
                <a:latin typeface="Times New Roman" pitchFamily="18" charset="0"/>
                <a:cs typeface="Times New Roman" pitchFamily="18" charset="0"/>
              </a:rPr>
              <a:t>Exercice</a:t>
            </a:r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 Pour chacune des fonctions suivantes, déterminez (si possible) l’ordonnée à l’origine, le zéro, les valeurs de </a:t>
            </a:r>
            <a:r>
              <a:rPr lang="fr-FR" sz="2200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 pour lesquelles la fonction est positive et les valeurs de </a:t>
            </a:r>
            <a:r>
              <a:rPr lang="fr-FR" sz="2200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 pour lesquelles la fonction est négative.</a:t>
            </a:r>
            <a:endParaRPr lang="fr-CA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218D9FF6-9B92-4F02-9E90-23F8F054E0DF}" type="slidenum">
              <a:rPr lang="fr-CA" smtClean="0"/>
              <a:pPr>
                <a:defRPr/>
              </a:pPr>
              <a:t>8</a:t>
            </a:fld>
            <a:endParaRPr lang="fr-CA" dirty="0"/>
          </a:p>
        </p:txBody>
      </p:sp>
      <p:graphicFrame>
        <p:nvGraphicFramePr>
          <p:cNvPr id="6" name="Obje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3670187548"/>
              </p:ext>
            </p:extLst>
          </p:nvPr>
        </p:nvGraphicFramePr>
        <p:xfrm>
          <a:off x="287784" y="1979637"/>
          <a:ext cx="1993900" cy="3143250"/>
        </p:xfrm>
        <a:graphic>
          <a:graphicData uri="http://schemas.openxmlformats.org/presentationml/2006/ole">
            <p:oleObj spid="_x0000_s168083" name="Equation" r:id="rId3" imgW="965160" imgH="1523880" progId="Equation.DSMT4">
              <p:embed/>
            </p:oleObj>
          </a:graphicData>
        </a:graphic>
      </p:graphicFrame>
    </p:spTree>
    <p:extLst>
      <p:ext uri="{BB962C8B-B14F-4D97-AF65-F5344CB8AC3E}">
        <p14:creationId xmlns:p14="http://schemas.microsoft.com/office/powerpoint/2010/main" xmlns="" val="3755770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43768" y="0"/>
            <a:ext cx="9505056" cy="7559675"/>
          </a:xfrm>
        </p:spPr>
        <p:txBody>
          <a:bodyPr>
            <a:normAutofit lnSpcReduction="1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fr-FR" sz="2400" b="1" i="1" u="sng" dirty="0">
                <a:latin typeface="Times New Roman" pitchFamily="18" charset="0"/>
                <a:cs typeface="Times New Roman" pitchFamily="18" charset="0"/>
              </a:rPr>
              <a:t>Exemple</a:t>
            </a:r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 Le lien entre la température exprimée en degrés Fahrenheit (°F) et la température exprimée en degrés Celsius (°C) est linéaire. On sait que l’eau gèle à 0°C (ou à 32°F) et qu’elle bout à 100°C (ou à 212°F).</a:t>
            </a:r>
          </a:p>
          <a:p>
            <a:pPr marL="457200" indent="-457200" algn="just">
              <a:lnSpc>
                <a:spcPct val="150000"/>
              </a:lnSpc>
              <a:buClrTx/>
              <a:buSzPct val="100000"/>
              <a:buFont typeface="+mj-lt"/>
              <a:buAutoNum type="alphaLcParenR"/>
            </a:pPr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Trouvez l’équation de la fonction linéaire qui donne la température </a:t>
            </a:r>
            <a:r>
              <a:rPr lang="fr-FR" sz="2200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 exprimée en degrés </a:t>
            </a:r>
            <a:r>
              <a:rPr lang="fr-FR" sz="2200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 en fonction de la température </a:t>
            </a:r>
            <a:r>
              <a:rPr lang="fr-FR" sz="2200" i="1" dirty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 exprimée en degrés </a:t>
            </a:r>
            <a:r>
              <a:rPr lang="fr-FR" sz="2200" i="1" dirty="0">
                <a:latin typeface="Times New Roman" pitchFamily="18" charset="0"/>
                <a:cs typeface="Times New Roman" pitchFamily="18" charset="0"/>
              </a:rPr>
              <a:t>C </a:t>
            </a:r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( </a:t>
            </a:r>
            <a:r>
              <a:rPr lang="fr-FR" sz="2200" i="1" dirty="0">
                <a:latin typeface="Times New Roman" pitchFamily="18" charset="0"/>
                <a:cs typeface="Times New Roman" pitchFamily="18" charset="0"/>
              </a:rPr>
              <a:t>f </a:t>
            </a:r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fr-FR" sz="2200" i="1" dirty="0" err="1">
                <a:latin typeface="Times New Roman" pitchFamily="18" charset="0"/>
                <a:cs typeface="Times New Roman" pitchFamily="18" charset="0"/>
              </a:rPr>
              <a:t>ac</a:t>
            </a:r>
            <a:r>
              <a:rPr lang="fr-FR" sz="2200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+ </a:t>
            </a:r>
            <a:r>
              <a:rPr lang="fr-FR" sz="2200" i="1" dirty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).</a:t>
            </a:r>
          </a:p>
          <a:p>
            <a:pPr marL="457200" indent="-457200" algn="just">
              <a:lnSpc>
                <a:spcPct val="150000"/>
              </a:lnSpc>
              <a:buClrTx/>
              <a:buSzPct val="100000"/>
              <a:buFont typeface="+mj-lt"/>
              <a:buAutoNum type="alphaLcParenR"/>
            </a:pPr>
            <a:endParaRPr lang="fr-FR" sz="2200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>
              <a:lnSpc>
                <a:spcPct val="150000"/>
              </a:lnSpc>
              <a:buClrTx/>
              <a:buSzPct val="100000"/>
              <a:buFont typeface="+mj-lt"/>
              <a:buAutoNum type="alphaLcParenR"/>
            </a:pPr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On annonce aujourd’hui une température de 16°C. Exprimez cette température en degrés </a:t>
            </a:r>
            <a:r>
              <a:rPr lang="fr-FR" sz="2200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marL="457200" indent="-457200" algn="just">
              <a:lnSpc>
                <a:spcPct val="150000"/>
              </a:lnSpc>
              <a:buClrTx/>
              <a:buSzPct val="100000"/>
              <a:buFont typeface="+mj-lt"/>
              <a:buAutoNum type="alphaLcParenR"/>
            </a:pPr>
            <a:endParaRPr lang="fr-FR" sz="2200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>
              <a:lnSpc>
                <a:spcPct val="150000"/>
              </a:lnSpc>
              <a:buClrTx/>
              <a:buSzPct val="100000"/>
              <a:buFont typeface="+mj-lt"/>
              <a:buAutoNum type="alphaLcParenR"/>
            </a:pPr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Le record de température pour un 14 juillet est de 98°F. Traduisez cette température en °C.</a:t>
            </a:r>
          </a:p>
          <a:p>
            <a:pPr marL="457200" indent="-457200" algn="just">
              <a:lnSpc>
                <a:spcPct val="150000"/>
              </a:lnSpc>
              <a:buClrTx/>
              <a:buSzPct val="100000"/>
              <a:buFont typeface="+mj-lt"/>
              <a:buAutoNum type="alphaLcParenR"/>
            </a:pPr>
            <a:endParaRPr lang="fr-FR" sz="2200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 algn="just">
              <a:lnSpc>
                <a:spcPct val="150000"/>
              </a:lnSpc>
              <a:buClrTx/>
              <a:buSzPct val="100000"/>
              <a:buFont typeface="+mj-lt"/>
              <a:buAutoNum type="alphaLcParenR"/>
            </a:pPr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Trouvez </a:t>
            </a:r>
            <a:r>
              <a:rPr lang="fr-FR" sz="2200" i="1" dirty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 tel que  </a:t>
            </a:r>
            <a:r>
              <a:rPr lang="fr-FR" sz="2200" i="1" dirty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 °C = </a:t>
            </a:r>
            <a:r>
              <a:rPr lang="fr-FR" sz="2200" i="1" dirty="0">
                <a:latin typeface="Times New Roman" pitchFamily="18" charset="0"/>
                <a:cs typeface="Times New Roman" pitchFamily="18" charset="0"/>
              </a:rPr>
              <a:t>k </a:t>
            </a:r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°F.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       </a:t>
            </a:r>
            <a:endParaRPr lang="fr-CA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218D9FF6-9B92-4F02-9E90-23F8F054E0DF}" type="slidenum">
              <a:rPr lang="fr-CA" smtClean="0"/>
              <a:pPr>
                <a:defRPr/>
              </a:pPr>
              <a:t>9</a:t>
            </a:fld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xmlns="" val="36311322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43768" y="179437"/>
            <a:ext cx="9454207" cy="6264696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fr-CA" sz="24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18" charset="0"/>
                <a:cs typeface="Times New Roman" pitchFamily="18" charset="0"/>
              </a:rPr>
              <a:t>6.2-</a:t>
            </a:r>
            <a:r>
              <a:rPr lang="fr-CA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CA" sz="2400" b="1" i="1" dirty="0">
                <a:latin typeface="Times New Roman" pitchFamily="18" charset="0"/>
                <a:cs typeface="Times New Roman" pitchFamily="18" charset="0"/>
              </a:rPr>
              <a:t>Fonctions quadratiques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fr-CA" sz="2400" b="1" i="1" u="sng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fr-FR" sz="2200" b="1" i="1" u="sng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fr-FR" sz="2200" b="1" i="1" u="sng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fr-FR" sz="2400" b="1" i="1" u="sng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fr-FR" sz="22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fr-FR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fr-FR" sz="2400" b="1" i="1" u="sng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fr-CA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218D9FF6-9B92-4F02-9E90-23F8F054E0DF}" type="slidenum">
              <a:rPr lang="fr-CA" smtClean="0"/>
              <a:pPr>
                <a:defRPr/>
              </a:pPr>
              <a:t>10</a:t>
            </a:fld>
            <a:endParaRPr lang="fr-CA" dirty="0"/>
          </a:p>
        </p:txBody>
      </p:sp>
      <p:sp>
        <p:nvSpPr>
          <p:cNvPr id="2" name="Rectangle à coins arrondis 1"/>
          <p:cNvSpPr/>
          <p:nvPr/>
        </p:nvSpPr>
        <p:spPr>
          <a:xfrm>
            <a:off x="215776" y="1123099"/>
            <a:ext cx="8987674" cy="1288586"/>
          </a:xfrm>
          <a:prstGeom prst="roundRect">
            <a:avLst/>
          </a:prstGeom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just">
              <a:lnSpc>
                <a:spcPct val="150000"/>
              </a:lnSpc>
              <a:buNone/>
            </a:pPr>
            <a:endParaRPr lang="fr-FR" sz="22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8" name="Objet 7"/>
          <p:cNvGraphicFramePr>
            <a:graphicFrameLocks noChangeAspect="1"/>
          </p:cNvGraphicFramePr>
          <p:nvPr>
            <p:extLst/>
          </p:nvPr>
        </p:nvGraphicFramePr>
        <p:xfrm>
          <a:off x="863848" y="1771482"/>
          <a:ext cx="7978775" cy="471488"/>
        </p:xfrm>
        <a:graphic>
          <a:graphicData uri="http://schemas.openxmlformats.org/presentationml/2006/ole">
            <p:oleObj spid="_x0000_s192528" name="Equation" r:id="rId3" imgW="3860640" imgH="228600" progId="Equation.DSMT4">
              <p:embed/>
            </p:oleObj>
          </a:graphicData>
        </a:graphic>
      </p:graphicFrame>
      <p:sp>
        <p:nvSpPr>
          <p:cNvPr id="10" name="ZoneTexte 9"/>
          <p:cNvSpPr txBox="1"/>
          <p:nvPr/>
        </p:nvSpPr>
        <p:spPr>
          <a:xfrm>
            <a:off x="359792" y="1115541"/>
            <a:ext cx="833960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Une </a:t>
            </a:r>
            <a:r>
              <a:rPr lang="fr-FR" sz="2200" b="1" dirty="0">
                <a:latin typeface="Times New Roman" pitchFamily="18" charset="0"/>
                <a:cs typeface="Times New Roman" pitchFamily="18" charset="0"/>
              </a:rPr>
              <a:t>fonction quadratique </a:t>
            </a:r>
            <a:r>
              <a:rPr lang="fr-FR" sz="2200" dirty="0">
                <a:latin typeface="Times New Roman" pitchFamily="18" charset="0"/>
                <a:cs typeface="Times New Roman" pitchFamily="18" charset="0"/>
              </a:rPr>
              <a:t>est une fonction de la forme:</a:t>
            </a:r>
          </a:p>
          <a:p>
            <a:pPr algn="just">
              <a:lnSpc>
                <a:spcPct val="150000"/>
              </a:lnSpc>
            </a:pPr>
            <a:endParaRPr lang="fr-CA" sz="2200" dirty="0"/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177" y="2843733"/>
            <a:ext cx="7848871" cy="4585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2770826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71760" y="107429"/>
            <a:ext cx="9635723" cy="7344816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fr-CA" sz="2800" b="1" i="1" dirty="0">
                <a:latin typeface="Times New Roman" pitchFamily="18" charset="0"/>
                <a:cs typeface="Times New Roman" pitchFamily="18" charset="0"/>
              </a:rPr>
              <a:t>Représentation graphique d’une fonction quadratique</a:t>
            </a:r>
            <a:endParaRPr lang="fr-CA" sz="22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CA" sz="2200" dirty="0">
                <a:latin typeface="Times New Roman" pitchFamily="18" charset="0"/>
                <a:cs typeface="Times New Roman" pitchFamily="18" charset="0"/>
              </a:rPr>
              <a:t>La représentation graphique d’une fonction quadratique                                est une parabole.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CA" sz="2200" dirty="0">
                <a:latin typeface="Times New Roman" pitchFamily="18" charset="0"/>
                <a:cs typeface="Times New Roman" pitchFamily="18" charset="0"/>
              </a:rPr>
              <a:t>La parabole est ouverte vers le haut si </a:t>
            </a:r>
            <a:r>
              <a:rPr lang="fr-CA" sz="2200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fr-CA" sz="2200" dirty="0">
                <a:latin typeface="Times New Roman" pitchFamily="18" charset="0"/>
                <a:cs typeface="Times New Roman" pitchFamily="18" charset="0"/>
              </a:rPr>
              <a:t> &gt; 0 et ouverte vers le bas si </a:t>
            </a:r>
            <a:r>
              <a:rPr lang="fr-CA" sz="2200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fr-CA" sz="2200" dirty="0">
                <a:latin typeface="Times New Roman" pitchFamily="18" charset="0"/>
                <a:cs typeface="Times New Roman" pitchFamily="18" charset="0"/>
              </a:rPr>
              <a:t> &lt; 0.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CA" sz="2200" dirty="0">
                <a:latin typeface="Times New Roman" pitchFamily="18" charset="0"/>
                <a:cs typeface="Times New Roman" pitchFamily="18" charset="0"/>
              </a:rPr>
              <a:t>Les coordonnées du </a:t>
            </a:r>
            <a:r>
              <a:rPr lang="fr-CA" sz="2200" b="1" dirty="0">
                <a:latin typeface="Times New Roman" pitchFamily="18" charset="0"/>
                <a:cs typeface="Times New Roman" pitchFamily="18" charset="0"/>
              </a:rPr>
              <a:t>sommet</a:t>
            </a:r>
            <a:r>
              <a:rPr lang="fr-CA" sz="2200" dirty="0">
                <a:latin typeface="Times New Roman" pitchFamily="18" charset="0"/>
                <a:cs typeface="Times New Roman" pitchFamily="18" charset="0"/>
              </a:rPr>
              <a:t> de la parabole sont: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fr-CA" sz="2200" dirty="0">
                <a:latin typeface="Times New Roman" pitchFamily="18" charset="0"/>
                <a:cs typeface="Times New Roman" pitchFamily="18" charset="0"/>
              </a:rPr>
              <a:t>                                                  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CA" sz="2200" dirty="0">
                <a:latin typeface="Times New Roman" pitchFamily="18" charset="0"/>
                <a:cs typeface="Times New Roman" pitchFamily="18" charset="0"/>
              </a:rPr>
              <a:t>L’axe de symétrie de la parabole est la droite d’équation:   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fr-CA" sz="22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fr-CA" sz="2400" b="1" i="1" u="sng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fr-CA" sz="2400" dirty="0">
                <a:latin typeface="Times New Roman" pitchFamily="18" charset="0"/>
                <a:cs typeface="Times New Roman" pitchFamily="18" charset="0"/>
              </a:rPr>
              <a:t>   </a:t>
            </a:r>
            <a:endParaRPr lang="fr-FR" sz="2200" b="1" i="1" u="sng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fr-FR" sz="2200" b="1" i="1" u="sng" dirty="0"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fr-FR" sz="2400" b="1" i="1" u="sng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fr-FR" sz="22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fr-FR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fr-FR" sz="2400" b="1" i="1" u="sng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fr-CA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218D9FF6-9B92-4F02-9E90-23F8F054E0DF}" type="slidenum">
              <a:rPr lang="fr-CA" smtClean="0"/>
              <a:pPr>
                <a:defRPr/>
              </a:pPr>
              <a:t>11</a:t>
            </a:fld>
            <a:endParaRPr lang="fr-CA" dirty="0"/>
          </a:p>
        </p:txBody>
      </p:sp>
      <p:graphicFrame>
        <p:nvGraphicFramePr>
          <p:cNvPr id="6" name="Objet 5"/>
          <p:cNvGraphicFramePr>
            <a:graphicFrameLocks noChangeAspect="1"/>
          </p:cNvGraphicFramePr>
          <p:nvPr>
            <p:extLst/>
          </p:nvPr>
        </p:nvGraphicFramePr>
        <p:xfrm>
          <a:off x="6768504" y="932086"/>
          <a:ext cx="2468562" cy="471487"/>
        </p:xfrm>
        <a:graphic>
          <a:graphicData uri="http://schemas.openxmlformats.org/presentationml/2006/ole">
            <p:oleObj spid="_x0000_s193580" name="Equation" r:id="rId3" imgW="1193760" imgH="228600" progId="Equation.DSMT4">
              <p:embed/>
            </p:oleObj>
          </a:graphicData>
        </a:graphic>
      </p:graphicFrame>
      <p:graphicFrame>
        <p:nvGraphicFramePr>
          <p:cNvPr id="7" name="Objet 6"/>
          <p:cNvGraphicFramePr>
            <a:graphicFrameLocks noChangeAspect="1"/>
          </p:cNvGraphicFramePr>
          <p:nvPr>
            <p:extLst/>
          </p:nvPr>
        </p:nvGraphicFramePr>
        <p:xfrm>
          <a:off x="6120432" y="2411685"/>
          <a:ext cx="1970088" cy="944563"/>
        </p:xfrm>
        <a:graphic>
          <a:graphicData uri="http://schemas.openxmlformats.org/presentationml/2006/ole">
            <p:oleObj spid="_x0000_s193581" name="Equation" r:id="rId4" imgW="952200" imgH="457200" progId="Equation.DSMT4">
              <p:embed/>
            </p:oleObj>
          </a:graphicData>
        </a:graphic>
      </p:graphicFrame>
      <p:graphicFrame>
        <p:nvGraphicFramePr>
          <p:cNvPr id="9" name="Objet 8"/>
          <p:cNvGraphicFramePr>
            <a:graphicFrameLocks noChangeAspect="1"/>
          </p:cNvGraphicFramePr>
          <p:nvPr>
            <p:extLst/>
          </p:nvPr>
        </p:nvGraphicFramePr>
        <p:xfrm>
          <a:off x="6984528" y="3635821"/>
          <a:ext cx="1050925" cy="812800"/>
        </p:xfrm>
        <a:graphic>
          <a:graphicData uri="http://schemas.openxmlformats.org/presentationml/2006/ole">
            <p:oleObj spid="_x0000_s193582" name="Equation" r:id="rId5" imgW="507960" imgH="393480" progId="Equation.DSMT4">
              <p:embed/>
            </p:oleObj>
          </a:graphicData>
        </a:graphic>
      </p:graphicFrame>
      <p:pic>
        <p:nvPicPr>
          <p:cNvPr id="10" name="Imag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9872" y="4218297"/>
            <a:ext cx="6120680" cy="3377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4801373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15776" y="179437"/>
            <a:ext cx="9382199" cy="6264696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fr-CA" sz="2200" b="1" i="1" dirty="0">
                <a:latin typeface="Times New Roman" pitchFamily="18" charset="0"/>
                <a:cs typeface="Times New Roman" pitchFamily="18" charset="0"/>
              </a:rPr>
              <a:t>Représentation graphique d’une fonction quadratique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fr-FR" sz="2400" b="1" i="1" u="sng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fr-FR" sz="22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fr-FR" sz="24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fr-FR" sz="2400" b="1" i="1" u="sng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fr-CA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218D9FF6-9B92-4F02-9E90-23F8F054E0DF}" type="slidenum">
              <a:rPr lang="fr-CA" smtClean="0"/>
              <a:pPr>
                <a:defRPr/>
              </a:pPr>
              <a:t>12</a:t>
            </a:fld>
            <a:endParaRPr lang="fr-CA" dirty="0"/>
          </a:p>
        </p:txBody>
      </p:sp>
      <p:sp>
        <p:nvSpPr>
          <p:cNvPr id="2" name="Espace réservé du pied de page 1"/>
          <p:cNvSpPr>
            <a:spLocks noGrp="1"/>
          </p:cNvSpPr>
          <p:nvPr>
            <p:ph type="ftr" sz="quarter" idx="16"/>
          </p:nvPr>
        </p:nvSpPr>
        <p:spPr>
          <a:xfrm>
            <a:off x="5953460" y="7020197"/>
            <a:ext cx="3527848" cy="403225"/>
          </a:xfrm>
        </p:spPr>
        <p:txBody>
          <a:bodyPr/>
          <a:lstStyle/>
          <a:p>
            <a:pPr>
              <a:defRPr/>
            </a:pPr>
            <a:r>
              <a:rPr lang="fr-CA" dirty="0"/>
              <a:t>K. Amoura &amp; I. Ndiaye</a:t>
            </a:r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784" y="971524"/>
            <a:ext cx="9073008" cy="5452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2380475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43768" y="179437"/>
            <a:ext cx="9454207" cy="705678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lang="fr-CA" sz="2400" b="1" i="1" u="sng" dirty="0">
                <a:latin typeface="Times New Roman" pitchFamily="18" charset="0"/>
                <a:cs typeface="Times New Roman" pitchFamily="18" charset="0"/>
              </a:rPr>
              <a:t>Représentation graphique d’une parabole</a:t>
            </a:r>
            <a:r>
              <a:rPr lang="fr-CA" sz="22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>
              <a:lnSpc>
                <a:spcPct val="150000"/>
              </a:lnSpc>
              <a:buNone/>
            </a:pPr>
            <a:endParaRPr lang="fr-CA" sz="22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fr-CA" sz="2200" dirty="0">
                <a:latin typeface="Times New Roman" pitchFamily="18" charset="0"/>
                <a:cs typeface="Times New Roman" pitchFamily="18" charset="0"/>
              </a:rPr>
              <a:t>Pour tracer une parabole, on procède comme suit:</a:t>
            </a:r>
          </a:p>
          <a:p>
            <a:pPr marL="457200" indent="-457200">
              <a:lnSpc>
                <a:spcPct val="150000"/>
              </a:lnSpc>
              <a:buClr>
                <a:schemeClr val="tx1"/>
              </a:buClr>
              <a:buSzPct val="100000"/>
              <a:buFont typeface="+mj-lt"/>
              <a:buAutoNum type="arabicPeriod"/>
            </a:pPr>
            <a:r>
              <a:rPr lang="fr-CA" sz="2200" dirty="0">
                <a:latin typeface="Times New Roman" pitchFamily="18" charset="0"/>
                <a:cs typeface="Times New Roman" pitchFamily="18" charset="0"/>
              </a:rPr>
              <a:t>Déterminer si la parabole est ouverte vers le haut ou vers le bas;</a:t>
            </a:r>
          </a:p>
          <a:p>
            <a:pPr marL="457200" indent="-457200">
              <a:lnSpc>
                <a:spcPct val="150000"/>
              </a:lnSpc>
              <a:buClr>
                <a:schemeClr val="tx1"/>
              </a:buClr>
              <a:buSzPct val="100000"/>
              <a:buFont typeface="+mj-lt"/>
              <a:buAutoNum type="arabicPeriod"/>
            </a:pPr>
            <a:r>
              <a:rPr lang="fr-CA" sz="2200" dirty="0">
                <a:latin typeface="Times New Roman" pitchFamily="18" charset="0"/>
                <a:cs typeface="Times New Roman" pitchFamily="18" charset="0"/>
              </a:rPr>
              <a:t>Déterminer les coordonnées du sommet de la parabole;</a:t>
            </a:r>
          </a:p>
          <a:p>
            <a:pPr marL="457200" indent="-457200">
              <a:lnSpc>
                <a:spcPct val="150000"/>
              </a:lnSpc>
              <a:buClr>
                <a:schemeClr val="tx1"/>
              </a:buClr>
              <a:buSzPct val="100000"/>
              <a:buFont typeface="+mj-lt"/>
              <a:buAutoNum type="arabicPeriod"/>
            </a:pPr>
            <a:r>
              <a:rPr lang="fr-CA" sz="2200" dirty="0">
                <a:latin typeface="Times New Roman" pitchFamily="18" charset="0"/>
                <a:cs typeface="Times New Roman" pitchFamily="18" charset="0"/>
              </a:rPr>
              <a:t>Déterminer l’axe de symétrie de la parabole</a:t>
            </a:r>
          </a:p>
          <a:p>
            <a:pPr marL="457200" indent="-457200">
              <a:lnSpc>
                <a:spcPct val="150000"/>
              </a:lnSpc>
              <a:buClr>
                <a:schemeClr val="tx1"/>
              </a:buClr>
              <a:buSzPct val="100000"/>
              <a:buFont typeface="+mj-lt"/>
              <a:buAutoNum type="arabicPeriod"/>
            </a:pPr>
            <a:r>
              <a:rPr lang="fr-CA" sz="2200" dirty="0">
                <a:latin typeface="Times New Roman" pitchFamily="18" charset="0"/>
                <a:cs typeface="Times New Roman" pitchFamily="18" charset="0"/>
              </a:rPr>
              <a:t>Déterminer, s’ils existent, les zéros de la parabole;</a:t>
            </a:r>
            <a:endParaRPr lang="fr-CA" sz="2200" b="1" i="1" u="sng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lnSpc>
                <a:spcPct val="150000"/>
              </a:lnSpc>
              <a:buClr>
                <a:schemeClr val="tx1"/>
              </a:buClr>
              <a:buSzPct val="100000"/>
              <a:buFont typeface="+mj-lt"/>
              <a:buAutoNum type="arabicPeriod"/>
            </a:pPr>
            <a:r>
              <a:rPr lang="fr-CA" sz="2200" dirty="0">
                <a:latin typeface="Times New Roman" pitchFamily="18" charset="0"/>
                <a:cs typeface="Times New Roman" pitchFamily="18" charset="0"/>
              </a:rPr>
              <a:t>Déterminer la valeur de l’ordonnée à l’origine</a:t>
            </a:r>
          </a:p>
          <a:p>
            <a:pPr marL="457200" indent="-457200">
              <a:lnSpc>
                <a:spcPct val="150000"/>
              </a:lnSpc>
              <a:buClr>
                <a:schemeClr val="tx1"/>
              </a:buClr>
              <a:buSzPct val="100000"/>
              <a:buFont typeface="+mj-lt"/>
              <a:buAutoNum type="arabicPeriod"/>
            </a:pPr>
            <a:r>
              <a:rPr lang="fr-CA" sz="2200" dirty="0">
                <a:latin typeface="Times New Roman" pitchFamily="18" charset="0"/>
                <a:cs typeface="Times New Roman" pitchFamily="18" charset="0"/>
              </a:rPr>
              <a:t>Au besoin, déterminer d’autres points de la parabole.</a:t>
            </a:r>
          </a:p>
          <a:p>
            <a:pPr marL="457200" indent="-457200">
              <a:lnSpc>
                <a:spcPct val="150000"/>
              </a:lnSpc>
              <a:buClr>
                <a:schemeClr val="tx1"/>
              </a:buClr>
              <a:buSzPct val="100000"/>
              <a:buFont typeface="+mj-lt"/>
              <a:buAutoNum type="arabicPeriod"/>
            </a:pPr>
            <a:r>
              <a:rPr lang="fr-CA" sz="2200" dirty="0">
                <a:latin typeface="Times New Roman" pitchFamily="18" charset="0"/>
                <a:cs typeface="Times New Roman" pitchFamily="18" charset="0"/>
              </a:rPr>
              <a:t>Esquisser une parabole passant par tous les points repérés aux étapes 2 à 6.</a:t>
            </a:r>
          </a:p>
          <a:p>
            <a:pPr marL="0" indent="0">
              <a:lnSpc>
                <a:spcPct val="150000"/>
              </a:lnSpc>
              <a:buNone/>
            </a:pPr>
            <a:endParaRPr lang="fr-CA" sz="2400" b="1" i="1" u="sng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218D9FF6-9B92-4F02-9E90-23F8F054E0DF}" type="slidenum">
              <a:rPr lang="fr-CA" smtClean="0"/>
              <a:pPr>
                <a:defRPr/>
              </a:pPr>
              <a:t>13</a:t>
            </a:fld>
            <a:endParaRPr lang="fr-CA" dirty="0"/>
          </a:p>
        </p:txBody>
      </p:sp>
      <p:sp>
        <p:nvSpPr>
          <p:cNvPr id="2" name="ZoneTexte 1"/>
          <p:cNvSpPr txBox="1"/>
          <p:nvPr/>
        </p:nvSpPr>
        <p:spPr>
          <a:xfrm>
            <a:off x="4582274" y="3323690"/>
            <a:ext cx="65" cy="25763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xmlns="" val="25550253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15776" y="107429"/>
            <a:ext cx="9382199" cy="633670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lang="fr-CA" sz="2400" b="1" i="1" u="sng" dirty="0">
                <a:latin typeface="Times New Roman" pitchFamily="18" charset="0"/>
                <a:cs typeface="Times New Roman" pitchFamily="18" charset="0"/>
              </a:rPr>
              <a:t>Exemple</a:t>
            </a:r>
            <a:r>
              <a:rPr lang="fr-CA" sz="2400" b="1" dirty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fr-CA" sz="2200" dirty="0">
                <a:latin typeface="Times New Roman" pitchFamily="18" charset="0"/>
                <a:cs typeface="Times New Roman" pitchFamily="18" charset="0"/>
              </a:rPr>
              <a:t> Tracez les paraboles suivantes:</a:t>
            </a:r>
          </a:p>
          <a:p>
            <a:pPr>
              <a:lnSpc>
                <a:spcPct val="150000"/>
              </a:lnSpc>
              <a:buNone/>
            </a:pPr>
            <a:endParaRPr lang="fr-CA" sz="22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  <a:buNone/>
            </a:pPr>
            <a:endParaRPr lang="fr-CA" sz="2400" b="1" i="1" u="sng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218D9FF6-9B92-4F02-9E90-23F8F054E0DF}" type="slidenum">
              <a:rPr lang="fr-CA" smtClean="0"/>
              <a:pPr>
                <a:defRPr/>
              </a:pPr>
              <a:t>14</a:t>
            </a:fld>
            <a:endParaRPr lang="fr-CA" dirty="0"/>
          </a:p>
        </p:txBody>
      </p:sp>
      <p:sp>
        <p:nvSpPr>
          <p:cNvPr id="2" name="ZoneTexte 1"/>
          <p:cNvSpPr txBox="1"/>
          <p:nvPr/>
        </p:nvSpPr>
        <p:spPr>
          <a:xfrm>
            <a:off x="4582274" y="3323690"/>
            <a:ext cx="65" cy="25763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fr-CA" dirty="0"/>
          </a:p>
        </p:txBody>
      </p:sp>
      <p:graphicFrame>
        <p:nvGraphicFramePr>
          <p:cNvPr id="8" name="Objet 7"/>
          <p:cNvGraphicFramePr>
            <a:graphicFrameLocks noChangeAspect="1"/>
          </p:cNvGraphicFramePr>
          <p:nvPr>
            <p:extLst/>
          </p:nvPr>
        </p:nvGraphicFramePr>
        <p:xfrm>
          <a:off x="287784" y="827509"/>
          <a:ext cx="2661569" cy="474339"/>
        </p:xfrm>
        <a:graphic>
          <a:graphicData uri="http://schemas.openxmlformats.org/presentationml/2006/ole">
            <p:oleObj spid="_x0000_s194576" name="Equation" r:id="rId3" imgW="1282680" imgH="228600" progId="Equation.DSMT4">
              <p:embed/>
            </p:oleObj>
          </a:graphicData>
        </a:graphic>
      </p:graphicFrame>
    </p:spTree>
    <p:extLst>
      <p:ext uri="{BB962C8B-B14F-4D97-AF65-F5344CB8AC3E}">
        <p14:creationId xmlns:p14="http://schemas.microsoft.com/office/powerpoint/2010/main" xmlns="" val="20390460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218D9FF6-9B92-4F02-9E90-23F8F054E0DF}" type="slidenum">
              <a:rPr lang="fr-CA" smtClean="0"/>
              <a:pPr>
                <a:defRPr/>
              </a:pPr>
              <a:t>15</a:t>
            </a:fld>
            <a:endParaRPr lang="fr-CA" dirty="0"/>
          </a:p>
        </p:txBody>
      </p:sp>
      <p:sp>
        <p:nvSpPr>
          <p:cNvPr id="2" name="ZoneTexte 1"/>
          <p:cNvSpPr txBox="1"/>
          <p:nvPr/>
        </p:nvSpPr>
        <p:spPr>
          <a:xfrm>
            <a:off x="4582274" y="3323690"/>
            <a:ext cx="65" cy="25763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fr-CA" dirty="0"/>
          </a:p>
        </p:txBody>
      </p:sp>
      <p:graphicFrame>
        <p:nvGraphicFramePr>
          <p:cNvPr id="6" name="Objet 5"/>
          <p:cNvGraphicFramePr>
            <a:graphicFrameLocks noChangeAspect="1"/>
          </p:cNvGraphicFramePr>
          <p:nvPr>
            <p:extLst/>
          </p:nvPr>
        </p:nvGraphicFramePr>
        <p:xfrm>
          <a:off x="359792" y="251445"/>
          <a:ext cx="3024336" cy="504056"/>
        </p:xfrm>
        <a:graphic>
          <a:graphicData uri="http://schemas.openxmlformats.org/presentationml/2006/ole">
            <p:oleObj spid="_x0000_s195600" name="Equation" r:id="rId3" imgW="1371600" imgH="228600" progId="Equation.DSMT4">
              <p:embed/>
            </p:oleObj>
          </a:graphicData>
        </a:graphic>
      </p:graphicFrame>
    </p:spTree>
    <p:extLst>
      <p:ext uri="{BB962C8B-B14F-4D97-AF65-F5344CB8AC3E}">
        <p14:creationId xmlns:p14="http://schemas.microsoft.com/office/powerpoint/2010/main" xmlns="" val="23393126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218D9FF6-9B92-4F02-9E90-23F8F054E0DF}" type="slidenum">
              <a:rPr lang="fr-CA" smtClean="0"/>
              <a:pPr>
                <a:defRPr/>
              </a:pPr>
              <a:t>16</a:t>
            </a:fld>
            <a:endParaRPr lang="fr-CA" dirty="0"/>
          </a:p>
        </p:txBody>
      </p:sp>
      <p:graphicFrame>
        <p:nvGraphicFramePr>
          <p:cNvPr id="6" name="Objet 5"/>
          <p:cNvGraphicFramePr>
            <a:graphicFrameLocks noChangeAspect="1"/>
          </p:cNvGraphicFramePr>
          <p:nvPr>
            <p:extLst/>
          </p:nvPr>
        </p:nvGraphicFramePr>
        <p:xfrm>
          <a:off x="359792" y="179437"/>
          <a:ext cx="2741612" cy="474662"/>
        </p:xfrm>
        <a:graphic>
          <a:graphicData uri="http://schemas.openxmlformats.org/presentationml/2006/ole">
            <p:oleObj spid="_x0000_s196624" name="Equation" r:id="rId3" imgW="1320480" imgH="228600" progId="Equation.DSMT4">
              <p:embed/>
            </p:oleObj>
          </a:graphicData>
        </a:graphic>
      </p:graphicFrame>
    </p:spTree>
    <p:extLst>
      <p:ext uri="{BB962C8B-B14F-4D97-AF65-F5344CB8AC3E}">
        <p14:creationId xmlns:p14="http://schemas.microsoft.com/office/powerpoint/2010/main" xmlns="" val="16281925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31800" y="0"/>
            <a:ext cx="9131667" cy="6515370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fr-CA" sz="2400" b="1" i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18" charset="0"/>
                <a:cs typeface="Times New Roman" pitchFamily="18" charset="0"/>
              </a:rPr>
              <a:t>Caractéristique d’une fonction quadratique</a:t>
            </a:r>
            <a:endParaRPr lang="fr-CA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218D9FF6-9B92-4F02-9E90-23F8F054E0DF}" type="slidenum">
              <a:rPr lang="fr-CA" smtClean="0"/>
              <a:pPr>
                <a:defRPr/>
              </a:pPr>
              <a:t>17</a:t>
            </a:fld>
            <a:endParaRPr lang="fr-CA" dirty="0"/>
          </a:p>
        </p:txBody>
      </p:sp>
      <p:sp>
        <p:nvSpPr>
          <p:cNvPr id="2" name="ZoneTexte 1"/>
          <p:cNvSpPr txBox="1"/>
          <p:nvPr/>
        </p:nvSpPr>
        <p:spPr>
          <a:xfrm>
            <a:off x="4582274" y="3323690"/>
            <a:ext cx="65" cy="25763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fr-CA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783" y="611486"/>
            <a:ext cx="8784977" cy="7063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2022186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43768" y="107429"/>
            <a:ext cx="9419699" cy="6407941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fr-CA" sz="2400" b="1" i="1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18" charset="0"/>
                <a:cs typeface="Times New Roman" pitchFamily="18" charset="0"/>
              </a:rPr>
              <a:t>Exemple</a:t>
            </a:r>
            <a:r>
              <a:rPr lang="fr-CA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CA" sz="22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CA" sz="2200" dirty="0">
                <a:latin typeface="Times New Roman" pitchFamily="18" charset="0"/>
                <a:cs typeface="Times New Roman" pitchFamily="18" charset="0"/>
              </a:rPr>
              <a:t>Donnez toutes les caractéristiques de la fonction quadratique</a:t>
            </a:r>
          </a:p>
          <a:p>
            <a:pPr marL="0" indent="0">
              <a:lnSpc>
                <a:spcPct val="150000"/>
              </a:lnSpc>
              <a:buNone/>
            </a:pPr>
            <a:endParaRPr lang="fr-CA" sz="2200" dirty="0">
              <a:solidFill>
                <a:schemeClr val="tx1">
                  <a:lumMod val="85000"/>
                  <a:lumOff val="1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fr-CA" sz="2200" dirty="0">
              <a:solidFill>
                <a:schemeClr val="tx1">
                  <a:lumMod val="85000"/>
                  <a:lumOff val="1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218D9FF6-9B92-4F02-9E90-23F8F054E0DF}" type="slidenum">
              <a:rPr lang="fr-CA" smtClean="0"/>
              <a:pPr>
                <a:defRPr/>
              </a:pPr>
              <a:t>18</a:t>
            </a:fld>
            <a:endParaRPr lang="fr-CA" dirty="0"/>
          </a:p>
        </p:txBody>
      </p:sp>
      <p:sp>
        <p:nvSpPr>
          <p:cNvPr id="2" name="ZoneTexte 1"/>
          <p:cNvSpPr txBox="1"/>
          <p:nvPr/>
        </p:nvSpPr>
        <p:spPr>
          <a:xfrm>
            <a:off x="4582274" y="3323690"/>
            <a:ext cx="65" cy="25763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fr-CA" dirty="0"/>
          </a:p>
        </p:txBody>
      </p:sp>
      <p:graphicFrame>
        <p:nvGraphicFramePr>
          <p:cNvPr id="7" name="Objet 6"/>
          <p:cNvGraphicFramePr>
            <a:graphicFrameLocks noChangeAspect="1"/>
          </p:cNvGraphicFramePr>
          <p:nvPr>
            <p:extLst/>
          </p:nvPr>
        </p:nvGraphicFramePr>
        <p:xfrm>
          <a:off x="3168104" y="683493"/>
          <a:ext cx="2178050" cy="471488"/>
        </p:xfrm>
        <a:graphic>
          <a:graphicData uri="http://schemas.openxmlformats.org/presentationml/2006/ole">
            <p:oleObj spid="_x0000_s200720" name="Equation" r:id="rId3" imgW="1054080" imgH="228600" progId="Equation.DSMT4">
              <p:embed/>
            </p:oleObj>
          </a:graphicData>
        </a:graphic>
      </p:graphicFrame>
    </p:spTree>
    <p:extLst>
      <p:ext uri="{BB962C8B-B14F-4D97-AF65-F5344CB8AC3E}">
        <p14:creationId xmlns:p14="http://schemas.microsoft.com/office/powerpoint/2010/main" xmlns="" val="13926883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15776" y="179437"/>
            <a:ext cx="9382199" cy="6264696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fr-CA" sz="2400" b="1" i="1" dirty="0">
                <a:latin typeface="Times New Roman" pitchFamily="18" charset="0"/>
                <a:cs typeface="Times New Roman" pitchFamily="18" charset="0"/>
              </a:rPr>
              <a:t>Forme générale et forme canonique d’une fonction quadratique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r-CA" sz="2200" dirty="0">
                <a:latin typeface="Times New Roman" pitchFamily="18" charset="0"/>
                <a:cs typeface="Times New Roman" pitchFamily="18" charset="0"/>
              </a:rPr>
              <a:t>On peut écrire toute fonction quadratique                                     sous sa forme canonique                                                                               par complétion du carré en suivant les étapes suivantes:</a:t>
            </a:r>
          </a:p>
          <a:p>
            <a:pPr marL="0" indent="0">
              <a:lnSpc>
                <a:spcPct val="150000"/>
              </a:lnSpc>
              <a:buNone/>
            </a:pPr>
            <a:endParaRPr lang="fr-CA" sz="22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fr-CA" sz="22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fr-CA" sz="22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fr-CA" sz="2200" b="1" dirty="0">
                <a:latin typeface="Times New Roman" pitchFamily="18" charset="0"/>
                <a:cs typeface="Times New Roman" pitchFamily="18" charset="0"/>
              </a:rPr>
              <a:t>Avec la TI: </a:t>
            </a:r>
            <a:r>
              <a:rPr lang="fr-CA" sz="2200" dirty="0">
                <a:latin typeface="Times New Roman" pitchFamily="18" charset="0"/>
                <a:cs typeface="Times New Roman" pitchFamily="18" charset="0"/>
              </a:rPr>
              <a:t>[menu] –  [3. </a:t>
            </a:r>
            <a:r>
              <a:rPr lang="fr-CA" sz="2200" dirty="0" err="1">
                <a:latin typeface="Times New Roman" pitchFamily="18" charset="0"/>
                <a:cs typeface="Times New Roman" pitchFamily="18" charset="0"/>
              </a:rPr>
              <a:t>Algègre</a:t>
            </a:r>
            <a:r>
              <a:rPr lang="fr-CA" sz="2200" dirty="0">
                <a:latin typeface="Times New Roman" pitchFamily="18" charset="0"/>
                <a:cs typeface="Times New Roman" pitchFamily="18" charset="0"/>
              </a:rPr>
              <a:t>] – [5. Complétez le carré]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218D9FF6-9B92-4F02-9E90-23F8F054E0DF}" type="slidenum">
              <a:rPr lang="fr-CA" smtClean="0"/>
              <a:pPr>
                <a:defRPr/>
              </a:pPr>
              <a:t>19</a:t>
            </a:fld>
            <a:endParaRPr lang="fr-CA" dirty="0"/>
          </a:p>
        </p:txBody>
      </p:sp>
      <p:sp>
        <p:nvSpPr>
          <p:cNvPr id="2" name="ZoneTexte 1"/>
          <p:cNvSpPr txBox="1"/>
          <p:nvPr/>
        </p:nvSpPr>
        <p:spPr>
          <a:xfrm>
            <a:off x="4582274" y="3323690"/>
            <a:ext cx="65" cy="25763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fr-CA" dirty="0"/>
          </a:p>
        </p:txBody>
      </p:sp>
      <p:sp>
        <p:nvSpPr>
          <p:cNvPr id="5" name="Rectangle à coins arrondis 4"/>
          <p:cNvSpPr/>
          <p:nvPr/>
        </p:nvSpPr>
        <p:spPr>
          <a:xfrm>
            <a:off x="2762046" y="4931965"/>
            <a:ext cx="3070354" cy="648072"/>
          </a:xfrm>
          <a:prstGeom prst="roundRect">
            <a:avLst/>
          </a:prstGeom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6" name="ZoneTexte 5"/>
          <p:cNvSpPr txBox="1"/>
          <p:nvPr/>
        </p:nvSpPr>
        <p:spPr>
          <a:xfrm>
            <a:off x="2932483" y="5028858"/>
            <a:ext cx="2899917" cy="40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2200" dirty="0"/>
              <a:t>Fonction quadratique</a:t>
            </a:r>
          </a:p>
        </p:txBody>
      </p:sp>
      <p:cxnSp>
        <p:nvCxnSpPr>
          <p:cNvPr id="8" name="Connecteur droit avec flèche 7"/>
          <p:cNvCxnSpPr/>
          <p:nvPr/>
        </p:nvCxnSpPr>
        <p:spPr>
          <a:xfrm flipH="1">
            <a:off x="2055693" y="5580037"/>
            <a:ext cx="2264540" cy="8161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avec flèche 8"/>
          <p:cNvCxnSpPr/>
          <p:nvPr/>
        </p:nvCxnSpPr>
        <p:spPr>
          <a:xfrm>
            <a:off x="4320233" y="5580037"/>
            <a:ext cx="2160239" cy="8161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à coins arrondis 12"/>
          <p:cNvSpPr/>
          <p:nvPr/>
        </p:nvSpPr>
        <p:spPr>
          <a:xfrm>
            <a:off x="459129" y="6444133"/>
            <a:ext cx="3282100" cy="983965"/>
          </a:xfrm>
          <a:prstGeom prst="roundRect">
            <a:avLst/>
          </a:prstGeom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14" name="Rectangle à coins arrondis 13"/>
          <p:cNvSpPr/>
          <p:nvPr/>
        </p:nvSpPr>
        <p:spPr>
          <a:xfrm>
            <a:off x="5423429" y="6420315"/>
            <a:ext cx="2857243" cy="1031930"/>
          </a:xfrm>
          <a:prstGeom prst="roundRect">
            <a:avLst/>
          </a:prstGeom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graphicFrame>
        <p:nvGraphicFramePr>
          <p:cNvPr id="15" name="Objet 14"/>
          <p:cNvGraphicFramePr>
            <a:graphicFrameLocks noChangeAspect="1"/>
          </p:cNvGraphicFramePr>
          <p:nvPr>
            <p:extLst/>
          </p:nvPr>
        </p:nvGraphicFramePr>
        <p:xfrm>
          <a:off x="721435" y="6440645"/>
          <a:ext cx="2757487" cy="942975"/>
        </p:xfrm>
        <a:graphic>
          <a:graphicData uri="http://schemas.openxmlformats.org/presentationml/2006/ole">
            <p:oleObj spid="_x0000_s201800" name="Equation" r:id="rId3" imgW="1333440" imgH="457200" progId="Equation.DSMT4">
              <p:embed/>
            </p:oleObj>
          </a:graphicData>
        </a:graphic>
      </p:graphicFrame>
      <p:graphicFrame>
        <p:nvGraphicFramePr>
          <p:cNvPr id="16" name="Objet 15"/>
          <p:cNvGraphicFramePr>
            <a:graphicFrameLocks noChangeAspect="1"/>
          </p:cNvGraphicFramePr>
          <p:nvPr>
            <p:extLst/>
          </p:nvPr>
        </p:nvGraphicFramePr>
        <p:xfrm>
          <a:off x="5603618" y="6444133"/>
          <a:ext cx="2889250" cy="942975"/>
        </p:xfrm>
        <a:graphic>
          <a:graphicData uri="http://schemas.openxmlformats.org/presentationml/2006/ole">
            <p:oleObj spid="_x0000_s201801" name="Equation" r:id="rId4" imgW="1396800" imgH="457200" progId="Equation.DSMT4">
              <p:embed/>
            </p:oleObj>
          </a:graphicData>
        </a:graphic>
      </p:graphicFrame>
      <p:sp>
        <p:nvSpPr>
          <p:cNvPr id="7" name="ZoneTexte 6"/>
          <p:cNvSpPr txBox="1"/>
          <p:nvPr/>
        </p:nvSpPr>
        <p:spPr>
          <a:xfrm>
            <a:off x="1439912" y="5734125"/>
            <a:ext cx="1837064" cy="3499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/>
              <a:t>Forme générale </a:t>
            </a:r>
          </a:p>
        </p:txBody>
      </p:sp>
      <p:sp>
        <p:nvSpPr>
          <p:cNvPr id="18" name="ZoneTexte 17"/>
          <p:cNvSpPr txBox="1"/>
          <p:nvPr/>
        </p:nvSpPr>
        <p:spPr>
          <a:xfrm>
            <a:off x="5278291" y="5662117"/>
            <a:ext cx="2066277" cy="3499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/>
              <a:t>Forme canonique </a:t>
            </a:r>
          </a:p>
        </p:txBody>
      </p:sp>
      <p:graphicFrame>
        <p:nvGraphicFramePr>
          <p:cNvPr id="12" name="Objet 11"/>
          <p:cNvGraphicFramePr>
            <a:graphicFrameLocks noChangeAspect="1"/>
          </p:cNvGraphicFramePr>
          <p:nvPr>
            <p:extLst/>
          </p:nvPr>
        </p:nvGraphicFramePr>
        <p:xfrm>
          <a:off x="1586885" y="1403573"/>
          <a:ext cx="5280025" cy="471487"/>
        </p:xfrm>
        <a:graphic>
          <a:graphicData uri="http://schemas.openxmlformats.org/presentationml/2006/ole">
            <p:oleObj spid="_x0000_s201802" name="Equation" r:id="rId5" imgW="2552400" imgH="228600" progId="Equation.DSMT4">
              <p:embed/>
            </p:oleObj>
          </a:graphicData>
        </a:graphic>
      </p:graphicFrame>
      <p:graphicFrame>
        <p:nvGraphicFramePr>
          <p:cNvPr id="17" name="Objet 16"/>
          <p:cNvGraphicFramePr>
            <a:graphicFrameLocks noChangeAspect="1"/>
          </p:cNvGraphicFramePr>
          <p:nvPr>
            <p:extLst/>
          </p:nvPr>
        </p:nvGraphicFramePr>
        <p:xfrm>
          <a:off x="5020022" y="899517"/>
          <a:ext cx="2468562" cy="471487"/>
        </p:xfrm>
        <a:graphic>
          <a:graphicData uri="http://schemas.openxmlformats.org/presentationml/2006/ole">
            <p:oleObj spid="_x0000_s201803" name="Equation" r:id="rId6" imgW="1193760" imgH="228600" progId="Equation.DSMT4">
              <p:embed/>
            </p:oleObj>
          </a:graphicData>
        </a:graphic>
      </p:graphicFrame>
      <p:graphicFrame>
        <p:nvGraphicFramePr>
          <p:cNvPr id="19" name="Objet 18"/>
          <p:cNvGraphicFramePr>
            <a:graphicFrameLocks noChangeAspect="1"/>
          </p:cNvGraphicFramePr>
          <p:nvPr>
            <p:extLst/>
          </p:nvPr>
        </p:nvGraphicFramePr>
        <p:xfrm>
          <a:off x="894827" y="2325935"/>
          <a:ext cx="7407275" cy="1885950"/>
        </p:xfrm>
        <a:graphic>
          <a:graphicData uri="http://schemas.openxmlformats.org/presentationml/2006/ole">
            <p:oleObj spid="_x0000_s201804" name="Equation" r:id="rId7" imgW="3581280" imgH="914400" progId="Equation.DSMT4">
              <p:embed/>
            </p:oleObj>
          </a:graphicData>
        </a:graphic>
      </p:graphicFrame>
    </p:spTree>
    <p:extLst>
      <p:ext uri="{BB962C8B-B14F-4D97-AF65-F5344CB8AC3E}">
        <p14:creationId xmlns:p14="http://schemas.microsoft.com/office/powerpoint/2010/main" xmlns="" val="16724924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15776" y="107429"/>
            <a:ext cx="9382199" cy="6336704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fr-CA" sz="2400" b="1" i="1" u="sng" dirty="0">
                <a:latin typeface="Times New Roman" pitchFamily="18" charset="0"/>
                <a:cs typeface="Times New Roman" pitchFamily="18" charset="0"/>
              </a:rPr>
              <a:t>Remarque</a:t>
            </a:r>
            <a:r>
              <a:rPr lang="fr-CA" sz="2200" dirty="0">
                <a:latin typeface="Times New Roman" pitchFamily="18" charset="0"/>
                <a:cs typeface="Times New Roman" pitchFamily="18" charset="0"/>
              </a:rPr>
              <a:t>  Soit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r-CA" sz="2200" i="1" dirty="0">
                <a:latin typeface="Times New Roman" pitchFamily="18" charset="0"/>
                <a:cs typeface="Times New Roman" pitchFamily="18" charset="0"/>
              </a:rPr>
              <a:t> h</a:t>
            </a:r>
            <a:r>
              <a:rPr lang="fr-CA" sz="2200" dirty="0">
                <a:latin typeface="Times New Roman" pitchFamily="18" charset="0"/>
                <a:cs typeface="Times New Roman" pitchFamily="18" charset="0"/>
              </a:rPr>
              <a:t> et </a:t>
            </a:r>
            <a:r>
              <a:rPr lang="fr-CA" sz="2200" i="1" dirty="0">
                <a:latin typeface="Times New Roman" pitchFamily="18" charset="0"/>
                <a:cs typeface="Times New Roman" pitchFamily="18" charset="0"/>
              </a:rPr>
              <a:t>k</a:t>
            </a:r>
            <a:r>
              <a:rPr lang="fr-CA" sz="2200" dirty="0">
                <a:latin typeface="Times New Roman" pitchFamily="18" charset="0"/>
                <a:cs typeface="Times New Roman" pitchFamily="18" charset="0"/>
              </a:rPr>
              <a:t> représentent respectivement l’abscisse et l’ordonnée du sommet de la parabole décrite par la fonction </a:t>
            </a:r>
            <a:r>
              <a:rPr lang="fr-CA" sz="2200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fr-CA" sz="22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fr-CA" sz="2200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fr-CA" sz="2200" dirty="0">
                <a:latin typeface="Times New Roman" pitchFamily="18" charset="0"/>
                <a:cs typeface="Times New Roman" pitchFamily="18" charset="0"/>
              </a:rPr>
              <a:t>).</a:t>
            </a:r>
          </a:p>
          <a:p>
            <a:pPr marL="0" indent="0">
              <a:lnSpc>
                <a:spcPct val="150000"/>
              </a:lnSpc>
              <a:buNone/>
            </a:pPr>
            <a:endParaRPr lang="fr-CA" sz="22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fr-CA" sz="2200" b="1" dirty="0">
                <a:latin typeface="Times New Roman" pitchFamily="18" charset="0"/>
                <a:cs typeface="Times New Roman" pitchFamily="18" charset="0"/>
              </a:rPr>
              <a:t>Exemple. </a:t>
            </a:r>
            <a:r>
              <a:rPr lang="fr-CA" sz="2200" dirty="0">
                <a:latin typeface="Times New Roman" pitchFamily="18" charset="0"/>
                <a:cs typeface="Times New Roman" pitchFamily="18" charset="0"/>
              </a:rPr>
              <a:t>Déterminez la forme canonique des fonctions quadratiques suivantes:</a:t>
            </a:r>
            <a:endParaRPr lang="fr-CA" sz="2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218D9FF6-9B92-4F02-9E90-23F8F054E0DF}" type="slidenum">
              <a:rPr lang="fr-CA" smtClean="0"/>
              <a:pPr>
                <a:defRPr/>
              </a:pPr>
              <a:t>20</a:t>
            </a:fld>
            <a:endParaRPr lang="fr-CA" dirty="0"/>
          </a:p>
        </p:txBody>
      </p:sp>
      <p:sp>
        <p:nvSpPr>
          <p:cNvPr id="2" name="ZoneTexte 1"/>
          <p:cNvSpPr txBox="1"/>
          <p:nvPr/>
        </p:nvSpPr>
        <p:spPr>
          <a:xfrm>
            <a:off x="4582274" y="3323690"/>
            <a:ext cx="65" cy="25763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fr-CA" dirty="0"/>
          </a:p>
        </p:txBody>
      </p:sp>
      <p:graphicFrame>
        <p:nvGraphicFramePr>
          <p:cNvPr id="6" name="Objet 5"/>
          <p:cNvGraphicFramePr>
            <a:graphicFrameLocks noChangeAspect="1"/>
          </p:cNvGraphicFramePr>
          <p:nvPr>
            <p:extLst/>
          </p:nvPr>
        </p:nvGraphicFramePr>
        <p:xfrm>
          <a:off x="2250027" y="251445"/>
          <a:ext cx="5280025" cy="471487"/>
        </p:xfrm>
        <a:graphic>
          <a:graphicData uri="http://schemas.openxmlformats.org/presentationml/2006/ole">
            <p:oleObj spid="_x0000_s202796" name="Equation" r:id="rId3" imgW="2552400" imgH="228600" progId="Equation.DSMT4">
              <p:embed/>
            </p:oleObj>
          </a:graphicData>
        </a:graphic>
      </p:graphicFrame>
      <p:graphicFrame>
        <p:nvGraphicFramePr>
          <p:cNvPr id="7" name="Objet 6"/>
          <p:cNvGraphicFramePr>
            <a:graphicFrameLocks noChangeAspect="1"/>
          </p:cNvGraphicFramePr>
          <p:nvPr>
            <p:extLst/>
          </p:nvPr>
        </p:nvGraphicFramePr>
        <p:xfrm>
          <a:off x="5184328" y="1258888"/>
          <a:ext cx="3502472" cy="635457"/>
        </p:xfrm>
        <a:graphic>
          <a:graphicData uri="http://schemas.openxmlformats.org/presentationml/2006/ole">
            <p:oleObj spid="_x0000_s202797" name="Equation" r:id="rId4" imgW="1257120" imgH="228600" progId="Equation.DSMT4">
              <p:embed/>
            </p:oleObj>
          </a:graphicData>
        </a:graphic>
      </p:graphicFrame>
      <p:sp>
        <p:nvSpPr>
          <p:cNvPr id="5" name="Accolade fermante 4"/>
          <p:cNvSpPr/>
          <p:nvPr/>
        </p:nvSpPr>
        <p:spPr>
          <a:xfrm rot="16200000" flipH="1">
            <a:off x="7446373" y="1661809"/>
            <a:ext cx="300446" cy="360039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10" name="Accolade fermante 9"/>
          <p:cNvSpPr/>
          <p:nvPr/>
        </p:nvSpPr>
        <p:spPr>
          <a:xfrm rot="16200000" flipH="1">
            <a:off x="8310469" y="1661809"/>
            <a:ext cx="300446" cy="360039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8" name="ZoneTexte 7"/>
          <p:cNvSpPr txBox="1"/>
          <p:nvPr/>
        </p:nvSpPr>
        <p:spPr>
          <a:xfrm>
            <a:off x="6643742" y="1907629"/>
            <a:ext cx="1377867" cy="6076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/>
              <a:t>Abscisse </a:t>
            </a:r>
          </a:p>
          <a:p>
            <a:r>
              <a:rPr lang="fr-CA" dirty="0"/>
              <a:t>du sommet</a:t>
            </a:r>
          </a:p>
        </p:txBody>
      </p:sp>
      <p:sp>
        <p:nvSpPr>
          <p:cNvPr id="11" name="ZoneTexte 10"/>
          <p:cNvSpPr txBox="1"/>
          <p:nvPr/>
        </p:nvSpPr>
        <p:spPr>
          <a:xfrm>
            <a:off x="8198949" y="1907629"/>
            <a:ext cx="1377867" cy="6076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/>
              <a:t>ordonnée </a:t>
            </a:r>
          </a:p>
          <a:p>
            <a:r>
              <a:rPr lang="fr-CA" dirty="0"/>
              <a:t>du sommet</a:t>
            </a:r>
          </a:p>
        </p:txBody>
      </p:sp>
      <p:graphicFrame>
        <p:nvGraphicFramePr>
          <p:cNvPr id="12" name="Objet 11"/>
          <p:cNvGraphicFramePr>
            <a:graphicFrameLocks noChangeAspect="1"/>
          </p:cNvGraphicFramePr>
          <p:nvPr>
            <p:extLst/>
          </p:nvPr>
        </p:nvGraphicFramePr>
        <p:xfrm>
          <a:off x="359792" y="3131764"/>
          <a:ext cx="3096344" cy="2297287"/>
        </p:xfrm>
        <a:graphic>
          <a:graphicData uri="http://schemas.openxmlformats.org/presentationml/2006/ole">
            <p:oleObj spid="_x0000_s202798" name="Equation" r:id="rId5" imgW="1574640" imgH="1168200" progId="Equation.DSMT4">
              <p:embed/>
            </p:oleObj>
          </a:graphicData>
        </a:graphic>
      </p:graphicFrame>
    </p:spTree>
    <p:extLst>
      <p:ext uri="{BB962C8B-B14F-4D97-AF65-F5344CB8AC3E}">
        <p14:creationId xmlns:p14="http://schemas.microsoft.com/office/powerpoint/2010/main" xmlns="" val="22129276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31800" y="-1"/>
            <a:ext cx="9201917" cy="738023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fr-CA" b="1" i="1" dirty="0">
                <a:latin typeface="Times New Roman" pitchFamily="18" charset="0"/>
                <a:cs typeface="Times New Roman" pitchFamily="18" charset="0"/>
              </a:rPr>
              <a:t>Détermination de la règle décrivant une fonction quadratique (Règle de correspondance d’une fonction quadratique)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CA" sz="2400" b="1" i="1" u="sng" dirty="0">
                <a:latin typeface="Times New Roman" pitchFamily="18" charset="0"/>
                <a:cs typeface="Times New Roman" pitchFamily="18" charset="0"/>
              </a:rPr>
              <a:t>Connaissant le sommet et un point </a:t>
            </a:r>
            <a:r>
              <a:rPr lang="fr-CA" sz="2400" dirty="0">
                <a:latin typeface="Times New Roman" pitchFamily="18" charset="0"/>
                <a:cs typeface="Times New Roman" pitchFamily="18" charset="0"/>
              </a:rPr>
              <a:t>On utilise la forme canonique</a:t>
            </a:r>
          </a:p>
          <a:p>
            <a:pPr marL="0" indent="0">
              <a:lnSpc>
                <a:spcPct val="150000"/>
              </a:lnSpc>
              <a:buNone/>
            </a:pPr>
            <a:endParaRPr lang="fr-CA" sz="2400" b="1" i="1" u="sng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fr-CA" sz="2400" b="1" i="1" u="sng" dirty="0">
                <a:latin typeface="Times New Roman" pitchFamily="18" charset="0"/>
                <a:cs typeface="Times New Roman" pitchFamily="18" charset="0"/>
              </a:rPr>
              <a:t>Exemple</a:t>
            </a:r>
            <a:r>
              <a:rPr lang="fr-CA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CA" sz="2200" dirty="0">
                <a:latin typeface="Times New Roman" pitchFamily="18" charset="0"/>
                <a:cs typeface="Times New Roman" pitchFamily="18" charset="0"/>
              </a:rPr>
              <a:t>Déterminer la r</a:t>
            </a:r>
            <a:r>
              <a:rPr lang="fr-CA" sz="2400" dirty="0">
                <a:latin typeface="Times New Roman" pitchFamily="18" charset="0"/>
                <a:cs typeface="Times New Roman" pitchFamily="18" charset="0"/>
              </a:rPr>
              <a:t>ègle de correspondance de la parabole dont le sommet est                 et qui passe par le point (1,3).</a:t>
            </a:r>
            <a:r>
              <a:rPr lang="fr-CA" sz="22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r-CA" sz="2400" b="1" i="1" u="sng" dirty="0">
                <a:latin typeface="Times New Roman" pitchFamily="18" charset="0"/>
                <a:cs typeface="Times New Roman" pitchFamily="18" charset="0"/>
              </a:rPr>
              <a:t>Solution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218D9FF6-9B92-4F02-9E90-23F8F054E0DF}" type="slidenum">
              <a:rPr lang="fr-CA" smtClean="0"/>
              <a:pPr>
                <a:defRPr/>
              </a:pPr>
              <a:t>21</a:t>
            </a:fld>
            <a:endParaRPr lang="fr-CA" dirty="0"/>
          </a:p>
        </p:txBody>
      </p:sp>
      <p:sp>
        <p:nvSpPr>
          <p:cNvPr id="2" name="ZoneTexte 1"/>
          <p:cNvSpPr txBox="1"/>
          <p:nvPr/>
        </p:nvSpPr>
        <p:spPr>
          <a:xfrm>
            <a:off x="4582274" y="3323690"/>
            <a:ext cx="65" cy="25763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fr-CA" dirty="0"/>
          </a:p>
        </p:txBody>
      </p:sp>
      <p:graphicFrame>
        <p:nvGraphicFramePr>
          <p:cNvPr id="8" name="Objet 7"/>
          <p:cNvGraphicFramePr>
            <a:graphicFrameLocks noChangeAspect="1"/>
          </p:cNvGraphicFramePr>
          <p:nvPr>
            <p:extLst/>
          </p:nvPr>
        </p:nvGraphicFramePr>
        <p:xfrm>
          <a:off x="719832" y="1979637"/>
          <a:ext cx="2664296" cy="483386"/>
        </p:xfrm>
        <a:graphic>
          <a:graphicData uri="http://schemas.openxmlformats.org/presentationml/2006/ole">
            <p:oleObj spid="_x0000_s211992" name="Equation" r:id="rId3" imgW="1257120" imgH="228600" progId="Equation.DSMT4">
              <p:embed/>
            </p:oleObj>
          </a:graphicData>
        </a:graphic>
      </p:graphicFrame>
      <p:graphicFrame>
        <p:nvGraphicFramePr>
          <p:cNvPr id="7" name="Objet 6"/>
          <p:cNvGraphicFramePr>
            <a:graphicFrameLocks noChangeAspect="1"/>
          </p:cNvGraphicFramePr>
          <p:nvPr>
            <p:extLst/>
          </p:nvPr>
        </p:nvGraphicFramePr>
        <p:xfrm>
          <a:off x="2087984" y="3210476"/>
          <a:ext cx="982126" cy="741698"/>
        </p:xfrm>
        <a:graphic>
          <a:graphicData uri="http://schemas.openxmlformats.org/presentationml/2006/ole">
            <p:oleObj spid="_x0000_s211993" name="Equation" r:id="rId4" imgW="571320" imgH="431640" progId="Equation.DSMT4">
              <p:embed/>
            </p:oleObj>
          </a:graphicData>
        </a:graphic>
      </p:graphicFrame>
    </p:spTree>
    <p:extLst>
      <p:ext uri="{BB962C8B-B14F-4D97-AF65-F5344CB8AC3E}">
        <p14:creationId xmlns:p14="http://schemas.microsoft.com/office/powerpoint/2010/main" xmlns="" val="17183772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31800" y="-1"/>
            <a:ext cx="9201917" cy="7452245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fr-CA" b="1" i="1" dirty="0">
                <a:latin typeface="Times New Roman" pitchFamily="18" charset="0"/>
                <a:cs typeface="Times New Roman" pitchFamily="18" charset="0"/>
              </a:rPr>
              <a:t>Détermination de la règle décrivant une fonction quadratique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r-CA" b="1" i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CA" sz="2400" b="1" i="1" u="sng" dirty="0">
                <a:latin typeface="Times New Roman" pitchFamily="18" charset="0"/>
                <a:cs typeface="Times New Roman" pitchFamily="18" charset="0"/>
              </a:rPr>
              <a:t>Règle de correspondance d’une fonction quadratique</a:t>
            </a:r>
            <a:endParaRPr lang="fr-CA" b="1" i="1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CA" sz="2400" b="1" i="1" u="sng" dirty="0">
                <a:latin typeface="Times New Roman" pitchFamily="18" charset="0"/>
                <a:cs typeface="Times New Roman" pitchFamily="18" charset="0"/>
              </a:rPr>
              <a:t>Connaissant les zéros et un point </a:t>
            </a:r>
            <a:r>
              <a:rPr lang="fr-CA" sz="2400" dirty="0">
                <a:latin typeface="Times New Roman" pitchFamily="18" charset="0"/>
                <a:cs typeface="Times New Roman" pitchFamily="18" charset="0"/>
              </a:rPr>
              <a:t>On utilise la forme générale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fr-CA" sz="2400" b="1" i="1" u="sng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fr-CA" sz="2400" b="1" i="1" u="sng" dirty="0">
                <a:latin typeface="Times New Roman" pitchFamily="18" charset="0"/>
                <a:cs typeface="Times New Roman" pitchFamily="18" charset="0"/>
              </a:rPr>
              <a:t>Exemple</a:t>
            </a:r>
            <a:r>
              <a:rPr lang="fr-CA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CA" sz="2200" dirty="0">
                <a:latin typeface="Times New Roman" pitchFamily="18" charset="0"/>
                <a:cs typeface="Times New Roman" pitchFamily="18" charset="0"/>
              </a:rPr>
              <a:t>Déterminer la r</a:t>
            </a:r>
            <a:r>
              <a:rPr lang="fr-CA" sz="2400" dirty="0">
                <a:latin typeface="Times New Roman" pitchFamily="18" charset="0"/>
                <a:cs typeface="Times New Roman" pitchFamily="18" charset="0"/>
              </a:rPr>
              <a:t>ègle de correspondance de la parabole dont les zéros sont                             et qui passe par le point (3,10).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r-CA" sz="2400" b="1" i="1" u="sng" dirty="0">
                <a:latin typeface="Times New Roman" pitchFamily="18" charset="0"/>
                <a:cs typeface="Times New Roman" pitchFamily="18" charset="0"/>
              </a:rPr>
              <a:t>Solution</a:t>
            </a:r>
            <a:r>
              <a:rPr lang="fr-CA" sz="2200" dirty="0">
                <a:latin typeface="Times New Roman" pitchFamily="18" charset="0"/>
                <a:cs typeface="Times New Roman" pitchFamily="18" charset="0"/>
              </a:rPr>
              <a:t> </a:t>
            </a:r>
            <a:endParaRPr lang="fr-CA" sz="2200" u="sng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218D9FF6-9B92-4F02-9E90-23F8F054E0DF}" type="slidenum">
              <a:rPr lang="fr-CA" smtClean="0"/>
              <a:pPr>
                <a:defRPr/>
              </a:pPr>
              <a:t>22</a:t>
            </a:fld>
            <a:endParaRPr lang="fr-CA" dirty="0"/>
          </a:p>
        </p:txBody>
      </p:sp>
      <p:sp>
        <p:nvSpPr>
          <p:cNvPr id="2" name="ZoneTexte 1"/>
          <p:cNvSpPr txBox="1"/>
          <p:nvPr/>
        </p:nvSpPr>
        <p:spPr>
          <a:xfrm>
            <a:off x="4582274" y="3323690"/>
            <a:ext cx="65" cy="25763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fr-CA" dirty="0"/>
          </a:p>
        </p:txBody>
      </p:sp>
      <p:graphicFrame>
        <p:nvGraphicFramePr>
          <p:cNvPr id="7" name="Objet 6"/>
          <p:cNvGraphicFramePr>
            <a:graphicFrameLocks noChangeAspect="1"/>
          </p:cNvGraphicFramePr>
          <p:nvPr>
            <p:extLst/>
          </p:nvPr>
        </p:nvGraphicFramePr>
        <p:xfrm>
          <a:off x="863848" y="2195661"/>
          <a:ext cx="2468562" cy="471487"/>
        </p:xfrm>
        <a:graphic>
          <a:graphicData uri="http://schemas.openxmlformats.org/presentationml/2006/ole">
            <p:oleObj spid="_x0000_s213016" name="Equation" r:id="rId3" imgW="1193760" imgH="228600" progId="Equation.DSMT4">
              <p:embed/>
            </p:oleObj>
          </a:graphicData>
        </a:graphic>
      </p:graphicFrame>
      <p:graphicFrame>
        <p:nvGraphicFramePr>
          <p:cNvPr id="8" name="Objet 7"/>
          <p:cNvGraphicFramePr>
            <a:graphicFrameLocks noChangeAspect="1"/>
          </p:cNvGraphicFramePr>
          <p:nvPr>
            <p:extLst/>
          </p:nvPr>
        </p:nvGraphicFramePr>
        <p:xfrm>
          <a:off x="1871960" y="3243187"/>
          <a:ext cx="2032000" cy="676275"/>
        </p:xfrm>
        <a:graphic>
          <a:graphicData uri="http://schemas.openxmlformats.org/presentationml/2006/ole">
            <p:oleObj spid="_x0000_s213017" name="Equation" r:id="rId4" imgW="1180800" imgH="393480" progId="Equation.DSMT4">
              <p:embed/>
            </p:oleObj>
          </a:graphicData>
        </a:graphic>
      </p:graphicFrame>
    </p:spTree>
    <p:extLst>
      <p:ext uri="{BB962C8B-B14F-4D97-AF65-F5344CB8AC3E}">
        <p14:creationId xmlns:p14="http://schemas.microsoft.com/office/powerpoint/2010/main" xmlns="" val="803734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31800" y="-1"/>
            <a:ext cx="9145016" cy="7524253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fr-CA" b="1" i="1" dirty="0">
                <a:latin typeface="Times New Roman" pitchFamily="18" charset="0"/>
                <a:cs typeface="Times New Roman" pitchFamily="18" charset="0"/>
              </a:rPr>
              <a:t>Détermination de la règle décrivant une fonction quadratique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CA" sz="2400" b="1" i="1" u="sng" dirty="0">
                <a:latin typeface="Times New Roman" pitchFamily="18" charset="0"/>
                <a:cs typeface="Times New Roman" pitchFamily="18" charset="0"/>
              </a:rPr>
              <a:t>Connaissant l’ordonnée à l’origine et deux points </a:t>
            </a:r>
            <a:r>
              <a:rPr lang="fr-CA" sz="2400" dirty="0">
                <a:latin typeface="Times New Roman" pitchFamily="18" charset="0"/>
                <a:cs typeface="Times New Roman" pitchFamily="18" charset="0"/>
              </a:rPr>
              <a:t>On utilise la forme générale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r-CA" sz="2400" b="1" i="1" u="sng" dirty="0">
                <a:latin typeface="Times New Roman" pitchFamily="18" charset="0"/>
                <a:cs typeface="Times New Roman" pitchFamily="18" charset="0"/>
              </a:rPr>
              <a:t>Exemple</a:t>
            </a:r>
            <a:r>
              <a:rPr lang="fr-CA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CA" sz="2200" dirty="0">
                <a:latin typeface="Times New Roman" pitchFamily="18" charset="0"/>
                <a:cs typeface="Times New Roman" pitchFamily="18" charset="0"/>
              </a:rPr>
              <a:t>Déterminer la r</a:t>
            </a:r>
            <a:r>
              <a:rPr lang="fr-CA" sz="2400" dirty="0">
                <a:latin typeface="Times New Roman" pitchFamily="18" charset="0"/>
                <a:cs typeface="Times New Roman" pitchFamily="18" charset="0"/>
              </a:rPr>
              <a:t>ègle de correspondance de la parabole dont l’ordonnée à l’origine vaut 1,et et qui passe par les points (-2,-3) et (1,6).</a:t>
            </a:r>
            <a:r>
              <a:rPr lang="fr-CA" sz="22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r-CA" sz="2400" b="1" i="1" u="sng" dirty="0">
                <a:latin typeface="Times New Roman" pitchFamily="18" charset="0"/>
                <a:cs typeface="Times New Roman" pitchFamily="18" charset="0"/>
              </a:rPr>
              <a:t>Solution</a:t>
            </a:r>
          </a:p>
          <a:p>
            <a:pPr marL="0" indent="0">
              <a:lnSpc>
                <a:spcPct val="150000"/>
              </a:lnSpc>
              <a:buNone/>
            </a:pPr>
            <a:endParaRPr lang="fr-CA" sz="2400" b="1" i="1" u="sng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218D9FF6-9B92-4F02-9E90-23F8F054E0DF}" type="slidenum">
              <a:rPr lang="fr-CA" smtClean="0"/>
              <a:pPr>
                <a:defRPr/>
              </a:pPr>
              <a:t>23</a:t>
            </a:fld>
            <a:endParaRPr lang="fr-CA" dirty="0"/>
          </a:p>
        </p:txBody>
      </p:sp>
      <p:sp>
        <p:nvSpPr>
          <p:cNvPr id="2" name="ZoneTexte 1"/>
          <p:cNvSpPr txBox="1"/>
          <p:nvPr/>
        </p:nvSpPr>
        <p:spPr>
          <a:xfrm>
            <a:off x="4582274" y="3323690"/>
            <a:ext cx="65" cy="25763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fr-CA" dirty="0"/>
          </a:p>
        </p:txBody>
      </p:sp>
      <p:graphicFrame>
        <p:nvGraphicFramePr>
          <p:cNvPr id="7" name="Objet 6"/>
          <p:cNvGraphicFramePr>
            <a:graphicFrameLocks noChangeAspect="1"/>
          </p:cNvGraphicFramePr>
          <p:nvPr>
            <p:extLst/>
          </p:nvPr>
        </p:nvGraphicFramePr>
        <p:xfrm>
          <a:off x="1943968" y="1331565"/>
          <a:ext cx="2468562" cy="471487"/>
        </p:xfrm>
        <a:graphic>
          <a:graphicData uri="http://schemas.openxmlformats.org/presentationml/2006/ole">
            <p:oleObj spid="_x0000_s214029" name="Equation" r:id="rId3" imgW="1193760" imgH="228600" progId="Equation.DSMT4">
              <p:embed/>
            </p:oleObj>
          </a:graphicData>
        </a:graphic>
      </p:graphicFrame>
    </p:spTree>
    <p:extLst>
      <p:ext uri="{BB962C8B-B14F-4D97-AF65-F5344CB8AC3E}">
        <p14:creationId xmlns:p14="http://schemas.microsoft.com/office/powerpoint/2010/main" xmlns="" val="19654860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31800" y="-1"/>
            <a:ext cx="9145016" cy="6948189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fr-CA" b="1" i="1" dirty="0">
                <a:latin typeface="Times New Roman" pitchFamily="18" charset="0"/>
                <a:cs typeface="Times New Roman" pitchFamily="18" charset="0"/>
              </a:rPr>
              <a:t>Détermination de la règle décrivant une fonction quadratique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r-CA" sz="2400" b="1" i="1" u="sng" dirty="0">
                <a:latin typeface="Times New Roman" pitchFamily="18" charset="0"/>
                <a:cs typeface="Times New Roman" pitchFamily="18" charset="0"/>
              </a:rPr>
              <a:t>Connaissant trois points distincts </a:t>
            </a:r>
            <a:r>
              <a:rPr lang="fr-CA" sz="2400" dirty="0">
                <a:latin typeface="Times New Roman" pitchFamily="18" charset="0"/>
                <a:cs typeface="Times New Roman" pitchFamily="18" charset="0"/>
              </a:rPr>
              <a:t>On utilise la forme générale,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r-CA" sz="2400" dirty="0">
                <a:latin typeface="Times New Roman" pitchFamily="18" charset="0"/>
                <a:cs typeface="Times New Roman" pitchFamily="18" charset="0"/>
              </a:rPr>
              <a:t>                               , et on résout un système de 3 équations à 3 inconnues.</a:t>
            </a:r>
            <a:endParaRPr lang="fr-CA" sz="2400" b="1" i="1" u="sng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fr-CA" sz="2400" b="1" i="1" u="sng" dirty="0">
                <a:latin typeface="Times New Roman" pitchFamily="18" charset="0"/>
                <a:cs typeface="Times New Roman" pitchFamily="18" charset="0"/>
              </a:rPr>
              <a:t>Exemple</a:t>
            </a:r>
            <a:r>
              <a:rPr lang="fr-CA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CA" sz="2200" dirty="0">
                <a:latin typeface="Times New Roman" pitchFamily="18" charset="0"/>
                <a:cs typeface="Times New Roman" pitchFamily="18" charset="0"/>
              </a:rPr>
              <a:t>Déterminer la r</a:t>
            </a:r>
            <a:r>
              <a:rPr lang="fr-CA" sz="2400" dirty="0">
                <a:latin typeface="Times New Roman" pitchFamily="18" charset="0"/>
                <a:cs typeface="Times New Roman" pitchFamily="18" charset="0"/>
              </a:rPr>
              <a:t>ègle de correspondance de la parabole qui passe par les points(-1,3), (0,-1) et (2,9).</a:t>
            </a:r>
            <a:r>
              <a:rPr lang="fr-CA" sz="2200" dirty="0">
                <a:latin typeface="Times New Roman" pitchFamily="18" charset="0"/>
                <a:cs typeface="Times New Roman" pitchFamily="18" charset="0"/>
              </a:rPr>
              <a:t> </a:t>
            </a:r>
            <a:endParaRPr lang="fr-CA" sz="2200" u="sng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>
              <a:defRPr/>
            </a:pPr>
            <a:fld id="{218D9FF6-9B92-4F02-9E90-23F8F054E0DF}" type="slidenum">
              <a:rPr lang="fr-CA" smtClean="0"/>
              <a:pPr>
                <a:defRPr/>
              </a:pPr>
              <a:t>24</a:t>
            </a:fld>
            <a:endParaRPr lang="fr-CA" dirty="0"/>
          </a:p>
        </p:txBody>
      </p:sp>
      <p:sp>
        <p:nvSpPr>
          <p:cNvPr id="2" name="ZoneTexte 1"/>
          <p:cNvSpPr txBox="1"/>
          <p:nvPr/>
        </p:nvSpPr>
        <p:spPr>
          <a:xfrm>
            <a:off x="4582274" y="3323690"/>
            <a:ext cx="65" cy="25763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fr-CA" dirty="0"/>
          </a:p>
        </p:txBody>
      </p:sp>
      <p:graphicFrame>
        <p:nvGraphicFramePr>
          <p:cNvPr id="7" name="Objet 6"/>
          <p:cNvGraphicFramePr>
            <a:graphicFrameLocks noChangeAspect="1"/>
          </p:cNvGraphicFramePr>
          <p:nvPr>
            <p:extLst/>
          </p:nvPr>
        </p:nvGraphicFramePr>
        <p:xfrm>
          <a:off x="336699" y="1475581"/>
          <a:ext cx="2468562" cy="471487"/>
        </p:xfrm>
        <a:graphic>
          <a:graphicData uri="http://schemas.openxmlformats.org/presentationml/2006/ole">
            <p:oleObj spid="_x0000_s215053" name="Equation" r:id="rId3" imgW="1193760" imgH="228600" progId="Equation.DSMT4">
              <p:embed/>
            </p:oleObj>
          </a:graphicData>
        </a:graphic>
      </p:graphicFrame>
    </p:spTree>
    <p:extLst>
      <p:ext uri="{BB962C8B-B14F-4D97-AF65-F5344CB8AC3E}">
        <p14:creationId xmlns:p14="http://schemas.microsoft.com/office/powerpoint/2010/main" xmlns="" val="11614598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68280" y="779441"/>
            <a:ext cx="9074150" cy="6121421"/>
          </a:xfrm>
        </p:spPr>
        <p:txBody>
          <a:bodyPr>
            <a:normAutofit/>
          </a:bodyPr>
          <a:lstStyle/>
          <a:p>
            <a:pPr>
              <a:buNone/>
            </a:pPr>
            <a:endParaRPr lang="fr-FR" sz="2400" b="1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fr-FR" sz="2400" b="1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fr-FR" sz="2400" b="1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fr-FR" sz="2400" b="1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fr-FR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25000" lnSpcReduction="20000"/>
          </a:bodyPr>
          <a:lstStyle/>
          <a:p>
            <a:pPr>
              <a:defRPr/>
            </a:pPr>
            <a:fld id="{218D9FF6-9B92-4F02-9E90-23F8F054E0DF}" type="slidenum">
              <a:rPr lang="fr-CA" smtClean="0"/>
              <a:pPr>
                <a:defRPr/>
              </a:pPr>
              <a:t>25</a:t>
            </a:fld>
            <a:endParaRPr lang="fr-CA" dirty="0"/>
          </a:p>
        </p:txBody>
      </p:sp>
      <p:sp>
        <p:nvSpPr>
          <p:cNvPr id="12" name="Rectangle 11"/>
          <p:cNvSpPr/>
          <p:nvPr/>
        </p:nvSpPr>
        <p:spPr>
          <a:xfrm>
            <a:off x="287784" y="179437"/>
            <a:ext cx="9181685" cy="18670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CA" sz="2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6.3-Fonctions Polynomiales d’ordre n (n : un entier naturel)</a:t>
            </a:r>
          </a:p>
          <a:p>
            <a:endParaRPr lang="fr-CA" sz="2400" b="1" i="1" dirty="0"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endParaRPr lang="fr-CA" sz="2400" b="1" i="1" dirty="0"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endParaRPr lang="fr-CA" sz="2400" b="1" i="1" dirty="0"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endParaRPr lang="fr-CA" sz="2400" b="1" i="1" dirty="0"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26645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1429351146"/>
              </p:ext>
            </p:extLst>
          </p:nvPr>
        </p:nvGraphicFramePr>
        <p:xfrm>
          <a:off x="1727944" y="1379220"/>
          <a:ext cx="5270500" cy="609600"/>
        </p:xfrm>
        <a:graphic>
          <a:graphicData uri="http://schemas.openxmlformats.org/presentationml/2006/ole">
            <p:oleObj spid="_x0000_s227350" name="Equation" r:id="rId3" imgW="2082600" imgH="241200" progId="Equation.DSMT4">
              <p:embed/>
            </p:oleObj>
          </a:graphicData>
        </a:graphic>
      </p:graphicFrame>
      <p:sp>
        <p:nvSpPr>
          <p:cNvPr id="15" name="Rectangle 14"/>
          <p:cNvSpPr/>
          <p:nvPr/>
        </p:nvSpPr>
        <p:spPr>
          <a:xfrm>
            <a:off x="611156" y="2422515"/>
            <a:ext cx="8358246" cy="407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CA" sz="2200" dirty="0">
                <a:latin typeface="Times New Roman" pitchFamily="18" charset="0"/>
                <a:cs typeface="Times New Roman" pitchFamily="18" charset="0"/>
              </a:rPr>
              <a:t>où</a:t>
            </a:r>
            <a:r>
              <a:rPr lang="fr-CA" sz="2200" b="1" i="1" dirty="0">
                <a:solidFill>
                  <a:schemeClr val="accent3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                            </a:t>
            </a:r>
            <a:r>
              <a:rPr lang="fr-CA" sz="2200" b="1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fr-CA" sz="2200" dirty="0">
                <a:latin typeface="Times New Roman" pitchFamily="18" charset="0"/>
                <a:cs typeface="Times New Roman" pitchFamily="18" charset="0"/>
              </a:rPr>
              <a:t>ont des constantes réelles telles que</a:t>
            </a:r>
            <a:endParaRPr lang="fr-CA" sz="2200" dirty="0"/>
          </a:p>
        </p:txBody>
      </p:sp>
      <p:graphicFrame>
        <p:nvGraphicFramePr>
          <p:cNvPr id="26646" name="Object 22"/>
          <p:cNvGraphicFramePr>
            <a:graphicFrameLocks noChangeAspect="1"/>
          </p:cNvGraphicFramePr>
          <p:nvPr/>
        </p:nvGraphicFramePr>
        <p:xfrm>
          <a:off x="1182660" y="2351077"/>
          <a:ext cx="1766888" cy="577850"/>
        </p:xfrm>
        <a:graphic>
          <a:graphicData uri="http://schemas.openxmlformats.org/presentationml/2006/ole">
            <p:oleObj spid="_x0000_s227351" name="Equation" r:id="rId4" imgW="698500" imgH="228600" progId="Equation.DSMT4">
              <p:embed/>
            </p:oleObj>
          </a:graphicData>
        </a:graphic>
      </p:graphicFrame>
      <p:graphicFrame>
        <p:nvGraphicFramePr>
          <p:cNvPr id="26647" name="Object 23"/>
          <p:cNvGraphicFramePr>
            <a:graphicFrameLocks noChangeAspect="1"/>
          </p:cNvGraphicFramePr>
          <p:nvPr>
            <p:extLst/>
          </p:nvPr>
        </p:nvGraphicFramePr>
        <p:xfrm>
          <a:off x="7151688" y="2351088"/>
          <a:ext cx="1125537" cy="577850"/>
        </p:xfrm>
        <a:graphic>
          <a:graphicData uri="http://schemas.openxmlformats.org/presentationml/2006/ole">
            <p:oleObj spid="_x0000_s227352" name="Equation" r:id="rId5" imgW="444240" imgH="228600" progId="Equation.DSMT4">
              <p:embed/>
            </p:oleObj>
          </a:graphicData>
        </a:graphic>
      </p:graphicFrame>
      <p:sp>
        <p:nvSpPr>
          <p:cNvPr id="18" name="Rectangle 17"/>
          <p:cNvSpPr/>
          <p:nvPr/>
        </p:nvSpPr>
        <p:spPr>
          <a:xfrm>
            <a:off x="968346" y="3136895"/>
            <a:ext cx="8358246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fr-CA" sz="2400" b="1" i="1" u="sng" dirty="0">
                <a:latin typeface="Times New Roman" pitchFamily="18" charset="0"/>
                <a:cs typeface="Times New Roman" pitchFamily="18" charset="0"/>
              </a:rPr>
              <a:t>Remarques</a:t>
            </a:r>
            <a:r>
              <a:rPr lang="fr-CA" sz="2200" b="1" i="1" u="sng" dirty="0">
                <a:solidFill>
                  <a:schemeClr val="accent3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fr-CA" sz="2200" dirty="0">
                <a:latin typeface="Times New Roman" pitchFamily="18" charset="0"/>
                <a:cs typeface="Times New Roman" pitchFamily="18" charset="0"/>
              </a:rPr>
              <a:t>Dom ( </a:t>
            </a:r>
            <a:r>
              <a:rPr lang="fr-CA" sz="2200" i="1" dirty="0">
                <a:latin typeface="Times New Roman" pitchFamily="18" charset="0"/>
                <a:cs typeface="Times New Roman" pitchFamily="18" charset="0"/>
              </a:rPr>
              <a:t>f </a:t>
            </a:r>
            <a:r>
              <a:rPr lang="fr-CA" sz="2200" dirty="0">
                <a:latin typeface="Times New Roman" pitchFamily="18" charset="0"/>
                <a:cs typeface="Times New Roman" pitchFamily="18" charset="0"/>
              </a:rPr>
              <a:t>) =</a:t>
            </a:r>
            <a:r>
              <a:rPr lang="fr-CA" sz="2200" i="1" dirty="0">
                <a:latin typeface="Times New Roman" pitchFamily="18" charset="0"/>
                <a:cs typeface="Times New Roman" pitchFamily="18" charset="0"/>
              </a:rPr>
              <a:t>IR;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fr-CA" sz="2200" i="1" dirty="0">
                <a:latin typeface="Times New Roman" pitchFamily="18" charset="0"/>
                <a:cs typeface="Times New Roman" pitchFamily="18" charset="0"/>
              </a:rPr>
              <a:t>f </a:t>
            </a:r>
            <a:r>
              <a:rPr lang="fr-CA" sz="2200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fr-CA" sz="2200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fr-CA" sz="2200" dirty="0">
                <a:latin typeface="Times New Roman" pitchFamily="18" charset="0"/>
                <a:cs typeface="Times New Roman" pitchFamily="18" charset="0"/>
              </a:rPr>
              <a:t>)=</a:t>
            </a:r>
            <a:r>
              <a:rPr lang="fr-CA" sz="2200" i="1" dirty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fr-CA" sz="2200" dirty="0">
                <a:latin typeface="Times New Roman" pitchFamily="18" charset="0"/>
                <a:cs typeface="Times New Roman" pitchFamily="18" charset="0"/>
              </a:rPr>
              <a:t> est une fonction polynomiale de degré 0;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fr-CA" sz="2200" i="1" dirty="0">
                <a:latin typeface="Times New Roman" pitchFamily="18" charset="0"/>
                <a:cs typeface="Times New Roman" pitchFamily="18" charset="0"/>
              </a:rPr>
              <a:t>f (x</a:t>
            </a:r>
            <a:r>
              <a:rPr lang="fr-CA" sz="2200" dirty="0">
                <a:latin typeface="Times New Roman" pitchFamily="18" charset="0"/>
                <a:cs typeface="Times New Roman" pitchFamily="18" charset="0"/>
              </a:rPr>
              <a:t>)=</a:t>
            </a:r>
            <a:r>
              <a:rPr lang="fr-CA" sz="2200" i="1" dirty="0">
                <a:latin typeface="Times New Roman" pitchFamily="18" charset="0"/>
                <a:cs typeface="Times New Roman" pitchFamily="18" charset="0"/>
              </a:rPr>
              <a:t>a x+b </a:t>
            </a:r>
            <a:r>
              <a:rPr lang="fr-CA" sz="2200" dirty="0">
                <a:latin typeface="Times New Roman" pitchFamily="18" charset="0"/>
                <a:cs typeface="Times New Roman" pitchFamily="18" charset="0"/>
              </a:rPr>
              <a:t>est une fonction polynomiale de degré 1;</a:t>
            </a:r>
          </a:p>
          <a:p>
            <a:pPr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fr-CA" sz="2200" dirty="0">
                <a:latin typeface="Times New Roman" pitchFamily="18" charset="0"/>
                <a:cs typeface="Times New Roman" pitchFamily="18" charset="0"/>
              </a:rPr>
              <a:t>                                  est une fonction polynomiale de degré 2.  </a:t>
            </a:r>
          </a:p>
        </p:txBody>
      </p:sp>
      <p:graphicFrame>
        <p:nvGraphicFramePr>
          <p:cNvPr id="26648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2279065882"/>
              </p:ext>
            </p:extLst>
          </p:nvPr>
        </p:nvGraphicFramePr>
        <p:xfrm>
          <a:off x="1325536" y="5280035"/>
          <a:ext cx="2312987" cy="442912"/>
        </p:xfrm>
        <a:graphic>
          <a:graphicData uri="http://schemas.openxmlformats.org/presentationml/2006/ole">
            <p:oleObj spid="_x0000_s227353" name="Equation" r:id="rId6" imgW="1193800" imgH="228600" progId="Equation.DSMT4">
              <p:embed/>
            </p:oleObj>
          </a:graphicData>
        </a:graphic>
      </p:graphicFrame>
    </p:spTree>
    <p:extLst>
      <p:ext uri="{BB962C8B-B14F-4D97-AF65-F5344CB8AC3E}">
        <p14:creationId xmlns:p14="http://schemas.microsoft.com/office/powerpoint/2010/main" xmlns="" val="208830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5777" y="323453"/>
            <a:ext cx="9360820" cy="5813839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fr-CA" sz="96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Exemple</a:t>
            </a:r>
            <a:r>
              <a:rPr lang="fr-CA" sz="96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fr-CA" sz="8800" dirty="0">
                <a:latin typeface="Times New Roman" pitchFamily="18" charset="0"/>
                <a:cs typeface="Times New Roman" pitchFamily="18" charset="0"/>
              </a:rPr>
              <a:t>Soit la fonction</a:t>
            </a:r>
          </a:p>
          <a:p>
            <a:pPr>
              <a:buNone/>
            </a:pPr>
            <a:endParaRPr lang="fr-CA" sz="8800" dirty="0"/>
          </a:p>
          <a:p>
            <a:r>
              <a:rPr lang="fr-CA" sz="8800" dirty="0">
                <a:latin typeface="Times New Roman" pitchFamily="18" charset="0"/>
                <a:cs typeface="Times New Roman" pitchFamily="18" charset="0"/>
              </a:rPr>
              <a:t>a) Quelle est la nature de </a:t>
            </a:r>
            <a:r>
              <a:rPr lang="fr-CA" sz="8800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fr-CA" sz="8800" dirty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r>
              <a:rPr lang="fr-CA" sz="8800" dirty="0">
                <a:latin typeface="Times New Roman" pitchFamily="18" charset="0"/>
                <a:cs typeface="Times New Roman" pitchFamily="18" charset="0"/>
              </a:rPr>
              <a:t>b) Donner les zéros de la fonction </a:t>
            </a:r>
            <a:r>
              <a:rPr lang="fr-CA" sz="8800" i="1" dirty="0">
                <a:latin typeface="Times New Roman" pitchFamily="18" charset="0"/>
                <a:cs typeface="Times New Roman" pitchFamily="18" charset="0"/>
              </a:rPr>
              <a:t>f.</a:t>
            </a:r>
            <a:r>
              <a:rPr lang="fr-CA" sz="88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>
              <a:buNone/>
            </a:pPr>
            <a:endParaRPr lang="fr-CA" sz="8800" b="1" i="1" u="sng" dirty="0"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fr-CA" sz="8800" b="1" i="1" u="sng" dirty="0"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endParaRPr lang="fr-CA" sz="8800" b="1" i="1" dirty="0">
              <a:solidFill>
                <a:schemeClr val="accent3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fr-CA" sz="88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fr-CA" sz="8800" b="1" i="1" u="sng" dirty="0"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fr-CA" sz="8800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fr-CA" sz="8800" dirty="0">
              <a:latin typeface="Times New Roman" pitchFamily="18" charset="0"/>
              <a:cs typeface="Times New Roman" pitchFamily="18" charset="0"/>
            </a:endParaRPr>
          </a:p>
          <a:p>
            <a:endParaRPr lang="fr-CA" sz="8800" b="1" dirty="0">
              <a:latin typeface="Times New Roman" pitchFamily="18" charset="0"/>
              <a:cs typeface="Times New Roman" pitchFamily="18" charset="0"/>
            </a:endParaRPr>
          </a:p>
          <a:p>
            <a:endParaRPr lang="fr-CA" sz="8800" dirty="0">
              <a:latin typeface="Times New Roman" pitchFamily="18" charset="0"/>
              <a:cs typeface="Times New Roman" pitchFamily="18" charset="0"/>
            </a:endParaRPr>
          </a:p>
          <a:p>
            <a:endParaRPr lang="fr-CA" sz="8800" dirty="0">
              <a:latin typeface="Times New Roman" pitchFamily="18" charset="0"/>
              <a:cs typeface="Times New Roman" pitchFamily="18" charset="0"/>
            </a:endParaRPr>
          </a:p>
          <a:p>
            <a:endParaRPr lang="fr-CA" sz="8800" dirty="0">
              <a:latin typeface="Times New Roman" pitchFamily="18" charset="0"/>
              <a:cs typeface="Times New Roman" pitchFamily="18" charset="0"/>
            </a:endParaRPr>
          </a:p>
          <a:p>
            <a:endParaRPr lang="fr-CA" sz="8800" dirty="0">
              <a:latin typeface="Times New Roman" pitchFamily="18" charset="0"/>
              <a:cs typeface="Times New Roman" pitchFamily="18" charset="0"/>
            </a:endParaRPr>
          </a:p>
          <a:p>
            <a:endParaRPr lang="fr-CA" sz="8800" dirty="0">
              <a:latin typeface="Times New Roman" pitchFamily="18" charset="0"/>
              <a:cs typeface="Times New Roman" pitchFamily="18" charset="0"/>
            </a:endParaRPr>
          </a:p>
          <a:p>
            <a:endParaRPr lang="fr-CA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fr-CA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fr-CA" sz="2400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fr-CA" dirty="0"/>
          </a:p>
        </p:txBody>
      </p:sp>
      <p:graphicFrame>
        <p:nvGraphicFramePr>
          <p:cNvPr id="27664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2966796857"/>
              </p:ext>
            </p:extLst>
          </p:nvPr>
        </p:nvGraphicFramePr>
        <p:xfrm>
          <a:off x="3456136" y="251445"/>
          <a:ext cx="1943100" cy="442912"/>
        </p:xfrm>
        <a:graphic>
          <a:graphicData uri="http://schemas.openxmlformats.org/presentationml/2006/ole">
            <p:oleObj spid="_x0000_s228364" name="Equation" r:id="rId3" imgW="1002865" imgH="228501" progId="Equation.DSMT4">
              <p:embed/>
            </p:oleObj>
          </a:graphicData>
        </a:graphic>
      </p:graphicFrame>
    </p:spTree>
    <p:extLst>
      <p:ext uri="{BB962C8B-B14F-4D97-AF65-F5344CB8AC3E}">
        <p14:creationId xmlns:p14="http://schemas.microsoft.com/office/powerpoint/2010/main" xmlns="" val="21597052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5777" y="179437"/>
            <a:ext cx="9360820" cy="5957855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endParaRPr lang="fr-CA" sz="8800" dirty="0"/>
          </a:p>
          <a:p>
            <a:pPr marL="0" indent="0">
              <a:buNone/>
            </a:pPr>
            <a:r>
              <a:rPr lang="fr-CA" sz="9600" b="1" i="1" dirty="0">
                <a:latin typeface="Times New Roman" pitchFamily="18" charset="0"/>
                <a:cs typeface="Times New Roman" pitchFamily="18" charset="0"/>
              </a:rPr>
              <a:t>5. Fonctions rationnelles</a:t>
            </a:r>
            <a:r>
              <a:rPr lang="fr-CA" sz="9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CA" sz="8800" dirty="0">
                <a:latin typeface="Times New Roman" pitchFamily="18" charset="0"/>
                <a:cs typeface="Times New Roman" pitchFamily="18" charset="0"/>
              </a:rPr>
              <a:t>Soit la fonction                    , où           et   </a:t>
            </a:r>
            <a:endParaRPr lang="fr-CA" sz="8800" b="1" i="1" dirty="0">
              <a:latin typeface="Times New Roman" pitchFamily="18" charset="0"/>
              <a:cs typeface="Times New Roman" pitchFamily="18" charset="0"/>
            </a:endParaRPr>
          </a:p>
          <a:p>
            <a:endParaRPr lang="fr-CA" sz="8800" b="1" i="1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fr-CA" sz="8800" dirty="0">
                <a:latin typeface="Times New Roman" pitchFamily="18" charset="0"/>
                <a:cs typeface="Times New Roman" pitchFamily="18" charset="0"/>
              </a:rPr>
              <a:t>      sont des fonctions polynomiales, telles que:</a:t>
            </a:r>
          </a:p>
          <a:p>
            <a:pPr>
              <a:buNone/>
            </a:pPr>
            <a:endParaRPr lang="fr-CA" sz="88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fr-CA" sz="8800" b="1" i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fr-CA" sz="8800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fr-CA" sz="8800" dirty="0">
              <a:latin typeface="Times New Roman" pitchFamily="18" charset="0"/>
              <a:cs typeface="Times New Roman" pitchFamily="18" charset="0"/>
            </a:endParaRPr>
          </a:p>
          <a:p>
            <a:endParaRPr lang="fr-CA" sz="8800" b="1" dirty="0">
              <a:latin typeface="Times New Roman" pitchFamily="18" charset="0"/>
              <a:cs typeface="Times New Roman" pitchFamily="18" charset="0"/>
            </a:endParaRPr>
          </a:p>
          <a:p>
            <a:endParaRPr lang="fr-CA" sz="88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lang="fr-CA" sz="8800" dirty="0">
              <a:latin typeface="Times New Roman" pitchFamily="18" charset="0"/>
              <a:cs typeface="Times New Roman" pitchFamily="18" charset="0"/>
            </a:endParaRPr>
          </a:p>
          <a:p>
            <a:endParaRPr lang="fr-CA" sz="8800" dirty="0">
              <a:latin typeface="Times New Roman" pitchFamily="18" charset="0"/>
              <a:cs typeface="Times New Roman" pitchFamily="18" charset="0"/>
            </a:endParaRPr>
          </a:p>
          <a:p>
            <a:endParaRPr lang="fr-CA" sz="8800" dirty="0">
              <a:latin typeface="Times New Roman" pitchFamily="18" charset="0"/>
              <a:cs typeface="Times New Roman" pitchFamily="18" charset="0"/>
            </a:endParaRPr>
          </a:p>
          <a:p>
            <a:endParaRPr lang="fr-CA" sz="8800" dirty="0">
              <a:latin typeface="Times New Roman" pitchFamily="18" charset="0"/>
              <a:cs typeface="Times New Roman" pitchFamily="18" charset="0"/>
            </a:endParaRPr>
          </a:p>
          <a:p>
            <a:endParaRPr lang="fr-CA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fr-CA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fr-CA" sz="2400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fr-CA" dirty="0"/>
          </a:p>
        </p:txBody>
      </p:sp>
      <p:graphicFrame>
        <p:nvGraphicFramePr>
          <p:cNvPr id="27665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1200334664"/>
              </p:ext>
            </p:extLst>
          </p:nvPr>
        </p:nvGraphicFramePr>
        <p:xfrm>
          <a:off x="5267325" y="395461"/>
          <a:ext cx="1357322" cy="710648"/>
        </p:xfrm>
        <a:graphic>
          <a:graphicData uri="http://schemas.openxmlformats.org/presentationml/2006/ole">
            <p:oleObj spid="_x0000_s231446" name="Equation" r:id="rId3" imgW="800100" imgH="419100" progId="Equation.DSMT4">
              <p:embed/>
            </p:oleObj>
          </a:graphicData>
        </a:graphic>
      </p:graphicFrame>
      <p:graphicFrame>
        <p:nvGraphicFramePr>
          <p:cNvPr id="27666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2054174916"/>
              </p:ext>
            </p:extLst>
          </p:nvPr>
        </p:nvGraphicFramePr>
        <p:xfrm>
          <a:off x="7128544" y="569016"/>
          <a:ext cx="590550" cy="363537"/>
        </p:xfrm>
        <a:graphic>
          <a:graphicData uri="http://schemas.openxmlformats.org/presentationml/2006/ole">
            <p:oleObj spid="_x0000_s231447" name="Equation" r:id="rId4" imgW="330057" imgH="203112" progId="Equation.DSMT4">
              <p:embed/>
            </p:oleObj>
          </a:graphicData>
        </a:graphic>
      </p:graphicFrame>
      <p:graphicFrame>
        <p:nvGraphicFramePr>
          <p:cNvPr id="27668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2848441643"/>
              </p:ext>
            </p:extLst>
          </p:nvPr>
        </p:nvGraphicFramePr>
        <p:xfrm>
          <a:off x="8079520" y="569015"/>
          <a:ext cx="568325" cy="363538"/>
        </p:xfrm>
        <a:graphic>
          <a:graphicData uri="http://schemas.openxmlformats.org/presentationml/2006/ole">
            <p:oleObj spid="_x0000_s231448" name="Equation" r:id="rId5" imgW="317225" imgH="203024" progId="Equation.DSMT4">
              <p:embed/>
            </p:oleObj>
          </a:graphicData>
        </a:graphic>
      </p:graphicFrame>
      <p:graphicFrame>
        <p:nvGraphicFramePr>
          <p:cNvPr id="27669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3008401132"/>
              </p:ext>
            </p:extLst>
          </p:nvPr>
        </p:nvGraphicFramePr>
        <p:xfrm>
          <a:off x="5832400" y="1240614"/>
          <a:ext cx="1022350" cy="363537"/>
        </p:xfrm>
        <a:graphic>
          <a:graphicData uri="http://schemas.openxmlformats.org/presentationml/2006/ole">
            <p:oleObj spid="_x0000_s231449" name="Equation" r:id="rId6" imgW="571320" imgH="203040" progId="Equation.DSMT4">
              <p:embed/>
            </p:oleObj>
          </a:graphicData>
        </a:graphic>
      </p:graphicFrame>
      <p:graphicFrame>
        <p:nvGraphicFramePr>
          <p:cNvPr id="27670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156491417"/>
              </p:ext>
            </p:extLst>
          </p:nvPr>
        </p:nvGraphicFramePr>
        <p:xfrm>
          <a:off x="2087984" y="2267669"/>
          <a:ext cx="3935412" cy="492125"/>
        </p:xfrm>
        <a:graphic>
          <a:graphicData uri="http://schemas.openxmlformats.org/presentationml/2006/ole">
            <p:oleObj spid="_x0000_s231450" name="Equation" r:id="rId7" imgW="2031840" imgH="253800" progId="Equation.DSMT4">
              <p:embed/>
            </p:oleObj>
          </a:graphicData>
        </a:graphic>
      </p:graphicFrame>
    </p:spTree>
    <p:extLst>
      <p:ext uri="{BB962C8B-B14F-4D97-AF65-F5344CB8AC3E}">
        <p14:creationId xmlns:p14="http://schemas.microsoft.com/office/powerpoint/2010/main" xmlns="" val="3443238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7784" y="323453"/>
            <a:ext cx="9288811" cy="604867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CA" sz="24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Exemple</a:t>
            </a:r>
            <a:r>
              <a:rPr lang="fr-CA" sz="2400" dirty="0">
                <a:latin typeface="Times New Roman" pitchFamily="18" charset="0"/>
                <a:cs typeface="Times New Roman" pitchFamily="18" charset="0"/>
              </a:rPr>
              <a:t> Soit la fonction </a:t>
            </a:r>
            <a:endParaRPr lang="fr-CA" sz="2400" b="1" i="1" u="sng" dirty="0">
              <a:solidFill>
                <a:schemeClr val="tx1">
                  <a:lumMod val="65000"/>
                  <a:lumOff val="3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fr-CA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fr-CA" sz="2400" dirty="0">
                <a:latin typeface="Times New Roman" pitchFamily="18" charset="0"/>
                <a:cs typeface="Times New Roman" pitchFamily="18" charset="0"/>
              </a:rPr>
              <a:t>Déterminer</a:t>
            </a:r>
            <a:r>
              <a:rPr lang="fr-CA" sz="2400" i="1" dirty="0">
                <a:latin typeface="Times New Roman" pitchFamily="18" charset="0"/>
                <a:cs typeface="Times New Roman" pitchFamily="18" charset="0"/>
              </a:rPr>
              <a:t> Dom</a:t>
            </a:r>
            <a:r>
              <a:rPr lang="fr-CA" sz="2400" dirty="0">
                <a:latin typeface="Times New Roman" pitchFamily="18" charset="0"/>
                <a:cs typeface="Times New Roman" pitchFamily="18" charset="0"/>
              </a:rPr>
              <a:t>( </a:t>
            </a:r>
            <a:r>
              <a:rPr lang="fr-CA" sz="2400" i="1" dirty="0">
                <a:latin typeface="Times New Roman" pitchFamily="18" charset="0"/>
                <a:cs typeface="Times New Roman" pitchFamily="18" charset="0"/>
              </a:rPr>
              <a:t>f </a:t>
            </a:r>
            <a:r>
              <a:rPr lang="fr-CA" sz="2400" dirty="0">
                <a:latin typeface="Times New Roman" pitchFamily="18" charset="0"/>
                <a:cs typeface="Times New Roman" pitchFamily="18" charset="0"/>
              </a:rPr>
              <a:t>) et les zéros de </a:t>
            </a:r>
            <a:r>
              <a:rPr lang="fr-CA" sz="2400" i="1" dirty="0">
                <a:latin typeface="Times New Roman" pitchFamily="18" charset="0"/>
                <a:cs typeface="Times New Roman" pitchFamily="18" charset="0"/>
              </a:rPr>
              <a:t>f.</a:t>
            </a:r>
          </a:p>
          <a:p>
            <a:pPr>
              <a:buNone/>
            </a:pPr>
            <a:endParaRPr lang="fr-CA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fr-CA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fr-CA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18D9FF6-9B92-4F02-9E90-23F8F054E0DF}" type="slidenum">
              <a:rPr lang="fr-CA" smtClean="0"/>
              <a:pPr>
                <a:defRPr/>
              </a:pPr>
              <a:t>28</a:t>
            </a:fld>
            <a:endParaRPr lang="fr-CA" dirty="0"/>
          </a:p>
        </p:txBody>
      </p:sp>
      <p:graphicFrame>
        <p:nvGraphicFramePr>
          <p:cNvPr id="28686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2450832453"/>
              </p:ext>
            </p:extLst>
          </p:nvPr>
        </p:nvGraphicFramePr>
        <p:xfrm>
          <a:off x="3600152" y="179437"/>
          <a:ext cx="1960563" cy="711200"/>
        </p:xfrm>
        <a:graphic>
          <a:graphicData uri="http://schemas.openxmlformats.org/presentationml/2006/ole">
            <p:oleObj spid="_x0000_s229383" name="Equation" r:id="rId3" imgW="1155700" imgH="419100" progId="Equation.DSMT4">
              <p:embed/>
            </p:oleObj>
          </a:graphicData>
        </a:graphic>
      </p:graphicFrame>
    </p:spTree>
    <p:extLst>
      <p:ext uri="{BB962C8B-B14F-4D97-AF65-F5344CB8AC3E}">
        <p14:creationId xmlns:p14="http://schemas.microsoft.com/office/powerpoint/2010/main" xmlns="" val="29316119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7784" y="323453"/>
            <a:ext cx="9288811" cy="604867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CA" sz="24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Exercice</a:t>
            </a:r>
            <a:endParaRPr lang="fr-CA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endParaRPr lang="fr-CA" dirty="0"/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xmlns="" id="{E4135103-AFAE-4F28-A352-02CCEF0E13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784" y="755501"/>
            <a:ext cx="9145592" cy="2736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25738307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93349</TotalTime>
  <Words>1202</Words>
  <Application>Microsoft Office PowerPoint</Application>
  <PresentationFormat>Personnalisé</PresentationFormat>
  <Paragraphs>233</Paragraphs>
  <Slides>29</Slides>
  <Notes>1</Notes>
  <HiddenSlides>0</HiddenSlides>
  <MMClips>0</MMClips>
  <ScaleCrop>false</ScaleCrop>
  <HeadingPairs>
    <vt:vector size="6" baseType="variant">
      <vt:variant>
        <vt:lpstr>Thème</vt:lpstr>
      </vt:variant>
      <vt:variant>
        <vt:i4>1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29</vt:i4>
      </vt:variant>
    </vt:vector>
  </HeadingPairs>
  <TitlesOfParts>
    <vt:vector size="31" baseType="lpstr">
      <vt:lpstr>Oriel</vt:lpstr>
      <vt:lpstr>Equation</vt:lpstr>
      <vt:lpstr>Diapositive 1</vt:lpstr>
      <vt:lpstr>Plan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  <vt:lpstr>Diapositive 21</vt:lpstr>
      <vt:lpstr>Diapositive 22</vt:lpstr>
      <vt:lpstr>Diapositive 23</vt:lpstr>
      <vt:lpstr>Diapositive 24</vt:lpstr>
      <vt:lpstr>Diapositive 25</vt:lpstr>
      <vt:lpstr>Diapositive 26</vt:lpstr>
      <vt:lpstr>Diapositive 27</vt:lpstr>
      <vt:lpstr>Diapositive 28</vt:lpstr>
      <vt:lpstr>Diapositive 29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kamel</dc:creator>
  <cp:lastModifiedBy>Karima</cp:lastModifiedBy>
  <cp:revision>2862</cp:revision>
  <cp:lastPrinted>1601-01-01T00:00:00Z</cp:lastPrinted>
  <dcterms:created xsi:type="dcterms:W3CDTF">2010-12-06T03:45:49Z</dcterms:created>
  <dcterms:modified xsi:type="dcterms:W3CDTF">2018-07-14T02:00:57Z</dcterms:modified>
</cp:coreProperties>
</file>