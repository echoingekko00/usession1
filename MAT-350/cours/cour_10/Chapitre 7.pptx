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52" r:id="rId1"/>
  </p:sldMasterIdLst>
  <p:notesMasterIdLst>
    <p:notesMasterId r:id="rId22"/>
  </p:notesMasterIdLst>
  <p:sldIdLst>
    <p:sldId id="256" r:id="rId2"/>
    <p:sldId id="488" r:id="rId3"/>
    <p:sldId id="512" r:id="rId4"/>
    <p:sldId id="665" r:id="rId5"/>
    <p:sldId id="666" r:id="rId6"/>
    <p:sldId id="667" r:id="rId7"/>
    <p:sldId id="678" r:id="rId8"/>
    <p:sldId id="695" r:id="rId9"/>
    <p:sldId id="682" r:id="rId10"/>
    <p:sldId id="683" r:id="rId11"/>
    <p:sldId id="691" r:id="rId12"/>
    <p:sldId id="693" r:id="rId13"/>
    <p:sldId id="669" r:id="rId14"/>
    <p:sldId id="670" r:id="rId15"/>
    <p:sldId id="671" r:id="rId16"/>
    <p:sldId id="677" r:id="rId17"/>
    <p:sldId id="673" r:id="rId18"/>
    <p:sldId id="674" r:id="rId19"/>
    <p:sldId id="694" r:id="rId20"/>
    <p:sldId id="688" r:id="rId21"/>
  </p:sldIdLst>
  <p:sldSz cx="10080625" cy="7559675"/>
  <p:notesSz cx="7099300" cy="10234613"/>
  <p:defaultTextStyle>
    <a:defPPr>
      <a:defRPr lang="en-GB"/>
    </a:defPPr>
    <a:lvl1pPr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739983" indent="-283632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139284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595633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051980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1739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38086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194432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0783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0">
          <p15:clr>
            <a:srgbClr val="A4A3A4"/>
          </p15:clr>
        </p15:guide>
        <p15:guide id="2" pos="197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177" autoAdjust="0"/>
    <p:restoredTop sz="95391" autoAdjust="0"/>
  </p:normalViewPr>
  <p:slideViewPr>
    <p:cSldViewPr>
      <p:cViewPr varScale="1">
        <p:scale>
          <a:sx n="76" d="100"/>
          <a:sy n="76" d="100"/>
        </p:scale>
        <p:origin x="1260" y="56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0" y="7704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30"/>
        <p:guide pos="197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e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4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0600" y="776288"/>
            <a:ext cx="5116513" cy="3836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10510" y="4860473"/>
            <a:ext cx="5678280" cy="46036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018007" y="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972256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018007" y="972256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F3C752DE-243B-4F07-8278-8DA2CD0A3177}" type="slidenum">
              <a:rPr lang="fr-CA"/>
              <a:pPr>
                <a:defRPr/>
              </a:pPr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859098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1565" indent="-285218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0866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597216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3565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1265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7518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3770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0025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defTabSz="447675">
              <a:buFont typeface="Times New Roman" pitchFamily="18" charset="0"/>
              <a:buNone/>
            </a:pPr>
            <a:fld id="{546272A0-FE2F-4F32-842C-D629C898BF81}" type="slidenum">
              <a:rPr lang="fr-CA" smtClean="0">
                <a:latin typeface="Times New Roman" pitchFamily="18" charset="0"/>
              </a:rPr>
              <a:pPr defTabSz="447675">
                <a:buFont typeface="Times New Roman" pitchFamily="18" charset="0"/>
                <a:buNone/>
              </a:pPr>
              <a:t>1</a:t>
            </a:fld>
            <a:endParaRPr lang="fr-CA" dirty="0">
              <a:latin typeface="Times New Roman" pitchFamily="18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76288"/>
            <a:ext cx="5118100" cy="3838575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10" y="4860473"/>
            <a:ext cx="5679730" cy="4605252"/>
          </a:xfrm>
          <a:noFill/>
          <a:ln/>
        </p:spPr>
        <p:txBody>
          <a:bodyPr wrap="none" anchor="ctr"/>
          <a:lstStyle/>
          <a:p>
            <a:endParaRPr lang="fr-F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520156" y="3443852"/>
            <a:ext cx="6804422" cy="2088183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520156" y="5515236"/>
            <a:ext cx="6804422" cy="1511935"/>
          </a:xfrm>
        </p:spPr>
        <p:txBody>
          <a:bodyPr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 marL="503972" indent="0" algn="ctr">
              <a:buNone/>
            </a:lvl2pPr>
            <a:lvl3pPr marL="1007943" indent="0" algn="ctr">
              <a:buNone/>
            </a:lvl3pPr>
            <a:lvl4pPr marL="1511915" indent="0" algn="ctr">
              <a:buNone/>
            </a:lvl4pPr>
            <a:lvl5pPr marL="2015886" indent="0" algn="ctr">
              <a:buNone/>
            </a:lvl5pPr>
            <a:lvl6pPr marL="2519858" indent="0" algn="ctr">
              <a:buNone/>
            </a:lvl6pPr>
            <a:lvl7pPr marL="3023829" indent="0" algn="ctr">
              <a:buNone/>
            </a:lvl7pPr>
            <a:lvl8pPr marL="3527801" indent="0" algn="ctr">
              <a:buNone/>
            </a:lvl8pPr>
            <a:lvl9pPr marL="4031772" indent="0" algn="ctr">
              <a:buNone/>
            </a:lvl9pPr>
          </a:lstStyle>
          <a:p>
            <a:r>
              <a:rPr kumimoji="0" lang="fr-FR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8560088" y="1294202"/>
            <a:ext cx="2519892" cy="420026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02409" y="4609494"/>
            <a:ext cx="4031827" cy="423386"/>
          </a:xfrm>
        </p:spPr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420026" y="0"/>
            <a:ext cx="672042" cy="7559675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04641" y="0"/>
            <a:ext cx="115385" cy="7559675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1092068" y="0"/>
            <a:ext cx="200501" cy="7559675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258226" y="0"/>
            <a:ext cx="253868" cy="7559675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17237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1008063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941599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903501" y="0"/>
            <a:ext cx="0" cy="7559675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176073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10047393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344083" y="0"/>
            <a:ext cx="84005" cy="7559675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72041" y="3779837"/>
            <a:ext cx="1428089" cy="1427939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443779" y="5364693"/>
            <a:ext cx="707125" cy="707051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202840" y="6063428"/>
            <a:ext cx="151209" cy="151194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834674" y="6380366"/>
            <a:ext cx="302419" cy="302387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2100130" y="4955787"/>
            <a:ext cx="403225" cy="403183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461320" y="5432981"/>
            <a:ext cx="672042" cy="570474"/>
          </a:xfrm>
        </p:spPr>
        <p:txBody>
          <a:bodyPr/>
          <a:lstStyle/>
          <a:p>
            <a:pPr>
              <a:defRPr/>
            </a:pPr>
            <a:fld id="{729A8005-3758-4093-8CCB-F980ED511ABC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504031" y="1763924"/>
            <a:ext cx="8232510" cy="5372409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20156" y="3191863"/>
            <a:ext cx="6804422" cy="2263703"/>
          </a:xfrm>
        </p:spPr>
        <p:txBody>
          <a:bodyPr/>
          <a:lstStyle>
            <a:lvl1pPr algn="l">
              <a:buNone/>
              <a:defRPr sz="33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20156" y="5522763"/>
            <a:ext cx="6804422" cy="1511935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8558583" y="1290163"/>
            <a:ext cx="2519892" cy="420026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02615" y="4606340"/>
            <a:ext cx="4031827" cy="423386"/>
          </a:xfrm>
        </p:spPr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9" name="Rectangle 8"/>
          <p:cNvSpPr/>
          <p:nvPr/>
        </p:nvSpPr>
        <p:spPr bwMode="auto">
          <a:xfrm>
            <a:off x="420026" y="0"/>
            <a:ext cx="672042" cy="7559675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04641" y="0"/>
            <a:ext cx="115385" cy="7559675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092068" y="0"/>
            <a:ext cx="200501" cy="7559675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258226" y="0"/>
            <a:ext cx="253868" cy="7559675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17237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1008063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941599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903501" y="0"/>
            <a:ext cx="0" cy="7559675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176073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344083" y="0"/>
            <a:ext cx="84005" cy="7559675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72041" y="3779837"/>
            <a:ext cx="1428089" cy="1427939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460394" y="5364693"/>
            <a:ext cx="707125" cy="707051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202840" y="6063428"/>
            <a:ext cx="151209" cy="151194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834674" y="6383726"/>
            <a:ext cx="302419" cy="302387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2071511" y="4938247"/>
            <a:ext cx="403225" cy="403183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10029851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477936" y="5432981"/>
            <a:ext cx="672042" cy="570474"/>
          </a:xfrm>
        </p:spPr>
        <p:txBody>
          <a:bodyPr/>
          <a:lstStyle/>
          <a:p>
            <a:pPr>
              <a:defRPr/>
            </a:pPr>
            <a:fld id="{FC2DD7CC-7C0E-417B-BBB8-0CA69B49BFE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688F9F-EA6B-4BC5-98D8-BD614BE94D05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504031" y="1763924"/>
            <a:ext cx="4032250" cy="5039783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707652" y="1763924"/>
            <a:ext cx="4032250" cy="5039783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1" y="300987"/>
            <a:ext cx="8316516" cy="1259946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790B6-AA77-42D7-AFC9-9ADFCF507B37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504031" y="2603888"/>
            <a:ext cx="4032250" cy="4283816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19799" y="2603888"/>
            <a:ext cx="4032250" cy="4283816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504031" y="1730326"/>
            <a:ext cx="4032250" cy="72572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788297" y="1730326"/>
            <a:ext cx="4032250" cy="72572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EDF17C5A-C09D-4B46-A8A8-04BC7B2569F2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4775CE-F241-4693-BB8F-C04D6B0CFBA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717596" y="3527822"/>
            <a:ext cx="6954901" cy="504031"/>
          </a:xfrm>
        </p:spPr>
        <p:txBody>
          <a:bodyPr anchor="b"/>
          <a:lstStyle>
            <a:lvl1pPr algn="l">
              <a:buNone/>
              <a:defRPr sz="22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7510066" y="302387"/>
            <a:ext cx="1683464" cy="5493364"/>
          </a:xfrm>
        </p:spPr>
        <p:txBody>
          <a:bodyPr/>
          <a:lstStyle>
            <a:lvl1pPr marL="0" indent="0">
              <a:spcBef>
                <a:spcPts val="441"/>
              </a:spcBef>
              <a:spcAft>
                <a:spcPts val="1102"/>
              </a:spcAft>
              <a:buNone/>
              <a:defRPr sz="13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888427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826576" y="0"/>
            <a:ext cx="0" cy="755967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36021" y="302387"/>
            <a:ext cx="6216385" cy="697506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B624066D-6800-47E2-B3B4-8CF456A91E40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693654" y="3527822"/>
            <a:ext cx="6954901" cy="504031"/>
          </a:xfrm>
        </p:spPr>
        <p:txBody>
          <a:bodyPr anchor="b"/>
          <a:lstStyle>
            <a:lvl1pPr algn="l">
              <a:buNone/>
              <a:defRPr sz="2200"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804422" cy="7559675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5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58823" y="291888"/>
            <a:ext cx="1680104" cy="5463125"/>
          </a:xfrm>
        </p:spPr>
        <p:txBody>
          <a:bodyPr rot="0" spcFirstLastPara="0" vertOverflow="overflow" horzOverflow="overflow" vert="horz" wrap="square" lIns="100794" tIns="50397" rIns="100794" bIns="50397" numCol="1" spcCol="302383" rtlCol="0" fromWordArt="0" anchor="t" anchorCtr="0" forceAA="0" compatLnSpc="1">
            <a:normAutofit/>
          </a:bodyPr>
          <a:lstStyle>
            <a:lvl1pPr marL="0" indent="0">
              <a:spcBef>
                <a:spcPts val="110"/>
              </a:spcBef>
              <a:spcAft>
                <a:spcPts val="441"/>
              </a:spcAft>
              <a:buFontTx/>
              <a:buNone/>
              <a:defRPr sz="13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888427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826576" y="0"/>
            <a:ext cx="0" cy="755967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880893D8-46FC-476A-B292-1FBAB5761443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554752-A5E4-4C17-8242-00F7B42D5A37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08453" y="302739"/>
            <a:ext cx="1848115" cy="6450223"/>
          </a:xfrm>
        </p:spPr>
        <p:txBody>
          <a:bodyPr vert="eaVert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4920C-306A-46F0-A93A-0C91226A1B7A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504031" y="302737"/>
            <a:ext cx="8232510" cy="1259946"/>
          </a:xfrm>
          <a:prstGeom prst="rect">
            <a:avLst/>
          </a:prstGeom>
        </p:spPr>
        <p:txBody>
          <a:bodyPr vert="horz" lIns="100794" tIns="50397" rIns="100794" bIns="50397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8232510" cy="5372409"/>
          </a:xfrm>
          <a:prstGeom prst="rect">
            <a:avLst/>
          </a:prstGeom>
        </p:spPr>
        <p:txBody>
          <a:bodyPr vert="horz" lIns="100794" tIns="50397" rIns="100794" bIns="50397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8367035" y="1192518"/>
            <a:ext cx="2217505" cy="423386"/>
          </a:xfrm>
          <a:prstGeom prst="rect">
            <a:avLst/>
          </a:prstGeom>
        </p:spPr>
        <p:txBody>
          <a:bodyPr vert="horz" lIns="100794" tIns="50397" rIns="100794" bIns="50397" anchor="ctr" anchorCtr="0"/>
          <a:lstStyle>
            <a:lvl1pPr algn="r" eaLnBrk="1" latinLnBrk="0" hangingPunct="1">
              <a:defRPr kumimoji="0" sz="13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7706380" y="4119594"/>
            <a:ext cx="3527848" cy="403225"/>
          </a:xfrm>
          <a:prstGeom prst="rect">
            <a:avLst/>
          </a:prstGeom>
        </p:spPr>
        <p:txBody>
          <a:bodyPr vert="horz" lIns="100794" tIns="50397" rIns="100794" bIns="50397" anchor="ctr" anchorCtr="0"/>
          <a:lstStyle>
            <a:lvl1pPr algn="l" eaLnBrk="1" latinLnBrk="0" hangingPunct="1">
              <a:defRPr kumimoji="0" sz="13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84005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961675" y="6320728"/>
            <a:ext cx="672042" cy="574535"/>
          </a:xfrm>
          <a:prstGeom prst="rect">
            <a:avLst/>
          </a:prstGeom>
        </p:spPr>
        <p:txBody>
          <a:bodyPr vert="horz" lIns="100794" tIns="50397" rIns="100794" bIns="50397" anchor="ctr"/>
          <a:lstStyle>
            <a:lvl1pPr algn="ctr" eaLnBrk="1" latinLnBrk="0" hangingPunct="1">
              <a:defRPr kumimoji="0" sz="15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7B54195-1CF5-4B6C-83E3-FE61C5847EDD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54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61" r:id="rId9"/>
    <p:sldLayoutId id="2147484262" r:id="rId10"/>
    <p:sldLayoutId id="214748426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3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2383" indent="-302383" algn="l" rtl="0" eaLnBrk="1" latinLnBrk="0" hangingPunct="1">
        <a:spcBef>
          <a:spcPts val="661"/>
        </a:spcBef>
        <a:buClr>
          <a:schemeClr val="accent1"/>
        </a:buClr>
        <a:buSzPct val="70000"/>
        <a:buFont typeface="Wingdings"/>
        <a:buChar char="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05560" indent="-302383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indent="-201589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10326" indent="-201589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2709" indent="-201589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915092" indent="-201589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217475" indent="-201589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9858" indent="-201589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5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822241" indent="-201589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png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png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28.bin"/><Relationship Id="rId7" Type="http://schemas.openxmlformats.org/officeDocument/2006/relationships/image" Target="../media/image37.png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5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41.png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647825" y="3923853"/>
            <a:ext cx="8847138" cy="192768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812" tIns="76592" rIns="89812" bIns="44905"/>
          <a:lstStyle/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CA" sz="36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325407" y="422252"/>
            <a:ext cx="9136797" cy="6833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812" tIns="64272" rIns="89812" bIns="44905"/>
          <a:lstStyle/>
          <a:p>
            <a:pPr algn="ctr"/>
            <a:r>
              <a:rPr lang="fr-CA" sz="3600" b="1" i="1" dirty="0">
                <a:latin typeface="Times New Roman" pitchFamily="18" charset="0"/>
                <a:cs typeface="Times New Roman" pitchFamily="18" charset="0"/>
              </a:rPr>
              <a:t>École de Technologie Supérieure</a:t>
            </a:r>
          </a:p>
          <a:p>
            <a:pPr algn="ctr"/>
            <a:r>
              <a:rPr lang="fr-CA" sz="2400" b="1" dirty="0">
                <a:latin typeface="Times New Roman" pitchFamily="18" charset="0"/>
                <a:cs typeface="Times New Roman" pitchFamily="18" charset="0"/>
              </a:rPr>
              <a:t>Mat144</a:t>
            </a:r>
            <a:r>
              <a:rPr lang="fr-CA" sz="2400" b="1" i="1" dirty="0">
                <a:latin typeface="Times New Roman" pitchFamily="18" charset="0"/>
                <a:cs typeface="Times New Roman" pitchFamily="18" charset="0"/>
              </a:rPr>
              <a:t> – Introduction aux mathématiques du génie</a:t>
            </a:r>
          </a:p>
          <a:p>
            <a:pPr algn="ctr"/>
            <a:endParaRPr lang="fr-FR" sz="2400" i="1" dirty="0">
              <a:latin typeface="Times New Roman" pitchFamily="18" charset="0"/>
              <a:cs typeface="Times New Roman" pitchFamily="18" charset="0"/>
            </a:endParaRPr>
          </a:p>
          <a:p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CA" sz="3600" b="1" dirty="0">
                <a:latin typeface="Times New Roman" pitchFamily="18" charset="0"/>
                <a:cs typeface="Times New Roman" pitchFamily="18" charset="0"/>
              </a:rPr>
              <a:t>Chapitre 7</a:t>
            </a:r>
          </a:p>
          <a:p>
            <a:pPr algn="ctr"/>
            <a:endParaRPr lang="fr-CA" sz="3600" b="1" i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CA" sz="4000" b="1" i="1" dirty="0">
                <a:latin typeface="Times New Roman" pitchFamily="18" charset="0"/>
                <a:cs typeface="Times New Roman" pitchFamily="18" charset="0"/>
              </a:rPr>
              <a:t>Les fonction exponentielles et </a:t>
            </a:r>
          </a:p>
          <a:p>
            <a:pPr algn="ctr"/>
            <a:r>
              <a:rPr lang="fr-CA" sz="4000" b="1" i="1" dirty="0">
                <a:latin typeface="Times New Roman" pitchFamily="18" charset="0"/>
                <a:cs typeface="Times New Roman" pitchFamily="18" charset="0"/>
              </a:rPr>
              <a:t>  logarithmiques</a:t>
            </a:r>
          </a:p>
          <a:p>
            <a:pPr algn="ctr"/>
            <a:endParaRPr lang="fr-CA" sz="4000" b="1" i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i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r>
              <a:rPr lang="fr-CA" sz="2800" b="1" dirty="0">
                <a:latin typeface="+mj-lt"/>
              </a:rPr>
              <a:t> </a:t>
            </a: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r>
              <a:rPr lang="fr-CA" sz="2800" b="1" dirty="0">
                <a:latin typeface="+mj-lt"/>
              </a:rPr>
              <a:t> </a:t>
            </a:r>
          </a:p>
          <a:p>
            <a:pPr algn="ctr"/>
            <a:endParaRPr lang="fr-CA" sz="2800" dirty="0">
              <a:latin typeface="+mj-lt"/>
            </a:endParaRPr>
          </a:p>
          <a:p>
            <a:pPr algn="ctr"/>
            <a:endParaRPr lang="fr-CA" sz="2800" dirty="0">
              <a:latin typeface="+mj-lt"/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357D-18D7-4764-9D03-3E1CB6297520}" type="slidenum">
              <a:rPr lang="fr-CA" smtClean="0"/>
              <a:pPr/>
              <a:t>1</a:t>
            </a:fld>
            <a:endParaRPr lang="fr-CA" dirty="0"/>
          </a:p>
        </p:txBody>
      </p:sp>
      <p:sp>
        <p:nvSpPr>
          <p:cNvPr id="9" name="Rectangle 8"/>
          <p:cNvSpPr/>
          <p:nvPr/>
        </p:nvSpPr>
        <p:spPr>
          <a:xfrm>
            <a:off x="503808" y="6804173"/>
            <a:ext cx="3621221" cy="349794"/>
          </a:xfrm>
          <a:prstGeom prst="rect">
            <a:avLst/>
          </a:prstGeom>
        </p:spPr>
        <p:txBody>
          <a:bodyPr wrap="none" lIns="91268" tIns="45634" rIns="91268" bIns="45634">
            <a:spAutoFit/>
          </a:bodyPr>
          <a:lstStyle/>
          <a:p>
            <a:r>
              <a:rPr lang="fr-CA" dirty="0">
                <a:solidFill>
                  <a:prstClr val="black">
                    <a:lumMod val="50000"/>
                    <a:lumOff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K. Amoura , K. </a:t>
            </a:r>
            <a:r>
              <a:rPr lang="fr-CA" dirty="0" err="1">
                <a:solidFill>
                  <a:prstClr val="black">
                    <a:lumMod val="50000"/>
                    <a:lumOff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Mahni</a:t>
            </a:r>
            <a:r>
              <a:rPr lang="fr-CA" dirty="0">
                <a:solidFill>
                  <a:prstClr val="black">
                    <a:lumMod val="50000"/>
                    <a:lumOff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&amp; I. Ndiaye</a:t>
            </a:r>
            <a:endParaRPr lang="fr-CA" dirty="0"/>
          </a:p>
        </p:txBody>
      </p:sp>
      <p:sp>
        <p:nvSpPr>
          <p:cNvPr id="7" name="ZoneTexte 6"/>
          <p:cNvSpPr txBox="1"/>
          <p:nvPr/>
        </p:nvSpPr>
        <p:spPr>
          <a:xfrm>
            <a:off x="1325536" y="6137291"/>
            <a:ext cx="7207935" cy="607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b="1" dirty="0"/>
              <a:t>Référence: MAT 144. Introduction aux mathématiques du génie . </a:t>
            </a:r>
          </a:p>
          <a:p>
            <a:r>
              <a:rPr lang="fr-CA" b="1" dirty="0"/>
              <a:t>Kathleen PINAUD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93" y="539478"/>
            <a:ext cx="9433048" cy="882908"/>
          </a:xfrm>
        </p:spPr>
        <p:txBody>
          <a:bodyPr>
            <a:normAutofit/>
          </a:bodyPr>
          <a:lstStyle/>
          <a:p>
            <a:pPr algn="ctr"/>
            <a:r>
              <a:rPr lang="fr-CA" sz="3600" b="1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Plan</a:t>
            </a:r>
            <a:endParaRPr lang="fr-FR" sz="3600" b="1" dirty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03238" y="1493842"/>
            <a:ext cx="9074150" cy="547847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7.1 – Les fonctions exponentielles</a:t>
            </a:r>
          </a:p>
          <a:p>
            <a:pPr algn="just">
              <a:lnSpc>
                <a:spcPct val="150000"/>
              </a:lnSpc>
            </a:pPr>
            <a:r>
              <a:rPr lang="fr-CA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 – Les fonctions logarithmiques</a:t>
            </a:r>
          </a:p>
          <a:p>
            <a:pPr algn="just">
              <a:lnSpc>
                <a:spcPct val="150000"/>
              </a:lnSpc>
            </a:pPr>
            <a:r>
              <a:rPr lang="fr-CA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7.3 – Les équations exponentielles et logarithmiques</a:t>
            </a:r>
          </a:p>
          <a:p>
            <a:pPr algn="just">
              <a:lnSpc>
                <a:spcPct val="150000"/>
              </a:lnSpc>
            </a:pPr>
            <a:endParaRPr lang="fr-CA" sz="2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CA" sz="2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454207" cy="7200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7.1</a:t>
            </a:r>
            <a:r>
              <a:rPr lang="fr-CA" sz="3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- Fonction exponentielle</a:t>
            </a:r>
          </a:p>
          <a:p>
            <a:pPr marL="0" indent="0"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Définition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fonction exponentielle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de base </a:t>
            </a:r>
            <a:r>
              <a:rPr lang="fr-FR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exprimée sous sa forme la plus simple, est une fonction de la forme :</a:t>
            </a:r>
          </a:p>
          <a:p>
            <a:pPr algn="just">
              <a:lnSpc>
                <a:spcPct val="150000"/>
              </a:lnSpc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NB: </a:t>
            </a:r>
            <a:r>
              <a:rPr lang="fr-CA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base de la fonction exponentielle la plus utilisée est la base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fr-CA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 2,718 . Le nombre </a:t>
            </a:r>
            <a:r>
              <a:rPr lang="fr-CA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est  appelé la constante de Neper.</a:t>
            </a:r>
            <a:endParaRPr lang="fr-CA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fr-CA" sz="2400" b="1" i="1" u="sng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Exemples</a:t>
            </a:r>
            <a:endParaRPr lang="fr-CA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(Le nombre </a:t>
            </a:r>
            <a:r>
              <a:rPr lang="fr-CA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e</a:t>
            </a:r>
            <a:r>
              <a:rPr lang="fr-CA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est appelé la constante de Neper)</a:t>
            </a:r>
            <a:endParaRPr lang="fr-CA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Indiquez si les fonctions suivantes sont des fonctions </a:t>
            </a:r>
            <a:r>
              <a:rPr lang="fr-FR" sz="2100" dirty="0">
                <a:latin typeface="Times New Roman" pitchFamily="18" charset="0"/>
                <a:cs typeface="Times New Roman" pitchFamily="18" charset="0"/>
              </a:rPr>
              <a:t>exponentielles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3</a:t>
            </a:fld>
            <a:endParaRPr lang="fr-CA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396652"/>
              </p:ext>
            </p:extLst>
          </p:nvPr>
        </p:nvGraphicFramePr>
        <p:xfrm>
          <a:off x="6040444" y="850879"/>
          <a:ext cx="2869058" cy="5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01" name="Equation" r:id="rId3" imgW="1409400" imgH="253800" progId="Equation.DSMT4">
                  <p:embed/>
                </p:oleObj>
              </mc:Choice>
              <mc:Fallback>
                <p:oleObj name="Equation" r:id="rId3" imgW="1409400" imgH="253800" progId="Equation.DSMT4">
                  <p:embed/>
                  <p:pic>
                    <p:nvPicPr>
                      <p:cNvPr id="0" name="Picture 5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44" y="850879"/>
                        <a:ext cx="2869058" cy="58862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486542"/>
              </p:ext>
            </p:extLst>
          </p:nvPr>
        </p:nvGraphicFramePr>
        <p:xfrm>
          <a:off x="3111486" y="1851011"/>
          <a:ext cx="3191420" cy="578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02" name="Equation" r:id="rId5" imgW="1358640" imgH="228600" progId="Equation.DSMT4">
                  <p:embed/>
                </p:oleObj>
              </mc:Choice>
              <mc:Fallback>
                <p:oleObj name="Equation" r:id="rId5" imgW="1358640" imgH="228600" progId="Equation.DSMT4">
                  <p:embed/>
                  <p:pic>
                    <p:nvPicPr>
                      <p:cNvPr id="0" name="Picture 5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486" y="1851011"/>
                        <a:ext cx="3191420" cy="57871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281955"/>
              </p:ext>
            </p:extLst>
          </p:nvPr>
        </p:nvGraphicFramePr>
        <p:xfrm>
          <a:off x="241300" y="4422775"/>
          <a:ext cx="8732838" cy="278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303" name="Equation" r:id="rId7" imgW="3581280" imgH="1218960" progId="Equation.DSMT4">
                  <p:embed/>
                </p:oleObj>
              </mc:Choice>
              <mc:Fallback>
                <p:oleObj name="Equation" r:id="rId7" imgW="3581280" imgH="1218960" progId="Equation.DSMT4">
                  <p:embed/>
                  <p:pic>
                    <p:nvPicPr>
                      <p:cNvPr id="0" name="Picture 5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4422775"/>
                        <a:ext cx="8732838" cy="27860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74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228601"/>
            <a:ext cx="9361612" cy="733107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Domaine et image de la fonction exponentielle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400" b="1" i="1" u="sng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 1</a:t>
            </a:r>
            <a:r>
              <a:rPr lang="fr-FR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Considérons la fonction 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</a:t>
            </a:r>
          </a:p>
          <a:p>
            <a:pPr marL="0" indent="0">
              <a:buNone/>
            </a:pP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</a:t>
            </a:r>
            <a:r>
              <a:rPr lang="fr-FR" sz="2000" i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C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4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0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168262"/>
              </p:ext>
            </p:extLst>
          </p:nvPr>
        </p:nvGraphicFramePr>
        <p:xfrm>
          <a:off x="4254960" y="1259557"/>
          <a:ext cx="1289408" cy="565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47" name="Equation" r:id="rId3" imgW="622080" imgH="228600" progId="Equation.DSMT4">
                  <p:embed/>
                </p:oleObj>
              </mc:Choice>
              <mc:Fallback>
                <p:oleObj name="Equation" r:id="rId3" imgW="622080" imgH="228600" progId="Equation.DSMT4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960" y="1259557"/>
                        <a:ext cx="1289408" cy="565929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0" y="647700"/>
            <a:ext cx="100806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00713" name="Rectangle 9"/>
          <p:cNvSpPr>
            <a:spLocks noChangeArrowheads="1"/>
          </p:cNvSpPr>
          <p:nvPr/>
        </p:nvSpPr>
        <p:spPr bwMode="auto">
          <a:xfrm>
            <a:off x="0" y="647700"/>
            <a:ext cx="100806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928" y="2195661"/>
            <a:ext cx="6048672" cy="4113096"/>
          </a:xfrm>
          <a:prstGeom prst="rect">
            <a:avLst/>
          </a:prstGeom>
        </p:spPr>
      </p:pic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459322"/>
              </p:ext>
            </p:extLst>
          </p:nvPr>
        </p:nvGraphicFramePr>
        <p:xfrm>
          <a:off x="719832" y="6588148"/>
          <a:ext cx="5904656" cy="509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48" name="Equation" r:id="rId6" imgW="2793960" imgH="241200" progId="Equation.DSMT4">
                  <p:embed/>
                </p:oleObj>
              </mc:Choice>
              <mc:Fallback>
                <p:oleObj name="Equation" r:id="rId6" imgW="2793960" imgH="241200" progId="Equation.DSMT4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832" y="6588148"/>
                        <a:ext cx="5904656" cy="5099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330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323453"/>
            <a:ext cx="9361612" cy="6648847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 2</a:t>
            </a:r>
            <a:r>
              <a:rPr lang="fr-FR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Considérons la fonction </a:t>
            </a:r>
          </a:p>
          <a:p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endParaRPr lang="fr-C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5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17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735134"/>
              </p:ext>
            </p:extLst>
          </p:nvPr>
        </p:nvGraphicFramePr>
        <p:xfrm>
          <a:off x="4608264" y="69679"/>
          <a:ext cx="1656184" cy="97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5" name="Equation" r:id="rId3" imgW="799920" imgH="469800" progId="Equation.DSMT4">
                  <p:embed/>
                </p:oleObj>
              </mc:Choice>
              <mc:Fallback>
                <p:oleObj name="Equation" r:id="rId3" imgW="799920" imgH="469800" progId="Equation.DSMT4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264" y="69679"/>
                        <a:ext cx="1656184" cy="973854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912" y="1115541"/>
            <a:ext cx="6624736" cy="4504820"/>
          </a:xfrm>
          <a:prstGeom prst="rect">
            <a:avLst/>
          </a:prstGeom>
        </p:spPr>
      </p:pic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489679"/>
              </p:ext>
            </p:extLst>
          </p:nvPr>
        </p:nvGraphicFramePr>
        <p:xfrm>
          <a:off x="719832" y="6156101"/>
          <a:ext cx="59055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6" name="Equation" r:id="rId6" imgW="2793960" imgH="241200" progId="Equation.DSMT4">
                  <p:embed/>
                </p:oleObj>
              </mc:Choice>
              <mc:Fallback>
                <p:oleObj name="Equation" r:id="rId6" imgW="2793960" imgH="241200" progId="Equation.DSMT4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832" y="6156101"/>
                        <a:ext cx="59055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7939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6</a:t>
            </a:fld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6"/>
          </p:nvPr>
        </p:nvSpPr>
        <p:spPr>
          <a:xfrm>
            <a:off x="6840512" y="7108521"/>
            <a:ext cx="3527848" cy="403225"/>
          </a:xfrm>
        </p:spPr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27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656457"/>
              </p:ext>
            </p:extLst>
          </p:nvPr>
        </p:nvGraphicFramePr>
        <p:xfrm>
          <a:off x="1471612" y="395461"/>
          <a:ext cx="191251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96" name="Equation" r:id="rId3" imgW="901440" imgH="177480" progId="Equation.DSMT4">
                  <p:embed/>
                </p:oleObj>
              </mc:Choice>
              <mc:Fallback>
                <p:oleObj name="Equation" r:id="rId3" imgW="901440" imgH="177480" progId="Equation.DSMT4">
                  <p:embed/>
                  <p:pic>
                    <p:nvPicPr>
                      <p:cNvPr id="0" name="Picture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2" y="395461"/>
                        <a:ext cx="1912515" cy="431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228423"/>
              </p:ext>
            </p:extLst>
          </p:nvPr>
        </p:nvGraphicFramePr>
        <p:xfrm>
          <a:off x="6738938" y="467469"/>
          <a:ext cx="1469726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97" name="Equation" r:id="rId5" imgW="672840" imgH="177480" progId="Equation.DSMT4">
                  <p:embed/>
                </p:oleObj>
              </mc:Choice>
              <mc:Fallback>
                <p:oleObj name="Equation" r:id="rId5" imgW="672840" imgH="177480" progId="Equation.DSMT4">
                  <p:embed/>
                  <p:pic>
                    <p:nvPicPr>
                      <p:cNvPr id="0" name="Picture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467469"/>
                        <a:ext cx="1469726" cy="3921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520839" y="4427909"/>
            <a:ext cx="5038725" cy="7506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Remarque: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dans les deux cas </a:t>
            </a:r>
          </a:p>
          <a:p>
            <a:r>
              <a:rPr lang="fr-FR" sz="2200" b="1" dirty="0"/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5706" y="1115539"/>
            <a:ext cx="4680517" cy="318275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768" y="1115540"/>
            <a:ext cx="4680520" cy="3182753"/>
          </a:xfrm>
          <a:prstGeom prst="rect">
            <a:avLst/>
          </a:prstGeom>
        </p:spPr>
      </p:pic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214998"/>
              </p:ext>
            </p:extLst>
          </p:nvPr>
        </p:nvGraphicFramePr>
        <p:xfrm>
          <a:off x="1295896" y="5075981"/>
          <a:ext cx="59055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98" name="Equation" r:id="rId9" imgW="2793960" imgH="241200" progId="Equation.DSMT4">
                  <p:embed/>
                </p:oleObj>
              </mc:Choice>
              <mc:Fallback>
                <p:oleObj name="Equation" r:id="rId9" imgW="2793960" imgH="241200" progId="Equation.DSMT4">
                  <p:embed/>
                  <p:pic>
                    <p:nvPicPr>
                      <p:cNvPr id="0" name="Picture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896" y="5075981"/>
                        <a:ext cx="59055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892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3238" y="776288"/>
            <a:ext cx="9074150" cy="555277"/>
          </a:xfrm>
        </p:spPr>
        <p:txBody>
          <a:bodyPr>
            <a:noAutofit/>
          </a:bodyPr>
          <a:lstStyle/>
          <a:p>
            <a:r>
              <a:rPr lang="fr-CA" sz="3200" i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Rappels des propriétés des exposants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32117" y="1691605"/>
            <a:ext cx="9023350" cy="3636410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7</a:t>
            </a:fld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09015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4775CE-F241-4693-BB8F-C04D6B0CFBA6}" type="slidenum">
              <a:rPr lang="fr-CA" smtClean="0"/>
              <a:pPr>
                <a:defRPr/>
              </a:pPr>
              <a:t>8</a:t>
            </a:fld>
            <a:endParaRPr lang="fr-CA" dirty="0"/>
          </a:p>
        </p:txBody>
      </p:sp>
      <p:sp>
        <p:nvSpPr>
          <p:cNvPr id="4" name="ZoneTexte 3"/>
          <p:cNvSpPr txBox="1"/>
          <p:nvPr/>
        </p:nvSpPr>
        <p:spPr>
          <a:xfrm>
            <a:off x="754032" y="565127"/>
            <a:ext cx="4572223" cy="146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endParaRPr lang="fr-CA" sz="2000" dirty="0"/>
          </a:p>
          <a:p>
            <a:r>
              <a:rPr lang="fr-CA" sz="2000" dirty="0"/>
              <a:t>Simplifiez les expressions suivantes.</a:t>
            </a:r>
          </a:p>
          <a:p>
            <a:endParaRPr lang="fr-CA" dirty="0"/>
          </a:p>
          <a:p>
            <a:endParaRPr lang="fr-CA" dirty="0"/>
          </a:p>
        </p:txBody>
      </p:sp>
      <p:graphicFrame>
        <p:nvGraphicFramePr>
          <p:cNvPr id="2058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78400"/>
              </p:ext>
            </p:extLst>
          </p:nvPr>
        </p:nvGraphicFramePr>
        <p:xfrm>
          <a:off x="753247" y="1835621"/>
          <a:ext cx="5527204" cy="4420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9" name="Equation" r:id="rId3" imgW="1485720" imgH="2222280" progId="Equation.DSMT4">
                  <p:embed/>
                </p:oleObj>
              </mc:Choice>
              <mc:Fallback>
                <p:oleObj name="Equation" r:id="rId3" imgW="1485720" imgH="2222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47" y="1835621"/>
                        <a:ext cx="5527204" cy="4420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107430"/>
            <a:ext cx="9500695" cy="6048671"/>
          </a:xfr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d’application</a:t>
            </a:r>
            <a:r>
              <a:rPr lang="fr-CA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les conditions favorables, une bactérie d’un certain type se divise en deux toutes les 20 minutes. Si on isole l’une de ces batteries, on obtient: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période de 20 min                             2 bactéries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période de 20 min                                               bactéries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période de 20 min                                                  bactéries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périodes de 20 min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fr-C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croissance de cette bactérie peut être représentée par la fonction        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où </a:t>
            </a:r>
            <a:r>
              <a:rPr lang="fr-CA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le nombre de périodes de 20 min écoulées depuis le début de l’expérience et </a:t>
            </a:r>
            <a:r>
              <a:rPr lang="fr-CA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le nombre de bactéries à ce moment là. On a: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9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2808064" y="2123653"/>
            <a:ext cx="1554785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>
            <a:off x="2808064" y="2699717"/>
            <a:ext cx="1554785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134473"/>
              </p:ext>
            </p:extLst>
          </p:nvPr>
        </p:nvGraphicFramePr>
        <p:xfrm>
          <a:off x="4464248" y="2411685"/>
          <a:ext cx="12334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53" name="Equation" r:id="rId3" imgW="596880" imgH="190440" progId="Equation.DSMT4">
                  <p:embed/>
                </p:oleObj>
              </mc:Choice>
              <mc:Fallback>
                <p:oleObj name="Equation" r:id="rId3" imgW="596880" imgH="190440" progId="Equation.DSMT4">
                  <p:embed/>
                  <p:pic>
                    <p:nvPicPr>
                      <p:cNvPr id="0" name="Picture 3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248" y="2411685"/>
                        <a:ext cx="123348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Connecteur droit avec flèche 8"/>
          <p:cNvCxnSpPr/>
          <p:nvPr/>
        </p:nvCxnSpPr>
        <p:spPr>
          <a:xfrm>
            <a:off x="2808064" y="3275781"/>
            <a:ext cx="1554785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598222"/>
              </p:ext>
            </p:extLst>
          </p:nvPr>
        </p:nvGraphicFramePr>
        <p:xfrm>
          <a:off x="4536256" y="2987749"/>
          <a:ext cx="1365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54" name="Equation" r:id="rId5" imgW="660240" imgH="190440" progId="Equation.DSMT4">
                  <p:embed/>
                </p:oleObj>
              </mc:Choice>
              <mc:Fallback>
                <p:oleObj name="Equation" r:id="rId5" imgW="660240" imgH="190440" progId="Equation.DSMT4">
                  <p:embed/>
                  <p:pic>
                    <p:nvPicPr>
                      <p:cNvPr id="0" name="Picture 3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6256" y="2987749"/>
                        <a:ext cx="136525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715995"/>
              </p:ext>
            </p:extLst>
          </p:nvPr>
        </p:nvGraphicFramePr>
        <p:xfrm>
          <a:off x="6343650" y="5292725"/>
          <a:ext cx="12842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55" name="Equation" r:id="rId7" imgW="622080" imgH="228600" progId="Equation.DSMT4">
                  <p:embed/>
                </p:oleObj>
              </mc:Choice>
              <mc:Fallback>
                <p:oleObj name="Equation" r:id="rId7" imgW="622080" imgH="228600" progId="Equation.DSMT4">
                  <p:embed/>
                  <p:pic>
                    <p:nvPicPr>
                      <p:cNvPr id="0" name="Picture 3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5292725"/>
                        <a:ext cx="1284288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000959"/>
              </p:ext>
            </p:extLst>
          </p:nvPr>
        </p:nvGraphicFramePr>
        <p:xfrm>
          <a:off x="4536256" y="3642295"/>
          <a:ext cx="33623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56" name="Equation" r:id="rId9" imgW="1625400" imgH="203040" progId="Equation.DSMT4">
                  <p:embed/>
                </p:oleObj>
              </mc:Choice>
              <mc:Fallback>
                <p:oleObj name="Equation" r:id="rId9" imgW="1625400" imgH="203040" progId="Equation.DSMT4">
                  <p:embed/>
                  <p:pic>
                    <p:nvPicPr>
                      <p:cNvPr id="0" name="Picture 3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6256" y="3642295"/>
                        <a:ext cx="33623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Connecteur droit avec flèche 14"/>
          <p:cNvCxnSpPr/>
          <p:nvPr/>
        </p:nvCxnSpPr>
        <p:spPr>
          <a:xfrm>
            <a:off x="2808064" y="3851845"/>
            <a:ext cx="1554785" cy="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50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5776" y="179438"/>
            <a:ext cx="9491707" cy="792087"/>
          </a:xfrm>
        </p:spPr>
        <p:txBody>
          <a:bodyPr>
            <a:noAutofit/>
          </a:bodyPr>
          <a:lstStyle/>
          <a:p>
            <a:r>
              <a:rPr lang="fr-CA" sz="2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Résolution d’équations exponentielles dont les deux </a:t>
            </a:r>
            <a:br>
              <a:rPr lang="fr-CA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CA" sz="2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membres peuvent s’écrire en fonction de la même base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8" y="1259557"/>
            <a:ext cx="9423215" cy="567889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Résoudre une </a:t>
            </a:r>
            <a:r>
              <a:rPr lang="fr-C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équation exponentielle 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déterminer les valeurs de </a:t>
            </a:r>
            <a:r>
              <a:rPr lang="fr-CA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satisfont à cette équation. Pour cela, on utilise la propriété suivante: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Résolvez les équations suivantes: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10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26939"/>
              </p:ext>
            </p:extLst>
          </p:nvPr>
        </p:nvGraphicFramePr>
        <p:xfrm>
          <a:off x="2714625" y="2411413"/>
          <a:ext cx="38163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53" name="Equation" r:id="rId3" imgW="1612800" imgH="241200" progId="Equation.DSMT4">
                  <p:embed/>
                </p:oleObj>
              </mc:Choice>
              <mc:Fallback>
                <p:oleObj name="Equation" r:id="rId3" imgW="1612800" imgH="241200" progId="Equation.DSMT4">
                  <p:embed/>
                  <p:pic>
                    <p:nvPicPr>
                      <p:cNvPr id="0" name="Picture 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411413"/>
                        <a:ext cx="381635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792278"/>
              </p:ext>
            </p:extLst>
          </p:nvPr>
        </p:nvGraphicFramePr>
        <p:xfrm>
          <a:off x="227013" y="3732236"/>
          <a:ext cx="2670159" cy="354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54" name="Equation" r:id="rId5" imgW="965160" imgH="1904760" progId="Equation.DSMT4">
                  <p:embed/>
                </p:oleObj>
              </mc:Choice>
              <mc:Fallback>
                <p:oleObj name="Equation" r:id="rId5" imgW="965160" imgH="1904760" progId="Equation.DSMT4">
                  <p:embed/>
                  <p:pic>
                    <p:nvPicPr>
                      <p:cNvPr id="0" name="Picture 3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3" y="3732236"/>
                        <a:ext cx="2670159" cy="354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52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8" y="107429"/>
            <a:ext cx="9423215" cy="6831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11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>
          <a:xfrm rot="5400000">
            <a:off x="7827303" y="4119594"/>
            <a:ext cx="3527848" cy="403225"/>
          </a:xfrm>
        </p:spPr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026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8" y="179438"/>
            <a:ext cx="9433048" cy="6956896"/>
          </a:xfrm>
        </p:spPr>
        <p:txBody>
          <a:bodyPr/>
          <a:lstStyle/>
          <a:p>
            <a:pPr marL="0" indent="0">
              <a:buNone/>
            </a:pPr>
            <a:r>
              <a:rPr lang="fr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Exercice.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 substance radioactive se désintègre de telle sorte que, au bout de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années, il en reste une quantité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exprimée en grammes et donnée par:</a:t>
            </a:r>
          </a:p>
          <a:p>
            <a:pPr marL="0" indent="0">
              <a:buNone/>
            </a:pP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ClrTx/>
              <a:buSzPct val="100000"/>
              <a:buAutoNum type="alphaLcParenR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 est la quantité initiale de cette substance radioactive?</a:t>
            </a:r>
          </a:p>
          <a:p>
            <a:pPr marL="514350" indent="-514350">
              <a:buClrTx/>
              <a:buSzPct val="100000"/>
              <a:buAutoNum type="alphaLcParenR"/>
            </a:pP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ClrTx/>
              <a:buSzPct val="100000"/>
              <a:buAutoNum type="alphaLcParenR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 quantité de cette substance radioactive restera-t-il au bout de 15 ans?</a:t>
            </a:r>
          </a:p>
          <a:p>
            <a:pPr marL="514350" indent="-514350">
              <a:buClrTx/>
              <a:buSzPct val="100000"/>
              <a:buAutoNum type="alphaLcParenR"/>
            </a:pP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ClrTx/>
              <a:buSzPct val="100000"/>
              <a:buFont typeface="Wingdings"/>
              <a:buAutoNum type="alphaLcParenR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 quantité de cette substance radioactive restera-t-il au bout de 100 ans?</a:t>
            </a:r>
          </a:p>
          <a:p>
            <a:pPr marL="514350" indent="-514350">
              <a:buClrTx/>
              <a:buSzPct val="100000"/>
              <a:buFont typeface="Wingdings"/>
              <a:buAutoNum type="alphaLcParenR"/>
            </a:pP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ClrTx/>
              <a:buSzPct val="100000"/>
              <a:buFont typeface="Wingdings"/>
              <a:buAutoNum type="alphaLcParenR"/>
            </a:pP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bout de combien de temps restera-t-il 50 g de cette substance?</a:t>
            </a:r>
          </a:p>
          <a:p>
            <a:pPr marL="514350" indent="-514350">
              <a:buClrTx/>
              <a:buSzPct val="100000"/>
              <a:buAutoNum type="alphaLcParenR"/>
            </a:pPr>
            <a:endParaRPr lang="fr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LcParenR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12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>
          <a:xfrm rot="5400000">
            <a:off x="7827303" y="4119594"/>
            <a:ext cx="3527848" cy="403225"/>
          </a:xfrm>
        </p:spPr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354214"/>
              </p:ext>
            </p:extLst>
          </p:nvPr>
        </p:nvGraphicFramePr>
        <p:xfrm>
          <a:off x="3672160" y="1115541"/>
          <a:ext cx="277231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63" name="Equation" r:id="rId3" imgW="977760" imgH="228600" progId="Equation.DSMT4">
                  <p:embed/>
                </p:oleObj>
              </mc:Choice>
              <mc:Fallback>
                <p:oleObj name="Equation" r:id="rId3" imgW="977760" imgH="228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160" y="1115541"/>
                        <a:ext cx="277231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3217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3238" y="251445"/>
            <a:ext cx="9074150" cy="576064"/>
          </a:xfrm>
        </p:spPr>
        <p:txBody>
          <a:bodyPr>
            <a:noAutofit/>
          </a:bodyPr>
          <a:lstStyle/>
          <a:p>
            <a:r>
              <a:rPr lang="fr-CA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fr-CA" sz="32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.2</a:t>
            </a:r>
            <a:r>
              <a:rPr lang="fr-CA" sz="3200" b="1" i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Fonction logarithmique</a:t>
            </a:r>
            <a:endParaRPr lang="fr-CA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1115541"/>
            <a:ext cx="9361612" cy="612068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Définition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220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Le logarithme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en base 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d’un nombre </a:t>
            </a:r>
            <a:r>
              <a:rPr lang="fr-FR" sz="2200" b="1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, noté               , où                 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                                  est défini par l’équivalence: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13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48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095197"/>
              </p:ext>
            </p:extLst>
          </p:nvPr>
        </p:nvGraphicFramePr>
        <p:xfrm>
          <a:off x="7056536" y="1252963"/>
          <a:ext cx="891100" cy="50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0" name="Equation" r:id="rId3" imgW="406080" imgH="228600" progId="Equation.DSMT4">
                  <p:embed/>
                </p:oleObj>
              </mc:Choice>
              <mc:Fallback>
                <p:oleObj name="Equation" r:id="rId3" imgW="406080" imgH="228600" progId="Equation.DSMT4">
                  <p:embed/>
                  <p:pic>
                    <p:nvPicPr>
                      <p:cNvPr id="0" name="Picture 4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536" y="1252963"/>
                        <a:ext cx="891100" cy="50495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73913"/>
              </p:ext>
            </p:extLst>
          </p:nvPr>
        </p:nvGraphicFramePr>
        <p:xfrm>
          <a:off x="359792" y="1835621"/>
          <a:ext cx="2424704" cy="489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1" name="Equation" r:id="rId5" imgW="15082920" imgH="3024720" progId="Equation.DSMT4">
                  <p:embed/>
                </p:oleObj>
              </mc:Choice>
              <mc:Fallback>
                <p:oleObj name="Equation" r:id="rId5" imgW="15082920" imgH="3024720" progId="Equation.DSMT4">
                  <p:embed/>
                  <p:pic>
                    <p:nvPicPr>
                      <p:cNvPr id="0" name="Picture 4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92" y="1835621"/>
                        <a:ext cx="2424704" cy="489659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35660"/>
              </p:ext>
            </p:extLst>
          </p:nvPr>
        </p:nvGraphicFramePr>
        <p:xfrm>
          <a:off x="6062663" y="1835150"/>
          <a:ext cx="27082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2" name="Equation" r:id="rId7" imgW="1244520" imgH="241200" progId="Equation.DSMT4">
                  <p:embed/>
                </p:oleObj>
              </mc:Choice>
              <mc:Fallback>
                <p:oleObj name="Equation" r:id="rId7" imgW="1244520" imgH="241200" progId="Equation.DSMT4">
                  <p:embed/>
                  <p:pic>
                    <p:nvPicPr>
                      <p:cNvPr id="0" name="Picture 4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1835150"/>
                        <a:ext cx="2708275" cy="5286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15776" y="2905537"/>
            <a:ext cx="9001000" cy="1523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Utilisez l’équivalence définissant la fonction logarithmique pour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résoudre les équations suivantes </a:t>
            </a:r>
            <a:r>
              <a:rPr lang="fr-FR" dirty="0"/>
              <a:t>:</a:t>
            </a:r>
            <a:endParaRPr lang="fr-FR" b="1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       </a:t>
            </a:r>
            <a:endParaRPr lang="fr-FR" b="1" i="1" dirty="0"/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07934"/>
              </p:ext>
            </p:extLst>
          </p:nvPr>
        </p:nvGraphicFramePr>
        <p:xfrm>
          <a:off x="287784" y="3707829"/>
          <a:ext cx="2232248" cy="3711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3" name="Equation" r:id="rId9" imgW="1206360" imgH="1993680" progId="Equation.DSMT4">
                  <p:embed/>
                </p:oleObj>
              </mc:Choice>
              <mc:Fallback>
                <p:oleObj name="Equation" r:id="rId9" imgW="1206360" imgH="1993680" progId="Equation.DSMT4">
                  <p:embed/>
                  <p:pic>
                    <p:nvPicPr>
                      <p:cNvPr id="0" name="Picture 4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84" y="3707829"/>
                        <a:ext cx="2232248" cy="371163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1609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179437"/>
            <a:ext cx="9361612" cy="6792863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Remarque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Généralement la base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 et la base </a:t>
            </a:r>
            <a:r>
              <a:rPr lang="fr-FR" sz="24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(la base népérienne) sont les plus utilisées: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On note: </a:t>
            </a:r>
            <a:r>
              <a:rPr lang="fr-FR" sz="2400" b="1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le logarithme de base </a:t>
            </a:r>
            <a:r>
              <a:rPr lang="fr-FR" sz="2400" b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et  </a:t>
            </a:r>
            <a:r>
              <a:rPr lang="fr-FR" sz="2400" b="1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le logarithme de base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On a les équivalences suivantes: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Propriétés de la fonction logarithmique</a:t>
            </a:r>
          </a:p>
          <a:p>
            <a:pPr marL="0" indent="0"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endParaRPr lang="fr-FR" sz="2000" b="1" dirty="0"/>
          </a:p>
          <a:p>
            <a:pPr>
              <a:buNone/>
            </a:pPr>
            <a:endParaRPr lang="fr-FR" sz="2000" b="1" i="1" u="sng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14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58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074437"/>
              </p:ext>
            </p:extLst>
          </p:nvPr>
        </p:nvGraphicFramePr>
        <p:xfrm>
          <a:off x="4752280" y="1907629"/>
          <a:ext cx="296862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1" name="Equation" r:id="rId3" imgW="1371600" imgH="672840" progId="Equation.DSMT4">
                  <p:embed/>
                </p:oleObj>
              </mc:Choice>
              <mc:Fallback>
                <p:oleObj name="Equation" r:id="rId3" imgW="1371600" imgH="672840" progId="Equation.DSMT4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280" y="1907629"/>
                        <a:ext cx="2968625" cy="1465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698852"/>
              </p:ext>
            </p:extLst>
          </p:nvPr>
        </p:nvGraphicFramePr>
        <p:xfrm>
          <a:off x="215776" y="4427909"/>
          <a:ext cx="8899406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2" name="Equation" r:id="rId5" imgW="4889160" imgH="1130040" progId="Equation.DSMT4">
                  <p:embed/>
                </p:oleObj>
              </mc:Choice>
              <mc:Fallback>
                <p:oleObj name="Equation" r:id="rId5" imgW="4889160" imgH="1130040" progId="Equation.DSMT4">
                  <p:embed/>
                  <p:pic>
                    <p:nvPicPr>
                      <p:cNvPr id="0" name="Picture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76" y="4427909"/>
                        <a:ext cx="8899406" cy="208823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2711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8" y="323453"/>
            <a:ext cx="9433620" cy="7028284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Sachant que</a:t>
            </a:r>
          </a:p>
          <a:p>
            <a:pPr marL="0" indent="0">
              <a:buNone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Évaluez approximativement les expressions suivantes :   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fr-CA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15</a:t>
            </a:fld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68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541891"/>
              </p:ext>
            </p:extLst>
          </p:nvPr>
        </p:nvGraphicFramePr>
        <p:xfrm>
          <a:off x="3040048" y="350813"/>
          <a:ext cx="5715040" cy="428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2" name="Equation" r:id="rId3" imgW="2349360" imgH="228600" progId="Equation.DSMT4">
                  <p:embed/>
                </p:oleObj>
              </mc:Choice>
              <mc:Fallback>
                <p:oleObj name="Equation" r:id="rId3" imgW="2349360" imgH="22860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48" y="350813"/>
                        <a:ext cx="5715040" cy="42862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008192"/>
              </p:ext>
            </p:extLst>
          </p:nvPr>
        </p:nvGraphicFramePr>
        <p:xfrm>
          <a:off x="254000" y="1493821"/>
          <a:ext cx="3357563" cy="5219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3" name="Equation" r:id="rId5" imgW="1117440" imgH="2184120" progId="Equation.DSMT4">
                  <p:embed/>
                </p:oleObj>
              </mc:Choice>
              <mc:Fallback>
                <p:oleObj name="Equation" r:id="rId5" imgW="1117440" imgH="2184120" progId="Equation.DSMT4">
                  <p:embed/>
                  <p:pic>
                    <p:nvPicPr>
                      <p:cNvPr id="0" name="Picture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1493821"/>
                        <a:ext cx="3357563" cy="5219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6720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7" y="179437"/>
            <a:ext cx="9217024" cy="6792863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Exercice</a:t>
            </a:r>
            <a:r>
              <a:rPr lang="fr-FR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Utilisez les propriétés des logarithmes  pour développer le plus possible les expressions suivantes:</a:t>
            </a: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16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05336"/>
              </p:ext>
            </p:extLst>
          </p:nvPr>
        </p:nvGraphicFramePr>
        <p:xfrm>
          <a:off x="458572" y="1022381"/>
          <a:ext cx="3403600" cy="659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84" name="Equation" r:id="rId3" imgW="1650960" imgH="3200400" progId="Equation.DSMT4">
                  <p:embed/>
                </p:oleObj>
              </mc:Choice>
              <mc:Fallback>
                <p:oleObj name="Equation" r:id="rId3" imgW="1650960" imgH="3200400" progId="Equation.DSMT4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72" y="1022381"/>
                        <a:ext cx="3403600" cy="659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2476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776" y="179437"/>
            <a:ext cx="9289032" cy="6792864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Graphes des fonctions logarithmes</a:t>
            </a:r>
            <a:endParaRPr lang="fr-FR" sz="2400" b="1" u="sng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fr-C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17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88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443084"/>
              </p:ext>
            </p:extLst>
          </p:nvPr>
        </p:nvGraphicFramePr>
        <p:xfrm>
          <a:off x="1655936" y="899517"/>
          <a:ext cx="1841044" cy="49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73" name="Equation" r:id="rId3" imgW="850680" imgH="228600" progId="Equation.DSMT4">
                  <p:embed/>
                </p:oleObj>
              </mc:Choice>
              <mc:Fallback>
                <p:oleObj name="Equation" r:id="rId3" imgW="850680" imgH="228600" progId="Equation.DSMT4">
                  <p:embed/>
                  <p:pic>
                    <p:nvPicPr>
                      <p:cNvPr id="0" name="Picture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936" y="899517"/>
                        <a:ext cx="1841044" cy="4970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8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654328"/>
              </p:ext>
            </p:extLst>
          </p:nvPr>
        </p:nvGraphicFramePr>
        <p:xfrm>
          <a:off x="5904408" y="755501"/>
          <a:ext cx="2094801" cy="84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74" name="Equation" r:id="rId5" imgW="850680" imgH="342720" progId="Equation.DSMT4">
                  <p:embed/>
                </p:oleObj>
              </mc:Choice>
              <mc:Fallback>
                <p:oleObj name="Equation" r:id="rId5" imgW="850680" imgH="342720" progId="Equation.DSMT4">
                  <p:embed/>
                  <p:pic>
                    <p:nvPicPr>
                      <p:cNvPr id="0" name="Picture 2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408" y="755501"/>
                        <a:ext cx="2094801" cy="8483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76" y="1692428"/>
            <a:ext cx="4680520" cy="318275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8304" y="1692428"/>
            <a:ext cx="4680520" cy="3182754"/>
          </a:xfrm>
          <a:prstGeom prst="rect">
            <a:avLst/>
          </a:prstGeom>
        </p:spPr>
      </p:pic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092920"/>
              </p:ext>
            </p:extLst>
          </p:nvPr>
        </p:nvGraphicFramePr>
        <p:xfrm>
          <a:off x="575816" y="5219997"/>
          <a:ext cx="15113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75" name="Equation" r:id="rId9" imgW="685800" imgH="482600" progId="Equation.DSMT4">
                  <p:embed/>
                </p:oleObj>
              </mc:Choice>
              <mc:Fallback>
                <p:oleObj name="Equation" r:id="rId9" imgW="685800" imgH="482600" progId="Equation.DSMT4">
                  <p:embed/>
                  <p:pic>
                    <p:nvPicPr>
                      <p:cNvPr id="0" name="Picture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16" y="5219997"/>
                        <a:ext cx="15113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329993"/>
              </p:ext>
            </p:extLst>
          </p:nvPr>
        </p:nvGraphicFramePr>
        <p:xfrm>
          <a:off x="5616376" y="5147989"/>
          <a:ext cx="15113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676" name="Equation" r:id="rId11" imgW="685800" imgH="482600" progId="Equation.DSMT4">
                  <p:embed/>
                </p:oleObj>
              </mc:Choice>
              <mc:Fallback>
                <p:oleObj name="Equation" r:id="rId11" imgW="685800" imgH="482600" progId="Equation.DSMT4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376" y="5147989"/>
                        <a:ext cx="15113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020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18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2099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564015"/>
              </p:ext>
            </p:extLst>
          </p:nvPr>
        </p:nvGraphicFramePr>
        <p:xfrm>
          <a:off x="1223887" y="395461"/>
          <a:ext cx="2860547" cy="532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10" name="Equation" r:id="rId3" imgW="14778000" imgH="2721600" progId="Equation.DSMT4">
                  <p:embed/>
                </p:oleObj>
              </mc:Choice>
              <mc:Fallback>
                <p:oleObj name="Equation" r:id="rId3" imgW="14778000" imgH="2721600" progId="Equation.DSMT4">
                  <p:embed/>
                  <p:pic>
                    <p:nvPicPr>
                      <p:cNvPr id="0" name="Picture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887" y="395461"/>
                        <a:ext cx="2860547" cy="53295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017393"/>
              </p:ext>
            </p:extLst>
          </p:nvPr>
        </p:nvGraphicFramePr>
        <p:xfrm>
          <a:off x="5544368" y="395461"/>
          <a:ext cx="3300704" cy="516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11" name="Equation" r:id="rId5" imgW="17521200" imgH="2721600" progId="Equation.DSMT4">
                  <p:embed/>
                </p:oleObj>
              </mc:Choice>
              <mc:Fallback>
                <p:oleObj name="Equation" r:id="rId5" imgW="17521200" imgH="2721600" progId="Equation.DSMT4">
                  <p:embed/>
                  <p:pic>
                    <p:nvPicPr>
                      <p:cNvPr id="0" name="Picture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368" y="395461"/>
                        <a:ext cx="3300704" cy="51663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768" y="1259557"/>
            <a:ext cx="4765236" cy="324036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8304" y="1259557"/>
            <a:ext cx="4765236" cy="3240360"/>
          </a:xfrm>
          <a:prstGeom prst="rect">
            <a:avLst/>
          </a:prstGeom>
        </p:spPr>
      </p:pic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281646"/>
              </p:ext>
            </p:extLst>
          </p:nvPr>
        </p:nvGraphicFramePr>
        <p:xfrm>
          <a:off x="359792" y="4787950"/>
          <a:ext cx="1512168" cy="1064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12" name="Equation" r:id="rId9" imgW="685800" imgH="482600" progId="Equation.DSMT4">
                  <p:embed/>
                </p:oleObj>
              </mc:Choice>
              <mc:Fallback>
                <p:oleObj name="Equation" r:id="rId9" imgW="685800" imgH="482600" progId="Equation.DSMT4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92" y="4787950"/>
                        <a:ext cx="1512168" cy="10641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982416"/>
              </p:ext>
            </p:extLst>
          </p:nvPr>
        </p:nvGraphicFramePr>
        <p:xfrm>
          <a:off x="6120432" y="4715941"/>
          <a:ext cx="15113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13" name="Equation" r:id="rId11" imgW="685800" imgH="482600" progId="Equation.DSMT4">
                  <p:embed/>
                </p:oleObj>
              </mc:Choice>
              <mc:Fallback>
                <p:oleObj name="Equation" r:id="rId11" imgW="685800" imgH="482600" progId="Equation.DSMT4">
                  <p:embed/>
                  <p:pic>
                    <p:nvPicPr>
                      <p:cNvPr id="0" name="Picture 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432" y="4715941"/>
                        <a:ext cx="15113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3366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962306" y="6320728"/>
            <a:ext cx="672042" cy="5739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8D8C98A-FA4E-4936-B357-098E1FF79E74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sp>
        <p:nvSpPr>
          <p:cNvPr id="33798" name="ZoneTexte 5"/>
          <p:cNvSpPr txBox="1">
            <a:spLocks noChangeArrowheads="1"/>
          </p:cNvSpPr>
          <p:nvPr/>
        </p:nvSpPr>
        <p:spPr bwMode="auto">
          <a:xfrm>
            <a:off x="0" y="208242"/>
            <a:ext cx="10033378" cy="4195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94" tIns="50397" rIns="100794" bIns="50397">
            <a:spAutoFit/>
          </a:bodyPr>
          <a:lstStyle/>
          <a:p>
            <a:r>
              <a:rPr lang="fr-CA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  Résolution d’équations exponentielles et logarithmiques</a:t>
            </a:r>
            <a:endParaRPr lang="fr-FR" sz="2800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propriétés des fonctions exponentielles et logarithmiques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dirty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622501"/>
              </p:ext>
            </p:extLst>
          </p:nvPr>
        </p:nvGraphicFramePr>
        <p:xfrm>
          <a:off x="575816" y="2483693"/>
          <a:ext cx="7067550" cy="21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787" name="Equation" r:id="rId3" imgW="3606480" imgH="965160" progId="Equation.DSMT4">
                  <p:embed/>
                </p:oleObj>
              </mc:Choice>
              <mc:Fallback>
                <p:oleObj name="Equation" r:id="rId3" imgW="3606480" imgH="9651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816" y="2483693"/>
                        <a:ext cx="7067550" cy="211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6437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9" y="179437"/>
            <a:ext cx="9289032" cy="6792863"/>
          </a:xfrm>
        </p:spPr>
        <p:txBody>
          <a:bodyPr/>
          <a:lstStyle/>
          <a:p>
            <a:pPr marL="0" indent="0">
              <a:buNone/>
            </a:pPr>
            <a:r>
              <a:rPr lang="fr-FR" sz="2400" b="1" i="1" u="sng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Résolvez les équations suivantes:</a:t>
            </a: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20</a:t>
            </a:fld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, K. Mahni &amp; I. Ndiaye</a:t>
            </a:r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963175"/>
              </p:ext>
            </p:extLst>
          </p:nvPr>
        </p:nvGraphicFramePr>
        <p:xfrm>
          <a:off x="215776" y="755501"/>
          <a:ext cx="8255001" cy="563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24" name="Equation" r:id="rId3" imgW="3759120" imgH="2565360" progId="Equation.DSMT4">
                  <p:embed/>
                </p:oleObj>
              </mc:Choice>
              <mc:Fallback>
                <p:oleObj name="Equation" r:id="rId3" imgW="3759120" imgH="2565360" progId="Equation.DSMT4">
                  <p:embed/>
                  <p:pic>
                    <p:nvPicPr>
                      <p:cNvPr id="0" name="Picture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76" y="755501"/>
                        <a:ext cx="8255001" cy="563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419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88490</TotalTime>
  <Words>788</Words>
  <Application>Microsoft Office PowerPoint</Application>
  <PresentationFormat>Personnalisé</PresentationFormat>
  <Paragraphs>185</Paragraphs>
  <Slides>20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Arial</vt:lpstr>
      <vt:lpstr>Century Schoolbook</vt:lpstr>
      <vt:lpstr>Times New Roman</vt:lpstr>
      <vt:lpstr>Wingdings</vt:lpstr>
      <vt:lpstr>Wingdings 2</vt:lpstr>
      <vt:lpstr>Oriel</vt:lpstr>
      <vt:lpstr>Equation</vt:lpstr>
      <vt:lpstr>MathType 6.0 Equation</vt:lpstr>
      <vt:lpstr>Présentation PowerPoint</vt:lpstr>
      <vt:lpstr>Plan</vt:lpstr>
      <vt:lpstr>Présentation PowerPoint</vt:lpstr>
      <vt:lpstr>Présentation PowerPoint</vt:lpstr>
      <vt:lpstr>Présentation PowerPoint</vt:lpstr>
      <vt:lpstr>Présentation PowerPoint</vt:lpstr>
      <vt:lpstr>Rappels des propriétés des exposants</vt:lpstr>
      <vt:lpstr>Présentation PowerPoint</vt:lpstr>
      <vt:lpstr>Présentation PowerPoint</vt:lpstr>
      <vt:lpstr> Résolution d’équations exponentielles dont les deux    membres peuvent s’écrire en fonction de la même base</vt:lpstr>
      <vt:lpstr>Présentation PowerPoint</vt:lpstr>
      <vt:lpstr>Présentation PowerPoint</vt:lpstr>
      <vt:lpstr>7.2 - Fonction logarithmique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kamel</dc:creator>
  <cp:lastModifiedBy>amoura Karima</cp:lastModifiedBy>
  <cp:revision>2920</cp:revision>
  <cp:lastPrinted>1601-01-01T00:00:00Z</cp:lastPrinted>
  <dcterms:created xsi:type="dcterms:W3CDTF">2010-12-06T03:45:49Z</dcterms:created>
  <dcterms:modified xsi:type="dcterms:W3CDTF">2019-03-17T17:04:30Z</dcterms:modified>
</cp:coreProperties>
</file>